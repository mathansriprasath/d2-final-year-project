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9753600" cy="7315200"/>
  <p:notesSz cx="6858000" cy="9144000"/>
  <p:embeddedFontLst>
    <p:embeddedFont>
      <p:font typeface="Poppins Bold" panose="020B0604020202020204" charset="0"/>
      <p:regular r:id="rId36"/>
    </p:embeddedFont>
    <p:embeddedFont>
      <p:font typeface="Times New Roman Bold"/>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85" d="100"/>
          <a:sy n="85" d="100"/>
        </p:scale>
        <p:origin x="1214"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03.04.2025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86004" y="105943"/>
            <a:ext cx="1682091" cy="1256814"/>
          </a:xfrm>
          <a:custGeom>
            <a:avLst/>
            <a:gdLst/>
            <a:ahLst/>
            <a:cxnLst/>
            <a:rect l="l" t="t" r="r" b="b"/>
            <a:pathLst>
              <a:path w="1682091" h="1256814">
                <a:moveTo>
                  <a:pt x="0" y="0"/>
                </a:moveTo>
                <a:lnTo>
                  <a:pt x="1682091" y="0"/>
                </a:lnTo>
                <a:lnTo>
                  <a:pt x="1682091" y="1256814"/>
                </a:lnTo>
                <a:lnTo>
                  <a:pt x="0" y="1256814"/>
                </a:lnTo>
                <a:lnTo>
                  <a:pt x="0" y="0"/>
                </a:lnTo>
                <a:close/>
              </a:path>
            </a:pathLst>
          </a:custGeom>
          <a:blipFill>
            <a:blip r:embed="rId3"/>
            <a:stretch>
              <a:fillRect b="-43894"/>
            </a:stretch>
          </a:blipFill>
        </p:spPr>
      </p:sp>
      <p:sp>
        <p:nvSpPr>
          <p:cNvPr id="3" name="Freeform 3" descr="Anna University - Wikipedia"/>
          <p:cNvSpPr/>
          <p:nvPr/>
        </p:nvSpPr>
        <p:spPr>
          <a:xfrm>
            <a:off x="8122757" y="94263"/>
            <a:ext cx="1394010" cy="1256814"/>
          </a:xfrm>
          <a:custGeom>
            <a:avLst/>
            <a:gdLst/>
            <a:ahLst/>
            <a:cxnLst/>
            <a:rect l="l" t="t" r="r" b="b"/>
            <a:pathLst>
              <a:path w="1394010" h="1256814">
                <a:moveTo>
                  <a:pt x="0" y="0"/>
                </a:moveTo>
                <a:lnTo>
                  <a:pt x="1394010" y="0"/>
                </a:lnTo>
                <a:lnTo>
                  <a:pt x="1394010" y="1256814"/>
                </a:lnTo>
                <a:lnTo>
                  <a:pt x="0" y="1256814"/>
                </a:lnTo>
                <a:lnTo>
                  <a:pt x="0" y="0"/>
                </a:lnTo>
                <a:close/>
              </a:path>
            </a:pathLst>
          </a:custGeom>
          <a:blipFill>
            <a:blip r:embed="rId4"/>
            <a:stretch>
              <a:fillRect b="-10423"/>
            </a:stretch>
          </a:blipFill>
        </p:spPr>
      </p:sp>
      <p:grpSp>
        <p:nvGrpSpPr>
          <p:cNvPr id="4" name="Group 4"/>
          <p:cNvGrpSpPr/>
          <p:nvPr/>
        </p:nvGrpSpPr>
        <p:grpSpPr>
          <a:xfrm>
            <a:off x="1339383" y="1920149"/>
            <a:ext cx="9082839" cy="492443"/>
            <a:chOff x="0" y="0"/>
            <a:chExt cx="12110453" cy="656590"/>
          </a:xfrm>
        </p:grpSpPr>
        <p:sp>
          <p:nvSpPr>
            <p:cNvPr id="5" name="Freeform 5"/>
            <p:cNvSpPr/>
            <p:nvPr/>
          </p:nvSpPr>
          <p:spPr>
            <a:xfrm>
              <a:off x="0" y="0"/>
              <a:ext cx="12110452" cy="656590"/>
            </a:xfrm>
            <a:custGeom>
              <a:avLst/>
              <a:gdLst/>
              <a:ahLst/>
              <a:cxnLst/>
              <a:rect l="l" t="t" r="r" b="b"/>
              <a:pathLst>
                <a:path w="12110452" h="656590">
                  <a:moveTo>
                    <a:pt x="0" y="0"/>
                  </a:moveTo>
                  <a:lnTo>
                    <a:pt x="12110452" y="0"/>
                  </a:lnTo>
                  <a:lnTo>
                    <a:pt x="12110452" y="656590"/>
                  </a:lnTo>
                  <a:lnTo>
                    <a:pt x="0" y="656590"/>
                  </a:lnTo>
                  <a:close/>
                </a:path>
              </a:pathLst>
            </a:custGeom>
            <a:solidFill>
              <a:srgbClr val="000000">
                <a:alpha val="0"/>
              </a:srgbClr>
            </a:solidFill>
          </p:spPr>
        </p:sp>
        <p:sp>
          <p:nvSpPr>
            <p:cNvPr id="6" name="TextBox 6"/>
            <p:cNvSpPr txBox="1"/>
            <p:nvPr/>
          </p:nvSpPr>
          <p:spPr>
            <a:xfrm>
              <a:off x="0" y="-47625"/>
              <a:ext cx="12110453" cy="704215"/>
            </a:xfrm>
            <a:prstGeom prst="rect">
              <a:avLst/>
            </a:prstGeom>
          </p:spPr>
          <p:txBody>
            <a:bodyPr lIns="0" tIns="0" rIns="0" bIns="0" rtlCol="0" anchor="t"/>
            <a:lstStyle/>
            <a:p>
              <a:pPr algn="l">
                <a:lnSpc>
                  <a:spcPts val="3071"/>
                </a:lnSpc>
              </a:pPr>
              <a:r>
                <a:rPr lang="en-US" sz="2559" b="1">
                  <a:solidFill>
                    <a:srgbClr val="7030A0"/>
                  </a:solidFill>
                  <a:latin typeface="Times New Roman Bold"/>
                  <a:ea typeface="Times New Roman Bold"/>
                  <a:cs typeface="Times New Roman Bold"/>
                  <a:sym typeface="Times New Roman Bold"/>
                </a:rPr>
                <a:t>Department of Computer Science and Engineering </a:t>
              </a:r>
            </a:p>
          </p:txBody>
        </p:sp>
      </p:grpSp>
      <p:grpSp>
        <p:nvGrpSpPr>
          <p:cNvPr id="7" name="Group 7"/>
          <p:cNvGrpSpPr/>
          <p:nvPr/>
        </p:nvGrpSpPr>
        <p:grpSpPr>
          <a:xfrm>
            <a:off x="670559" y="2612616"/>
            <a:ext cx="8364160" cy="1477760"/>
            <a:chOff x="0" y="0"/>
            <a:chExt cx="11152213" cy="1970347"/>
          </a:xfrm>
        </p:grpSpPr>
        <p:sp>
          <p:nvSpPr>
            <p:cNvPr id="8" name="Freeform 8"/>
            <p:cNvSpPr/>
            <p:nvPr/>
          </p:nvSpPr>
          <p:spPr>
            <a:xfrm>
              <a:off x="0" y="0"/>
              <a:ext cx="11152213" cy="1970347"/>
            </a:xfrm>
            <a:custGeom>
              <a:avLst/>
              <a:gdLst/>
              <a:ahLst/>
              <a:cxnLst/>
              <a:rect l="l" t="t" r="r" b="b"/>
              <a:pathLst>
                <a:path w="11152213" h="1970347">
                  <a:moveTo>
                    <a:pt x="0" y="0"/>
                  </a:moveTo>
                  <a:lnTo>
                    <a:pt x="11152213" y="0"/>
                  </a:lnTo>
                  <a:lnTo>
                    <a:pt x="11152213" y="1970347"/>
                  </a:lnTo>
                  <a:lnTo>
                    <a:pt x="0" y="1970347"/>
                  </a:lnTo>
                  <a:close/>
                </a:path>
              </a:pathLst>
            </a:custGeom>
            <a:solidFill>
              <a:srgbClr val="000000">
                <a:alpha val="0"/>
              </a:srgbClr>
            </a:solidFill>
          </p:spPr>
        </p:sp>
        <p:sp>
          <p:nvSpPr>
            <p:cNvPr id="9" name="TextBox 9"/>
            <p:cNvSpPr txBox="1"/>
            <p:nvPr/>
          </p:nvSpPr>
          <p:spPr>
            <a:xfrm>
              <a:off x="0" y="-57150"/>
              <a:ext cx="11152213" cy="2027497"/>
            </a:xfrm>
            <a:prstGeom prst="rect">
              <a:avLst/>
            </a:prstGeom>
          </p:spPr>
          <p:txBody>
            <a:bodyPr lIns="0" tIns="0" rIns="0" bIns="0" rtlCol="0" anchor="t"/>
            <a:lstStyle/>
            <a:p>
              <a:pPr algn="ctr">
                <a:lnSpc>
                  <a:spcPts val="3583"/>
                </a:lnSpc>
              </a:pPr>
              <a:r>
                <a:rPr lang="en-US" sz="2986" b="1">
                  <a:solidFill>
                    <a:srgbClr val="000000"/>
                  </a:solidFill>
                  <a:latin typeface="Times New Roman Bold"/>
                  <a:ea typeface="Times New Roman Bold"/>
                  <a:cs typeface="Times New Roman Bold"/>
                  <a:sym typeface="Times New Roman Bold"/>
                </a:rPr>
                <a:t>INTEGRATED ANTI-SPOOFING AND DEEPFAKE DETECTION SYSTEM USING MOBILENET AND RESNEXT</a:t>
              </a:r>
            </a:p>
          </p:txBody>
        </p:sp>
      </p:grpSp>
      <p:grpSp>
        <p:nvGrpSpPr>
          <p:cNvPr id="10" name="Group 10"/>
          <p:cNvGrpSpPr/>
          <p:nvPr/>
        </p:nvGrpSpPr>
        <p:grpSpPr>
          <a:xfrm>
            <a:off x="935901" y="5828173"/>
            <a:ext cx="4201307" cy="689376"/>
            <a:chOff x="0" y="0"/>
            <a:chExt cx="5601742" cy="919168"/>
          </a:xfrm>
        </p:grpSpPr>
        <p:sp>
          <p:nvSpPr>
            <p:cNvPr id="11" name="Freeform 11"/>
            <p:cNvSpPr/>
            <p:nvPr/>
          </p:nvSpPr>
          <p:spPr>
            <a:xfrm>
              <a:off x="0" y="0"/>
              <a:ext cx="5601742" cy="919168"/>
            </a:xfrm>
            <a:custGeom>
              <a:avLst/>
              <a:gdLst/>
              <a:ahLst/>
              <a:cxnLst/>
              <a:rect l="l" t="t" r="r" b="b"/>
              <a:pathLst>
                <a:path w="5601742" h="919168">
                  <a:moveTo>
                    <a:pt x="0" y="0"/>
                  </a:moveTo>
                  <a:lnTo>
                    <a:pt x="5601742" y="0"/>
                  </a:lnTo>
                  <a:lnTo>
                    <a:pt x="5601742" y="919168"/>
                  </a:lnTo>
                  <a:lnTo>
                    <a:pt x="0" y="919168"/>
                  </a:lnTo>
                  <a:close/>
                </a:path>
              </a:pathLst>
            </a:custGeom>
            <a:solidFill>
              <a:srgbClr val="000000">
                <a:alpha val="0"/>
              </a:srgbClr>
            </a:solidFill>
          </p:spPr>
        </p:sp>
        <p:sp>
          <p:nvSpPr>
            <p:cNvPr id="12" name="TextBox 12"/>
            <p:cNvSpPr txBox="1"/>
            <p:nvPr/>
          </p:nvSpPr>
          <p:spPr>
            <a:xfrm>
              <a:off x="0" y="-47625"/>
              <a:ext cx="5601742" cy="966793"/>
            </a:xfrm>
            <a:prstGeom prst="rect">
              <a:avLst/>
            </a:prstGeom>
          </p:spPr>
          <p:txBody>
            <a:bodyPr lIns="0" tIns="0" rIns="0" bIns="0" rtlCol="0" anchor="t"/>
            <a:lstStyle/>
            <a:p>
              <a:pPr algn="l">
                <a:lnSpc>
                  <a:spcPts val="2304"/>
                </a:lnSpc>
              </a:pPr>
              <a:r>
                <a:rPr lang="en-US" sz="1920" b="1">
                  <a:solidFill>
                    <a:srgbClr val="000000"/>
                  </a:solidFill>
                  <a:latin typeface="Times New Roman Bold"/>
                  <a:ea typeface="Times New Roman Bold"/>
                  <a:cs typeface="Times New Roman Bold"/>
                  <a:sym typeface="Times New Roman Bold"/>
                </a:rPr>
                <a:t>PROJECT GUIDE:</a:t>
              </a:r>
            </a:p>
            <a:p>
              <a:pPr algn="l">
                <a:lnSpc>
                  <a:spcPts val="2304"/>
                </a:lnSpc>
              </a:pPr>
              <a:r>
                <a:rPr lang="en-US" sz="1920" b="1">
                  <a:solidFill>
                    <a:srgbClr val="000000"/>
                  </a:solidFill>
                  <a:latin typeface="Times New Roman Bold"/>
                  <a:ea typeface="Times New Roman Bold"/>
                  <a:cs typeface="Times New Roman Bold"/>
                  <a:sym typeface="Times New Roman Bold"/>
                </a:rPr>
                <a:t>Dr. HARIHARAN S</a:t>
              </a:r>
            </a:p>
          </p:txBody>
        </p:sp>
      </p:grpSp>
      <p:grpSp>
        <p:nvGrpSpPr>
          <p:cNvPr id="13" name="Group 13"/>
          <p:cNvGrpSpPr/>
          <p:nvPr/>
        </p:nvGrpSpPr>
        <p:grpSpPr>
          <a:xfrm>
            <a:off x="2291199" y="4289812"/>
            <a:ext cx="5122880" cy="984842"/>
            <a:chOff x="0" y="0"/>
            <a:chExt cx="6830507" cy="1313122"/>
          </a:xfrm>
        </p:grpSpPr>
        <p:sp>
          <p:nvSpPr>
            <p:cNvPr id="14" name="Freeform 14"/>
            <p:cNvSpPr/>
            <p:nvPr/>
          </p:nvSpPr>
          <p:spPr>
            <a:xfrm>
              <a:off x="0" y="0"/>
              <a:ext cx="6830506" cy="1313122"/>
            </a:xfrm>
            <a:custGeom>
              <a:avLst/>
              <a:gdLst/>
              <a:ahLst/>
              <a:cxnLst/>
              <a:rect l="l" t="t" r="r" b="b"/>
              <a:pathLst>
                <a:path w="6830506" h="1313122">
                  <a:moveTo>
                    <a:pt x="0" y="0"/>
                  </a:moveTo>
                  <a:lnTo>
                    <a:pt x="6830506" y="0"/>
                  </a:lnTo>
                  <a:lnTo>
                    <a:pt x="6830506" y="1313122"/>
                  </a:lnTo>
                  <a:lnTo>
                    <a:pt x="0" y="1313122"/>
                  </a:lnTo>
                  <a:close/>
                </a:path>
              </a:pathLst>
            </a:custGeom>
            <a:solidFill>
              <a:srgbClr val="000000">
                <a:alpha val="0"/>
              </a:srgbClr>
            </a:solidFill>
          </p:spPr>
        </p:sp>
        <p:sp>
          <p:nvSpPr>
            <p:cNvPr id="15" name="TextBox 15"/>
            <p:cNvSpPr txBox="1"/>
            <p:nvPr/>
          </p:nvSpPr>
          <p:spPr>
            <a:xfrm>
              <a:off x="0" y="-47625"/>
              <a:ext cx="6830507" cy="1360747"/>
            </a:xfrm>
            <a:prstGeom prst="rect">
              <a:avLst/>
            </a:prstGeom>
          </p:spPr>
          <p:txBody>
            <a:bodyPr lIns="0" tIns="0" rIns="0" bIns="0" rtlCol="0" anchor="t"/>
            <a:lstStyle/>
            <a:p>
              <a:pPr algn="ctr">
                <a:lnSpc>
                  <a:spcPts val="2304"/>
                </a:lnSpc>
              </a:pPr>
              <a:r>
                <a:rPr lang="en-US" sz="1920" b="1">
                  <a:solidFill>
                    <a:srgbClr val="000000"/>
                  </a:solidFill>
                  <a:latin typeface="Times New Roman Bold"/>
                  <a:ea typeface="Times New Roman Bold"/>
                  <a:cs typeface="Times New Roman Bold"/>
                  <a:sym typeface="Times New Roman Bold"/>
                </a:rPr>
                <a:t>MATHAN SRI PRASATH E (211421104160)</a:t>
              </a:r>
            </a:p>
            <a:p>
              <a:pPr algn="ctr">
                <a:lnSpc>
                  <a:spcPts val="2304"/>
                </a:lnSpc>
              </a:pPr>
              <a:r>
                <a:rPr lang="en-US" sz="1920" b="1">
                  <a:solidFill>
                    <a:srgbClr val="000000"/>
                  </a:solidFill>
                  <a:latin typeface="Times New Roman Bold"/>
                  <a:ea typeface="Times New Roman Bold"/>
                  <a:cs typeface="Times New Roman Bold"/>
                  <a:sym typeface="Times New Roman Bold"/>
                </a:rPr>
                <a:t>MAHESH KUMAR D (211421104151)</a:t>
              </a:r>
            </a:p>
            <a:p>
              <a:pPr algn="ctr">
                <a:lnSpc>
                  <a:spcPts val="2304"/>
                </a:lnSpc>
              </a:pPr>
              <a:r>
                <a:rPr lang="en-US" sz="1920" b="1">
                  <a:solidFill>
                    <a:srgbClr val="000000"/>
                  </a:solidFill>
                  <a:latin typeface="Times New Roman Bold"/>
                  <a:ea typeface="Times New Roman Bold"/>
                  <a:cs typeface="Times New Roman Bold"/>
                  <a:sym typeface="Times New Roman Bold"/>
                </a:rPr>
                <a:t>NAVEEN G V(211421104171)</a:t>
              </a:r>
            </a:p>
          </p:txBody>
        </p:sp>
      </p:grpSp>
      <p:grpSp>
        <p:nvGrpSpPr>
          <p:cNvPr id="16" name="Group 16"/>
          <p:cNvGrpSpPr/>
          <p:nvPr/>
        </p:nvGrpSpPr>
        <p:grpSpPr>
          <a:xfrm>
            <a:off x="5350276" y="5816493"/>
            <a:ext cx="3778336" cy="689376"/>
            <a:chOff x="0" y="0"/>
            <a:chExt cx="5037781" cy="919168"/>
          </a:xfrm>
        </p:grpSpPr>
        <p:sp>
          <p:nvSpPr>
            <p:cNvPr id="17" name="Freeform 17"/>
            <p:cNvSpPr/>
            <p:nvPr/>
          </p:nvSpPr>
          <p:spPr>
            <a:xfrm>
              <a:off x="0" y="0"/>
              <a:ext cx="5037781" cy="919168"/>
            </a:xfrm>
            <a:custGeom>
              <a:avLst/>
              <a:gdLst/>
              <a:ahLst/>
              <a:cxnLst/>
              <a:rect l="l" t="t" r="r" b="b"/>
              <a:pathLst>
                <a:path w="5037781" h="919168">
                  <a:moveTo>
                    <a:pt x="0" y="0"/>
                  </a:moveTo>
                  <a:lnTo>
                    <a:pt x="5037781" y="0"/>
                  </a:lnTo>
                  <a:lnTo>
                    <a:pt x="5037781" y="919168"/>
                  </a:lnTo>
                  <a:lnTo>
                    <a:pt x="0" y="919168"/>
                  </a:lnTo>
                  <a:close/>
                </a:path>
              </a:pathLst>
            </a:custGeom>
            <a:solidFill>
              <a:srgbClr val="000000">
                <a:alpha val="0"/>
              </a:srgbClr>
            </a:solidFill>
          </p:spPr>
        </p:sp>
        <p:sp>
          <p:nvSpPr>
            <p:cNvPr id="18" name="TextBox 18"/>
            <p:cNvSpPr txBox="1"/>
            <p:nvPr/>
          </p:nvSpPr>
          <p:spPr>
            <a:xfrm>
              <a:off x="0" y="-47625"/>
              <a:ext cx="5037781" cy="966793"/>
            </a:xfrm>
            <a:prstGeom prst="rect">
              <a:avLst/>
            </a:prstGeom>
          </p:spPr>
          <p:txBody>
            <a:bodyPr lIns="0" tIns="0" rIns="0" bIns="0" rtlCol="0" anchor="t"/>
            <a:lstStyle/>
            <a:p>
              <a:pPr algn="l">
                <a:lnSpc>
                  <a:spcPts val="2304"/>
                </a:lnSpc>
              </a:pPr>
              <a:r>
                <a:rPr lang="en-US" sz="1920" b="1">
                  <a:solidFill>
                    <a:srgbClr val="000000"/>
                  </a:solidFill>
                  <a:latin typeface="Times New Roman Bold"/>
                  <a:ea typeface="Times New Roman Bold"/>
                  <a:cs typeface="Times New Roman Bold"/>
                  <a:sym typeface="Times New Roman Bold"/>
                </a:rPr>
                <a:t>COORDINATOR:</a:t>
              </a:r>
            </a:p>
            <a:p>
              <a:pPr algn="l">
                <a:lnSpc>
                  <a:spcPts val="2304"/>
                </a:lnSpc>
              </a:pPr>
              <a:r>
                <a:rPr lang="en-US" sz="1920" b="1">
                  <a:solidFill>
                    <a:srgbClr val="000000"/>
                  </a:solidFill>
                  <a:latin typeface="Times New Roman Bold"/>
                  <a:ea typeface="Times New Roman Bold"/>
                  <a:cs typeface="Times New Roman Bold"/>
                  <a:sym typeface="Times New Roman Bold"/>
                </a:rPr>
                <a:t>Dr. JOSEPHINE LEELA R</a:t>
              </a:r>
            </a:p>
          </p:txBody>
        </p:sp>
      </p:grpSp>
      <p:sp>
        <p:nvSpPr>
          <p:cNvPr id="19" name="Freeform 19"/>
          <p:cNvSpPr/>
          <p:nvPr/>
        </p:nvSpPr>
        <p:spPr>
          <a:xfrm>
            <a:off x="1513045" y="105943"/>
            <a:ext cx="6542743" cy="1347505"/>
          </a:xfrm>
          <a:custGeom>
            <a:avLst/>
            <a:gdLst/>
            <a:ahLst/>
            <a:cxnLst/>
            <a:rect l="l" t="t" r="r" b="b"/>
            <a:pathLst>
              <a:path w="6542743" h="1347505">
                <a:moveTo>
                  <a:pt x="0" y="0"/>
                </a:moveTo>
                <a:lnTo>
                  <a:pt x="6542744" y="0"/>
                </a:lnTo>
                <a:lnTo>
                  <a:pt x="6542744" y="1347506"/>
                </a:lnTo>
                <a:lnTo>
                  <a:pt x="0" y="1347506"/>
                </a:lnTo>
                <a:lnTo>
                  <a:pt x="0" y="0"/>
                </a:lnTo>
                <a:close/>
              </a:path>
            </a:pathLst>
          </a:custGeom>
          <a:blipFill>
            <a:blip r:embed="rId5"/>
            <a:stretch>
              <a:fillRect r="-249"/>
            </a:stretch>
          </a:blipFill>
        </p:spPr>
      </p:sp>
      <p:grpSp>
        <p:nvGrpSpPr>
          <p:cNvPr id="20" name="Group 20"/>
          <p:cNvGrpSpPr/>
          <p:nvPr/>
        </p:nvGrpSpPr>
        <p:grpSpPr>
          <a:xfrm>
            <a:off x="6888479" y="6780108"/>
            <a:ext cx="2468558" cy="389467"/>
            <a:chOff x="0" y="0"/>
            <a:chExt cx="3291410" cy="519289"/>
          </a:xfrm>
        </p:grpSpPr>
        <p:sp>
          <p:nvSpPr>
            <p:cNvPr id="21" name="Freeform 21"/>
            <p:cNvSpPr/>
            <p:nvPr/>
          </p:nvSpPr>
          <p:spPr>
            <a:xfrm>
              <a:off x="0" y="0"/>
              <a:ext cx="3291410" cy="519289"/>
            </a:xfrm>
            <a:custGeom>
              <a:avLst/>
              <a:gdLst/>
              <a:ahLst/>
              <a:cxnLst/>
              <a:rect l="l" t="t" r="r" b="b"/>
              <a:pathLst>
                <a:path w="3291410" h="519289">
                  <a:moveTo>
                    <a:pt x="0" y="0"/>
                  </a:moveTo>
                  <a:lnTo>
                    <a:pt x="3291410" y="0"/>
                  </a:lnTo>
                  <a:lnTo>
                    <a:pt x="3291410" y="519289"/>
                  </a:lnTo>
                  <a:lnTo>
                    <a:pt x="0" y="519289"/>
                  </a:lnTo>
                  <a:close/>
                </a:path>
              </a:pathLst>
            </a:custGeom>
            <a:solidFill>
              <a:srgbClr val="000000">
                <a:alpha val="0"/>
              </a:srgbClr>
            </a:solidFill>
          </p:spPr>
        </p:sp>
        <p:sp>
          <p:nvSpPr>
            <p:cNvPr id="22" name="TextBox 22"/>
            <p:cNvSpPr txBox="1"/>
            <p:nvPr/>
          </p:nvSpPr>
          <p:spPr>
            <a:xfrm>
              <a:off x="0" y="-28575"/>
              <a:ext cx="3291410" cy="547864"/>
            </a:xfrm>
            <a:prstGeom prst="rect">
              <a:avLst/>
            </a:prstGeom>
          </p:spPr>
          <p:txBody>
            <a:bodyPr lIns="0" tIns="0" rIns="0" bIns="0" rtlCol="0" anchor="ctr"/>
            <a:lstStyle/>
            <a:p>
              <a:pPr algn="r">
                <a:lnSpc>
                  <a:spcPts val="1791"/>
                </a:lnSpc>
              </a:pPr>
              <a:r>
                <a:rPr lang="en-US" sz="1493" b="1">
                  <a:solidFill>
                    <a:srgbClr val="000000"/>
                  </a:solidFill>
                  <a:latin typeface="Times New Roman Bold"/>
                  <a:ea typeface="Times New Roman Bold"/>
                  <a:cs typeface="Times New Roman Bold"/>
                  <a:sym typeface="Times New Roman Bold"/>
                </a:rPr>
                <a:t>1</a:t>
              </a:r>
            </a:p>
          </p:txBody>
        </p:sp>
      </p:grpSp>
      <p:grpSp>
        <p:nvGrpSpPr>
          <p:cNvPr id="23" name="Group 23"/>
          <p:cNvGrpSpPr/>
          <p:nvPr/>
        </p:nvGrpSpPr>
        <p:grpSpPr>
          <a:xfrm>
            <a:off x="1203647" y="6780108"/>
            <a:ext cx="7166720" cy="389468"/>
            <a:chOff x="0" y="0"/>
            <a:chExt cx="9555627" cy="519290"/>
          </a:xfrm>
        </p:grpSpPr>
        <p:sp>
          <p:nvSpPr>
            <p:cNvPr id="24" name="Freeform 24"/>
            <p:cNvSpPr/>
            <p:nvPr/>
          </p:nvSpPr>
          <p:spPr>
            <a:xfrm>
              <a:off x="0" y="0"/>
              <a:ext cx="9555627" cy="519290"/>
            </a:xfrm>
            <a:custGeom>
              <a:avLst/>
              <a:gdLst/>
              <a:ahLst/>
              <a:cxnLst/>
              <a:rect l="l" t="t" r="r" b="b"/>
              <a:pathLst>
                <a:path w="9555627" h="519290">
                  <a:moveTo>
                    <a:pt x="0" y="0"/>
                  </a:moveTo>
                  <a:lnTo>
                    <a:pt x="9555627" y="0"/>
                  </a:lnTo>
                  <a:lnTo>
                    <a:pt x="9555627" y="519290"/>
                  </a:lnTo>
                  <a:lnTo>
                    <a:pt x="0" y="519290"/>
                  </a:lnTo>
                  <a:close/>
                </a:path>
              </a:pathLst>
            </a:custGeom>
            <a:solidFill>
              <a:srgbClr val="000000">
                <a:alpha val="0"/>
              </a:srgbClr>
            </a:solidFill>
          </p:spPr>
        </p:sp>
        <p:sp>
          <p:nvSpPr>
            <p:cNvPr id="25" name="TextBox 25"/>
            <p:cNvSpPr txBox="1"/>
            <p:nvPr/>
          </p:nvSpPr>
          <p:spPr>
            <a:xfrm>
              <a:off x="0" y="-28575"/>
              <a:ext cx="9555627" cy="547865"/>
            </a:xfrm>
            <a:prstGeom prst="rect">
              <a:avLst/>
            </a:prstGeom>
          </p:spPr>
          <p:txBody>
            <a:bodyPr lIns="0" tIns="0" rIns="0" bIns="0" rtlCol="0" anchor="ctr"/>
            <a:lstStyle/>
            <a:p>
              <a:pPr algn="ctr">
                <a:lnSpc>
                  <a:spcPts val="1680"/>
                </a:lnSpc>
              </a:pPr>
              <a:r>
                <a:rPr lang="en-US" sz="1400">
                  <a:solidFill>
                    <a:srgbClr val="888888"/>
                  </a:solidFill>
                  <a:latin typeface="Times New Roman"/>
                  <a:ea typeface="Times New Roman"/>
                  <a:cs typeface="Times New Roman"/>
                  <a:sym typeface="Times New Roman"/>
                </a:rPr>
                <a:t>Integrated Anti-Spoofing and Deepfake Detection System Using MobileNet and ResNeXt</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70560" y="586416"/>
            <a:ext cx="8412480" cy="733933"/>
            <a:chOff x="0" y="0"/>
            <a:chExt cx="11216640" cy="978578"/>
          </a:xfrm>
        </p:grpSpPr>
        <p:sp>
          <p:nvSpPr>
            <p:cNvPr id="3" name="Freeform 3"/>
            <p:cNvSpPr/>
            <p:nvPr/>
          </p:nvSpPr>
          <p:spPr>
            <a:xfrm>
              <a:off x="0" y="0"/>
              <a:ext cx="11216640" cy="978578"/>
            </a:xfrm>
            <a:custGeom>
              <a:avLst/>
              <a:gdLst/>
              <a:ahLst/>
              <a:cxnLst/>
              <a:rect l="l" t="t" r="r" b="b"/>
              <a:pathLst>
                <a:path w="11216640" h="978578">
                  <a:moveTo>
                    <a:pt x="0" y="0"/>
                  </a:moveTo>
                  <a:lnTo>
                    <a:pt x="11216640" y="0"/>
                  </a:lnTo>
                  <a:lnTo>
                    <a:pt x="11216640" y="978578"/>
                  </a:lnTo>
                  <a:lnTo>
                    <a:pt x="0" y="978578"/>
                  </a:lnTo>
                  <a:close/>
                </a:path>
              </a:pathLst>
            </a:custGeom>
            <a:solidFill>
              <a:srgbClr val="000000">
                <a:alpha val="0"/>
              </a:srgbClr>
            </a:solidFill>
          </p:spPr>
        </p:sp>
        <p:sp>
          <p:nvSpPr>
            <p:cNvPr id="4" name="TextBox 4"/>
            <p:cNvSpPr txBox="1"/>
            <p:nvPr/>
          </p:nvSpPr>
          <p:spPr>
            <a:xfrm>
              <a:off x="0" y="-38100"/>
              <a:ext cx="11216640" cy="1016678"/>
            </a:xfrm>
            <a:prstGeom prst="rect">
              <a:avLst/>
            </a:prstGeom>
          </p:spPr>
          <p:txBody>
            <a:bodyPr lIns="0" tIns="0" rIns="0" bIns="0" rtlCol="0" anchor="ctr"/>
            <a:lstStyle/>
            <a:p>
              <a:pPr algn="ctr">
                <a:lnSpc>
                  <a:spcPts val="4104"/>
                </a:lnSpc>
              </a:pPr>
              <a:r>
                <a:rPr lang="en-US" sz="3800" b="1">
                  <a:solidFill>
                    <a:srgbClr val="7030A0"/>
                  </a:solidFill>
                  <a:latin typeface="Times New Roman Bold"/>
                  <a:ea typeface="Times New Roman Bold"/>
                  <a:cs typeface="Times New Roman Bold"/>
                  <a:sym typeface="Times New Roman Bold"/>
                </a:rPr>
                <a:t>ABSTRACT</a:t>
              </a:r>
            </a:p>
          </p:txBody>
        </p:sp>
      </p:grpSp>
      <p:grpSp>
        <p:nvGrpSpPr>
          <p:cNvPr id="5" name="Group 5"/>
          <p:cNvGrpSpPr/>
          <p:nvPr/>
        </p:nvGrpSpPr>
        <p:grpSpPr>
          <a:xfrm>
            <a:off x="6898005" y="6780108"/>
            <a:ext cx="2194560" cy="426974"/>
            <a:chOff x="0" y="0"/>
            <a:chExt cx="2926080" cy="569299"/>
          </a:xfrm>
        </p:grpSpPr>
        <p:sp>
          <p:nvSpPr>
            <p:cNvPr id="6" name="Freeform 6"/>
            <p:cNvSpPr/>
            <p:nvPr/>
          </p:nvSpPr>
          <p:spPr>
            <a:xfrm>
              <a:off x="0" y="0"/>
              <a:ext cx="2926080" cy="569299"/>
            </a:xfrm>
            <a:custGeom>
              <a:avLst/>
              <a:gdLst/>
              <a:ahLst/>
              <a:cxnLst/>
              <a:rect l="l" t="t" r="r" b="b"/>
              <a:pathLst>
                <a:path w="2926080" h="569299">
                  <a:moveTo>
                    <a:pt x="0" y="0"/>
                  </a:moveTo>
                  <a:lnTo>
                    <a:pt x="2926080" y="0"/>
                  </a:lnTo>
                  <a:lnTo>
                    <a:pt x="2926080" y="569299"/>
                  </a:lnTo>
                  <a:lnTo>
                    <a:pt x="0" y="569299"/>
                  </a:lnTo>
                  <a:close/>
                </a:path>
              </a:pathLst>
            </a:custGeom>
            <a:solidFill>
              <a:srgbClr val="000000">
                <a:alpha val="0"/>
              </a:srgbClr>
            </a:solidFill>
          </p:spPr>
        </p:sp>
        <p:sp>
          <p:nvSpPr>
            <p:cNvPr id="7" name="TextBox 7"/>
            <p:cNvSpPr txBox="1"/>
            <p:nvPr/>
          </p:nvSpPr>
          <p:spPr>
            <a:xfrm>
              <a:off x="0" y="-47625"/>
              <a:ext cx="2926080" cy="616924"/>
            </a:xfrm>
            <a:prstGeom prst="rect">
              <a:avLst/>
            </a:prstGeom>
          </p:spPr>
          <p:txBody>
            <a:bodyPr lIns="0" tIns="0" rIns="0" bIns="0" rtlCol="0" anchor="ctr"/>
            <a:lstStyle/>
            <a:p>
              <a:pPr algn="r">
                <a:lnSpc>
                  <a:spcPts val="2639"/>
                </a:lnSpc>
              </a:pPr>
              <a:r>
                <a:rPr lang="en-US" sz="2199" b="1">
                  <a:solidFill>
                    <a:srgbClr val="000000"/>
                  </a:solidFill>
                  <a:latin typeface="Times New Roman Bold"/>
                  <a:ea typeface="Times New Roman Bold"/>
                  <a:cs typeface="Times New Roman Bold"/>
                  <a:sym typeface="Times New Roman Bold"/>
                </a:rPr>
                <a:t>2</a:t>
              </a:r>
            </a:p>
          </p:txBody>
        </p:sp>
      </p:grpSp>
      <p:grpSp>
        <p:nvGrpSpPr>
          <p:cNvPr id="8" name="Group 8"/>
          <p:cNvGrpSpPr/>
          <p:nvPr/>
        </p:nvGrpSpPr>
        <p:grpSpPr>
          <a:xfrm>
            <a:off x="471840" y="1063420"/>
            <a:ext cx="8809920" cy="5095161"/>
            <a:chOff x="0" y="0"/>
            <a:chExt cx="11746560" cy="6793549"/>
          </a:xfrm>
        </p:grpSpPr>
        <p:sp>
          <p:nvSpPr>
            <p:cNvPr id="9" name="Freeform 9"/>
            <p:cNvSpPr/>
            <p:nvPr/>
          </p:nvSpPr>
          <p:spPr>
            <a:xfrm>
              <a:off x="0" y="0"/>
              <a:ext cx="11746560" cy="6793549"/>
            </a:xfrm>
            <a:custGeom>
              <a:avLst/>
              <a:gdLst/>
              <a:ahLst/>
              <a:cxnLst/>
              <a:rect l="l" t="t" r="r" b="b"/>
              <a:pathLst>
                <a:path w="11746560" h="6793549">
                  <a:moveTo>
                    <a:pt x="0" y="0"/>
                  </a:moveTo>
                  <a:lnTo>
                    <a:pt x="11746560" y="0"/>
                  </a:lnTo>
                  <a:lnTo>
                    <a:pt x="11746560" y="6793549"/>
                  </a:lnTo>
                  <a:lnTo>
                    <a:pt x="0" y="6793549"/>
                  </a:lnTo>
                  <a:close/>
                </a:path>
              </a:pathLst>
            </a:custGeom>
            <a:solidFill>
              <a:srgbClr val="000000">
                <a:alpha val="0"/>
              </a:srgbClr>
            </a:solidFill>
          </p:spPr>
        </p:sp>
        <p:sp>
          <p:nvSpPr>
            <p:cNvPr id="10" name="TextBox 10"/>
            <p:cNvSpPr txBox="1"/>
            <p:nvPr/>
          </p:nvSpPr>
          <p:spPr>
            <a:xfrm>
              <a:off x="0" y="-47625"/>
              <a:ext cx="11746560" cy="6841174"/>
            </a:xfrm>
            <a:prstGeom prst="rect">
              <a:avLst/>
            </a:prstGeom>
          </p:spPr>
          <p:txBody>
            <a:bodyPr lIns="0" tIns="0" rIns="0" bIns="0" rtlCol="0" anchor="ctr"/>
            <a:lstStyle/>
            <a:p>
              <a:pPr algn="just">
                <a:lnSpc>
                  <a:spcPts val="2639"/>
                </a:lnSpc>
              </a:pPr>
              <a:r>
                <a:rPr lang="en-US" sz="2199">
                  <a:solidFill>
                    <a:srgbClr val="000000"/>
                  </a:solidFill>
                  <a:latin typeface="Times New Roman"/>
                  <a:ea typeface="Times New Roman"/>
                  <a:cs typeface="Times New Roman"/>
                  <a:sym typeface="Times New Roman"/>
                </a:rPr>
                <a:t>Secure Vision is an integrated solution designed to address both biometric spoofing and deepfake threats. It combines MobileNet, a lightweight CNN, for real-time spoofing detection (eye blinks, facial movements) and ResNeXt, a deeper CNN, for detecting deepfake videos through subtle artifacts. This unified approach overcomes existing challenges in separate detection systems by offering fast, accurate, and adaptable security. It uses diverse datasets, including ASVspoof for biometric spoofing and FaceForensics++ &amp; DFDC for deepfake detection, ensuring robust performance against various attack techniques.</a:t>
              </a:r>
            </a:p>
          </p:txBody>
        </p:sp>
      </p:grpSp>
      <p:grpSp>
        <p:nvGrpSpPr>
          <p:cNvPr id="11" name="Group 11"/>
          <p:cNvGrpSpPr/>
          <p:nvPr/>
        </p:nvGrpSpPr>
        <p:grpSpPr>
          <a:xfrm>
            <a:off x="1258771" y="6817642"/>
            <a:ext cx="7236059" cy="389440"/>
            <a:chOff x="0" y="0"/>
            <a:chExt cx="9648079" cy="519253"/>
          </a:xfrm>
        </p:grpSpPr>
        <p:sp>
          <p:nvSpPr>
            <p:cNvPr id="12" name="Freeform 12"/>
            <p:cNvSpPr/>
            <p:nvPr/>
          </p:nvSpPr>
          <p:spPr>
            <a:xfrm>
              <a:off x="0" y="0"/>
              <a:ext cx="9648079" cy="519253"/>
            </a:xfrm>
            <a:custGeom>
              <a:avLst/>
              <a:gdLst/>
              <a:ahLst/>
              <a:cxnLst/>
              <a:rect l="l" t="t" r="r" b="b"/>
              <a:pathLst>
                <a:path w="9648079" h="519253">
                  <a:moveTo>
                    <a:pt x="0" y="0"/>
                  </a:moveTo>
                  <a:lnTo>
                    <a:pt x="9648079" y="0"/>
                  </a:lnTo>
                  <a:lnTo>
                    <a:pt x="9648079" y="519253"/>
                  </a:lnTo>
                  <a:lnTo>
                    <a:pt x="0" y="519253"/>
                  </a:lnTo>
                  <a:close/>
                </a:path>
              </a:pathLst>
            </a:custGeom>
            <a:solidFill>
              <a:srgbClr val="000000">
                <a:alpha val="0"/>
              </a:srgbClr>
            </a:solidFill>
          </p:spPr>
        </p:sp>
        <p:sp>
          <p:nvSpPr>
            <p:cNvPr id="13" name="TextBox 13"/>
            <p:cNvSpPr txBox="1"/>
            <p:nvPr/>
          </p:nvSpPr>
          <p:spPr>
            <a:xfrm>
              <a:off x="0" y="-28575"/>
              <a:ext cx="9648079" cy="547828"/>
            </a:xfrm>
            <a:prstGeom prst="rect">
              <a:avLst/>
            </a:prstGeom>
          </p:spPr>
          <p:txBody>
            <a:bodyPr lIns="0" tIns="0" rIns="0" bIns="0" rtlCol="0" anchor="ctr"/>
            <a:lstStyle/>
            <a:p>
              <a:pPr algn="ctr">
                <a:lnSpc>
                  <a:spcPts val="1680"/>
                </a:lnSpc>
              </a:pPr>
              <a:r>
                <a:rPr lang="en-US" sz="1400">
                  <a:solidFill>
                    <a:srgbClr val="888888"/>
                  </a:solidFill>
                  <a:latin typeface="Times New Roman"/>
                  <a:ea typeface="Times New Roman"/>
                  <a:cs typeface="Times New Roman"/>
                  <a:sym typeface="Times New Roman"/>
                </a:rPr>
                <a:t>Integrated Anti-Spoofing and Deepfake Detection System Using MobileNet and ResNeXt</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09600" y="83855"/>
            <a:ext cx="8412480" cy="733933"/>
            <a:chOff x="0" y="0"/>
            <a:chExt cx="11216640" cy="978578"/>
          </a:xfrm>
        </p:grpSpPr>
        <p:sp>
          <p:nvSpPr>
            <p:cNvPr id="3" name="Freeform 3"/>
            <p:cNvSpPr/>
            <p:nvPr/>
          </p:nvSpPr>
          <p:spPr>
            <a:xfrm>
              <a:off x="0" y="0"/>
              <a:ext cx="11216640" cy="978578"/>
            </a:xfrm>
            <a:custGeom>
              <a:avLst/>
              <a:gdLst/>
              <a:ahLst/>
              <a:cxnLst/>
              <a:rect l="l" t="t" r="r" b="b"/>
              <a:pathLst>
                <a:path w="11216640" h="978578">
                  <a:moveTo>
                    <a:pt x="0" y="0"/>
                  </a:moveTo>
                  <a:lnTo>
                    <a:pt x="11216640" y="0"/>
                  </a:lnTo>
                  <a:lnTo>
                    <a:pt x="11216640" y="978578"/>
                  </a:lnTo>
                  <a:lnTo>
                    <a:pt x="0" y="978578"/>
                  </a:lnTo>
                  <a:close/>
                </a:path>
              </a:pathLst>
            </a:custGeom>
            <a:solidFill>
              <a:srgbClr val="000000">
                <a:alpha val="0"/>
              </a:srgbClr>
            </a:solidFill>
          </p:spPr>
        </p:sp>
        <p:sp>
          <p:nvSpPr>
            <p:cNvPr id="4" name="TextBox 4"/>
            <p:cNvSpPr txBox="1"/>
            <p:nvPr/>
          </p:nvSpPr>
          <p:spPr>
            <a:xfrm>
              <a:off x="0" y="-38100"/>
              <a:ext cx="11216640" cy="1016678"/>
            </a:xfrm>
            <a:prstGeom prst="rect">
              <a:avLst/>
            </a:prstGeom>
          </p:spPr>
          <p:txBody>
            <a:bodyPr lIns="0" tIns="0" rIns="0" bIns="0" rtlCol="0" anchor="ctr"/>
            <a:lstStyle/>
            <a:p>
              <a:pPr algn="ctr">
                <a:lnSpc>
                  <a:spcPts val="4104"/>
                </a:lnSpc>
              </a:pPr>
              <a:r>
                <a:rPr lang="en-US" sz="3800" b="1">
                  <a:solidFill>
                    <a:srgbClr val="7030A0"/>
                  </a:solidFill>
                  <a:latin typeface="Times New Roman Bold"/>
                  <a:ea typeface="Times New Roman Bold"/>
                  <a:cs typeface="Times New Roman Bold"/>
                  <a:sym typeface="Times New Roman Bold"/>
                </a:rPr>
                <a:t>INTRODUCTION</a:t>
              </a:r>
            </a:p>
          </p:txBody>
        </p:sp>
      </p:grpSp>
      <p:grpSp>
        <p:nvGrpSpPr>
          <p:cNvPr id="5" name="Group 5"/>
          <p:cNvGrpSpPr/>
          <p:nvPr/>
        </p:nvGrpSpPr>
        <p:grpSpPr>
          <a:xfrm>
            <a:off x="6888480" y="6780108"/>
            <a:ext cx="2194560" cy="389467"/>
            <a:chOff x="0" y="0"/>
            <a:chExt cx="2926080" cy="519289"/>
          </a:xfrm>
        </p:grpSpPr>
        <p:sp>
          <p:nvSpPr>
            <p:cNvPr id="6" name="Freeform 6"/>
            <p:cNvSpPr/>
            <p:nvPr/>
          </p:nvSpPr>
          <p:spPr>
            <a:xfrm>
              <a:off x="0" y="0"/>
              <a:ext cx="2926080" cy="519289"/>
            </a:xfrm>
            <a:custGeom>
              <a:avLst/>
              <a:gdLst/>
              <a:ahLst/>
              <a:cxnLst/>
              <a:rect l="l" t="t" r="r" b="b"/>
              <a:pathLst>
                <a:path w="2926080" h="519289">
                  <a:moveTo>
                    <a:pt x="0" y="0"/>
                  </a:moveTo>
                  <a:lnTo>
                    <a:pt x="2926080" y="0"/>
                  </a:lnTo>
                  <a:lnTo>
                    <a:pt x="2926080" y="519289"/>
                  </a:lnTo>
                  <a:lnTo>
                    <a:pt x="0" y="519289"/>
                  </a:lnTo>
                  <a:close/>
                </a:path>
              </a:pathLst>
            </a:custGeom>
            <a:solidFill>
              <a:srgbClr val="000000">
                <a:alpha val="0"/>
              </a:srgbClr>
            </a:solidFill>
          </p:spPr>
        </p:sp>
        <p:sp>
          <p:nvSpPr>
            <p:cNvPr id="7" name="TextBox 7"/>
            <p:cNvSpPr txBox="1"/>
            <p:nvPr/>
          </p:nvSpPr>
          <p:spPr>
            <a:xfrm>
              <a:off x="0" y="-9525"/>
              <a:ext cx="2926080" cy="528814"/>
            </a:xfrm>
            <a:prstGeom prst="rect">
              <a:avLst/>
            </a:prstGeom>
          </p:spPr>
          <p:txBody>
            <a:bodyPr lIns="0" tIns="0" rIns="0" bIns="0" rtlCol="0" anchor="ctr"/>
            <a:lstStyle/>
            <a:p>
              <a:pPr algn="r">
                <a:lnSpc>
                  <a:spcPts val="1791"/>
                </a:lnSpc>
              </a:pPr>
              <a:r>
                <a:rPr lang="en-US" sz="1493" b="1">
                  <a:solidFill>
                    <a:srgbClr val="000000"/>
                  </a:solidFill>
                  <a:latin typeface="Poppins Bold"/>
                  <a:ea typeface="Poppins Bold"/>
                  <a:cs typeface="Poppins Bold"/>
                  <a:sym typeface="Poppins Bold"/>
                </a:rPr>
                <a:t>3</a:t>
              </a:r>
            </a:p>
          </p:txBody>
        </p:sp>
      </p:grpSp>
      <p:grpSp>
        <p:nvGrpSpPr>
          <p:cNvPr id="8" name="Group 8"/>
          <p:cNvGrpSpPr/>
          <p:nvPr/>
        </p:nvGrpSpPr>
        <p:grpSpPr>
          <a:xfrm>
            <a:off x="1224101" y="6780134"/>
            <a:ext cx="7305398" cy="389440"/>
            <a:chOff x="0" y="0"/>
            <a:chExt cx="9740530" cy="519253"/>
          </a:xfrm>
        </p:grpSpPr>
        <p:sp>
          <p:nvSpPr>
            <p:cNvPr id="9" name="Freeform 9"/>
            <p:cNvSpPr/>
            <p:nvPr/>
          </p:nvSpPr>
          <p:spPr>
            <a:xfrm>
              <a:off x="0" y="0"/>
              <a:ext cx="9740530" cy="519253"/>
            </a:xfrm>
            <a:custGeom>
              <a:avLst/>
              <a:gdLst/>
              <a:ahLst/>
              <a:cxnLst/>
              <a:rect l="l" t="t" r="r" b="b"/>
              <a:pathLst>
                <a:path w="9740530" h="519253">
                  <a:moveTo>
                    <a:pt x="0" y="0"/>
                  </a:moveTo>
                  <a:lnTo>
                    <a:pt x="9740530" y="0"/>
                  </a:lnTo>
                  <a:lnTo>
                    <a:pt x="9740530" y="519253"/>
                  </a:lnTo>
                  <a:lnTo>
                    <a:pt x="0" y="519253"/>
                  </a:lnTo>
                  <a:close/>
                </a:path>
              </a:pathLst>
            </a:custGeom>
            <a:solidFill>
              <a:srgbClr val="000000">
                <a:alpha val="0"/>
              </a:srgbClr>
            </a:solidFill>
          </p:spPr>
        </p:sp>
        <p:sp>
          <p:nvSpPr>
            <p:cNvPr id="10" name="TextBox 10"/>
            <p:cNvSpPr txBox="1"/>
            <p:nvPr/>
          </p:nvSpPr>
          <p:spPr>
            <a:xfrm>
              <a:off x="0" y="-28575"/>
              <a:ext cx="9740530" cy="547828"/>
            </a:xfrm>
            <a:prstGeom prst="rect">
              <a:avLst/>
            </a:prstGeom>
          </p:spPr>
          <p:txBody>
            <a:bodyPr lIns="0" tIns="0" rIns="0" bIns="0" rtlCol="0" anchor="ctr"/>
            <a:lstStyle/>
            <a:p>
              <a:pPr algn="ctr">
                <a:lnSpc>
                  <a:spcPts val="1559"/>
                </a:lnSpc>
              </a:pPr>
              <a:r>
                <a:rPr lang="en-US" sz="1299">
                  <a:solidFill>
                    <a:srgbClr val="888888"/>
                  </a:solidFill>
                  <a:latin typeface="Times New Roman"/>
                  <a:ea typeface="Times New Roman"/>
                  <a:cs typeface="Times New Roman"/>
                  <a:sym typeface="Times New Roman"/>
                </a:rPr>
                <a:t>Integrated Anti-Spoofing and Deepfake Detection System Using MobileNet and ResNeXt</a:t>
              </a:r>
            </a:p>
          </p:txBody>
        </p:sp>
      </p:grpSp>
      <p:grpSp>
        <p:nvGrpSpPr>
          <p:cNvPr id="11" name="Group 11"/>
          <p:cNvGrpSpPr/>
          <p:nvPr/>
        </p:nvGrpSpPr>
        <p:grpSpPr>
          <a:xfrm>
            <a:off x="471840" y="560859"/>
            <a:ext cx="8809920" cy="6413967"/>
            <a:chOff x="0" y="0"/>
            <a:chExt cx="11746560" cy="8551956"/>
          </a:xfrm>
        </p:grpSpPr>
        <p:sp>
          <p:nvSpPr>
            <p:cNvPr id="12" name="Freeform 12"/>
            <p:cNvSpPr/>
            <p:nvPr/>
          </p:nvSpPr>
          <p:spPr>
            <a:xfrm>
              <a:off x="0" y="0"/>
              <a:ext cx="11746560" cy="8551956"/>
            </a:xfrm>
            <a:custGeom>
              <a:avLst/>
              <a:gdLst/>
              <a:ahLst/>
              <a:cxnLst/>
              <a:rect l="l" t="t" r="r" b="b"/>
              <a:pathLst>
                <a:path w="11746560" h="8551956">
                  <a:moveTo>
                    <a:pt x="0" y="0"/>
                  </a:moveTo>
                  <a:lnTo>
                    <a:pt x="11746560" y="0"/>
                  </a:lnTo>
                  <a:lnTo>
                    <a:pt x="11746560" y="8551956"/>
                  </a:lnTo>
                  <a:lnTo>
                    <a:pt x="0" y="8551956"/>
                  </a:lnTo>
                  <a:close/>
                </a:path>
              </a:pathLst>
            </a:custGeom>
            <a:solidFill>
              <a:srgbClr val="000000">
                <a:alpha val="0"/>
              </a:srgbClr>
            </a:solidFill>
          </p:spPr>
        </p:sp>
        <p:sp>
          <p:nvSpPr>
            <p:cNvPr id="13" name="TextBox 13"/>
            <p:cNvSpPr txBox="1"/>
            <p:nvPr/>
          </p:nvSpPr>
          <p:spPr>
            <a:xfrm>
              <a:off x="0" y="-85725"/>
              <a:ext cx="11746560" cy="8637681"/>
            </a:xfrm>
            <a:prstGeom prst="rect">
              <a:avLst/>
            </a:prstGeom>
          </p:spPr>
          <p:txBody>
            <a:bodyPr lIns="0" tIns="0" rIns="0" bIns="0" rtlCol="0" anchor="ctr"/>
            <a:lstStyle/>
            <a:p>
              <a:pPr marL="382911" lvl="1" indent="-191455" algn="just">
                <a:lnSpc>
                  <a:spcPts val="3035"/>
                </a:lnSpc>
                <a:buFont typeface="Arial"/>
                <a:buChar char="•"/>
              </a:pPr>
              <a:r>
                <a:rPr lang="en-US" sz="2199" b="1">
                  <a:solidFill>
                    <a:srgbClr val="000000"/>
                  </a:solidFill>
                  <a:latin typeface="Times New Roman Bold"/>
                  <a:ea typeface="Times New Roman Bold"/>
                  <a:cs typeface="Times New Roman Bold"/>
                  <a:sym typeface="Times New Roman Bold"/>
                </a:rPr>
                <a:t>Realism of Deepfakes</a:t>
              </a:r>
              <a:r>
                <a:rPr lang="en-US" sz="2199">
                  <a:solidFill>
                    <a:srgbClr val="000000"/>
                  </a:solidFill>
                  <a:latin typeface="Times New Roman"/>
                  <a:ea typeface="Times New Roman"/>
                  <a:cs typeface="Times New Roman"/>
                  <a:sym typeface="Times New Roman"/>
                </a:rPr>
                <a:t>: Hard to distinguish from real content.</a:t>
              </a:r>
            </a:p>
            <a:p>
              <a:pPr marL="382911" lvl="1" indent="-191455" algn="just">
                <a:lnSpc>
                  <a:spcPts val="3035"/>
                </a:lnSpc>
                <a:buFont typeface="Arial"/>
                <a:buChar char="•"/>
              </a:pPr>
              <a:r>
                <a:rPr lang="en-US" sz="2199" b="1">
                  <a:solidFill>
                    <a:srgbClr val="000000"/>
                  </a:solidFill>
                  <a:latin typeface="Times New Roman Bold"/>
                  <a:ea typeface="Times New Roman Bold"/>
                  <a:cs typeface="Times New Roman Bold"/>
                  <a:sym typeface="Times New Roman Bold"/>
                </a:rPr>
                <a:t>Inefficiency of Traditional Methods</a:t>
              </a:r>
              <a:r>
                <a:rPr lang="en-US" sz="2199">
                  <a:solidFill>
                    <a:srgbClr val="000000"/>
                  </a:solidFill>
                  <a:latin typeface="Times New Roman"/>
                  <a:ea typeface="Times New Roman"/>
                  <a:cs typeface="Times New Roman"/>
                  <a:sym typeface="Times New Roman"/>
                </a:rPr>
                <a:t>: Detection models struggle with various manipulations.</a:t>
              </a:r>
            </a:p>
            <a:p>
              <a:pPr marL="382911" lvl="1" indent="-191455" algn="just">
                <a:lnSpc>
                  <a:spcPts val="3035"/>
                </a:lnSpc>
                <a:buFont typeface="Arial"/>
                <a:buChar char="•"/>
              </a:pPr>
              <a:r>
                <a:rPr lang="en-US" sz="2199" b="1">
                  <a:solidFill>
                    <a:srgbClr val="000000"/>
                  </a:solidFill>
                  <a:latin typeface="Times New Roman Bold"/>
                  <a:ea typeface="Times New Roman Bold"/>
                  <a:cs typeface="Times New Roman Bold"/>
                  <a:sym typeface="Times New Roman Bold"/>
                </a:rPr>
                <a:t>Lack of Real-Time Performance</a:t>
              </a:r>
              <a:r>
                <a:rPr lang="en-US" sz="2199">
                  <a:solidFill>
                    <a:srgbClr val="000000"/>
                  </a:solidFill>
                  <a:latin typeface="Times New Roman"/>
                  <a:ea typeface="Times New Roman"/>
                  <a:cs typeface="Times New Roman"/>
                  <a:sym typeface="Times New Roman"/>
                </a:rPr>
                <a:t>: Existing anti-spoofing methods are too slow.</a:t>
              </a:r>
            </a:p>
            <a:p>
              <a:pPr marL="382911" lvl="1" indent="-191455" algn="just">
                <a:lnSpc>
                  <a:spcPts val="3035"/>
                </a:lnSpc>
                <a:buFont typeface="Arial"/>
                <a:buChar char="•"/>
              </a:pPr>
              <a:r>
                <a:rPr lang="en-US" sz="2199" b="1">
                  <a:solidFill>
                    <a:srgbClr val="000000"/>
                  </a:solidFill>
                  <a:latin typeface="Times New Roman Bold"/>
                  <a:ea typeface="Times New Roman Bold"/>
                  <a:cs typeface="Times New Roman Bold"/>
                  <a:sym typeface="Times New Roman Bold"/>
                </a:rPr>
                <a:t>Fragmented Security Solutions</a:t>
              </a:r>
              <a:r>
                <a:rPr lang="en-US" sz="2199">
                  <a:solidFill>
                    <a:srgbClr val="000000"/>
                  </a:solidFill>
                  <a:latin typeface="Times New Roman"/>
                  <a:ea typeface="Times New Roman"/>
                  <a:cs typeface="Times New Roman"/>
                  <a:sym typeface="Times New Roman"/>
                </a:rPr>
                <a:t>: Separate systems for deepfake and spoofing leave vulnerabilities.</a:t>
              </a:r>
            </a:p>
            <a:p>
              <a:pPr marL="382911" lvl="1" indent="-191455" algn="just">
                <a:lnSpc>
                  <a:spcPts val="3035"/>
                </a:lnSpc>
              </a:pPr>
              <a:r>
                <a:rPr lang="en-US" sz="2199" b="1">
                  <a:solidFill>
                    <a:srgbClr val="000000"/>
                  </a:solidFill>
                  <a:latin typeface="Times New Roman Bold"/>
                  <a:ea typeface="Times New Roman Bold"/>
                  <a:cs typeface="Times New Roman Bold"/>
                  <a:sym typeface="Times New Roman Bold"/>
                </a:rPr>
                <a:t>Secure Vision</a:t>
              </a:r>
              <a:r>
                <a:rPr lang="en-US" sz="2199">
                  <a:solidFill>
                    <a:srgbClr val="000000"/>
                  </a:solidFill>
                  <a:latin typeface="Times New Roman"/>
                  <a:ea typeface="Times New Roman"/>
                  <a:cs typeface="Times New Roman"/>
                  <a:sym typeface="Times New Roman"/>
                </a:rPr>
                <a:t> combines MobileNet for real-time spoofing detection and ResNeXt for deepfake detection, offering a comprehensive solution.</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70560" y="177057"/>
            <a:ext cx="8412480" cy="733933"/>
            <a:chOff x="0" y="0"/>
            <a:chExt cx="11216640" cy="978578"/>
          </a:xfrm>
        </p:grpSpPr>
        <p:sp>
          <p:nvSpPr>
            <p:cNvPr id="3" name="Freeform 3"/>
            <p:cNvSpPr/>
            <p:nvPr/>
          </p:nvSpPr>
          <p:spPr>
            <a:xfrm>
              <a:off x="0" y="0"/>
              <a:ext cx="11216640" cy="978578"/>
            </a:xfrm>
            <a:custGeom>
              <a:avLst/>
              <a:gdLst/>
              <a:ahLst/>
              <a:cxnLst/>
              <a:rect l="l" t="t" r="r" b="b"/>
              <a:pathLst>
                <a:path w="11216640" h="978578">
                  <a:moveTo>
                    <a:pt x="0" y="0"/>
                  </a:moveTo>
                  <a:lnTo>
                    <a:pt x="11216640" y="0"/>
                  </a:lnTo>
                  <a:lnTo>
                    <a:pt x="11216640" y="978578"/>
                  </a:lnTo>
                  <a:lnTo>
                    <a:pt x="0" y="978578"/>
                  </a:lnTo>
                  <a:close/>
                </a:path>
              </a:pathLst>
            </a:custGeom>
            <a:solidFill>
              <a:srgbClr val="000000">
                <a:alpha val="0"/>
              </a:srgbClr>
            </a:solidFill>
          </p:spPr>
        </p:sp>
        <p:sp>
          <p:nvSpPr>
            <p:cNvPr id="4" name="TextBox 4"/>
            <p:cNvSpPr txBox="1"/>
            <p:nvPr/>
          </p:nvSpPr>
          <p:spPr>
            <a:xfrm>
              <a:off x="0" y="-38100"/>
              <a:ext cx="11216640" cy="1016678"/>
            </a:xfrm>
            <a:prstGeom prst="rect">
              <a:avLst/>
            </a:prstGeom>
          </p:spPr>
          <p:txBody>
            <a:bodyPr lIns="0" tIns="0" rIns="0" bIns="0" rtlCol="0" anchor="ctr"/>
            <a:lstStyle/>
            <a:p>
              <a:pPr algn="ctr">
                <a:lnSpc>
                  <a:spcPts val="4104"/>
                </a:lnSpc>
              </a:pPr>
              <a:r>
                <a:rPr lang="en-US" sz="3800" b="1">
                  <a:solidFill>
                    <a:srgbClr val="7030A0"/>
                  </a:solidFill>
                  <a:latin typeface="Times New Roman Bold"/>
                  <a:ea typeface="Times New Roman Bold"/>
                  <a:cs typeface="Times New Roman Bold"/>
                  <a:sym typeface="Times New Roman Bold"/>
                </a:rPr>
                <a:t>OBJECTIVE OF THE PROJECT</a:t>
              </a:r>
            </a:p>
          </p:txBody>
        </p:sp>
      </p:grpSp>
      <p:grpSp>
        <p:nvGrpSpPr>
          <p:cNvPr id="5" name="Group 5"/>
          <p:cNvGrpSpPr/>
          <p:nvPr/>
        </p:nvGrpSpPr>
        <p:grpSpPr>
          <a:xfrm>
            <a:off x="6888479" y="6780108"/>
            <a:ext cx="2510444" cy="389467"/>
            <a:chOff x="0" y="0"/>
            <a:chExt cx="3347258" cy="519289"/>
          </a:xfrm>
        </p:grpSpPr>
        <p:sp>
          <p:nvSpPr>
            <p:cNvPr id="6" name="Freeform 6"/>
            <p:cNvSpPr/>
            <p:nvPr/>
          </p:nvSpPr>
          <p:spPr>
            <a:xfrm>
              <a:off x="0" y="0"/>
              <a:ext cx="3347258" cy="519289"/>
            </a:xfrm>
            <a:custGeom>
              <a:avLst/>
              <a:gdLst/>
              <a:ahLst/>
              <a:cxnLst/>
              <a:rect l="l" t="t" r="r" b="b"/>
              <a:pathLst>
                <a:path w="3347258" h="519289">
                  <a:moveTo>
                    <a:pt x="0" y="0"/>
                  </a:moveTo>
                  <a:lnTo>
                    <a:pt x="3347258" y="0"/>
                  </a:lnTo>
                  <a:lnTo>
                    <a:pt x="3347258" y="519289"/>
                  </a:lnTo>
                  <a:lnTo>
                    <a:pt x="0" y="519289"/>
                  </a:lnTo>
                  <a:close/>
                </a:path>
              </a:pathLst>
            </a:custGeom>
            <a:solidFill>
              <a:srgbClr val="000000">
                <a:alpha val="0"/>
              </a:srgbClr>
            </a:solidFill>
          </p:spPr>
        </p:sp>
        <p:sp>
          <p:nvSpPr>
            <p:cNvPr id="7" name="TextBox 7"/>
            <p:cNvSpPr txBox="1"/>
            <p:nvPr/>
          </p:nvSpPr>
          <p:spPr>
            <a:xfrm>
              <a:off x="0" y="-28575"/>
              <a:ext cx="3347258" cy="547864"/>
            </a:xfrm>
            <a:prstGeom prst="rect">
              <a:avLst/>
            </a:prstGeom>
          </p:spPr>
          <p:txBody>
            <a:bodyPr lIns="0" tIns="0" rIns="0" bIns="0" rtlCol="0" anchor="ctr"/>
            <a:lstStyle/>
            <a:p>
              <a:pPr algn="r">
                <a:lnSpc>
                  <a:spcPts val="1791"/>
                </a:lnSpc>
              </a:pPr>
              <a:r>
                <a:rPr lang="en-US" sz="1493" b="1">
                  <a:solidFill>
                    <a:srgbClr val="000000"/>
                  </a:solidFill>
                  <a:latin typeface="Times New Roman Bold"/>
                  <a:ea typeface="Times New Roman Bold"/>
                  <a:cs typeface="Times New Roman Bold"/>
                  <a:sym typeface="Times New Roman Bold"/>
                </a:rPr>
                <a:t>4</a:t>
              </a:r>
            </a:p>
          </p:txBody>
        </p:sp>
      </p:grpSp>
      <p:grpSp>
        <p:nvGrpSpPr>
          <p:cNvPr id="8" name="Group 8"/>
          <p:cNvGrpSpPr/>
          <p:nvPr/>
        </p:nvGrpSpPr>
        <p:grpSpPr>
          <a:xfrm>
            <a:off x="1250103" y="6780108"/>
            <a:ext cx="7253394" cy="389440"/>
            <a:chOff x="0" y="0"/>
            <a:chExt cx="9671191" cy="519253"/>
          </a:xfrm>
        </p:grpSpPr>
        <p:sp>
          <p:nvSpPr>
            <p:cNvPr id="9" name="Freeform 9"/>
            <p:cNvSpPr/>
            <p:nvPr/>
          </p:nvSpPr>
          <p:spPr>
            <a:xfrm>
              <a:off x="0" y="0"/>
              <a:ext cx="9671192" cy="519253"/>
            </a:xfrm>
            <a:custGeom>
              <a:avLst/>
              <a:gdLst/>
              <a:ahLst/>
              <a:cxnLst/>
              <a:rect l="l" t="t" r="r" b="b"/>
              <a:pathLst>
                <a:path w="9671192" h="519253">
                  <a:moveTo>
                    <a:pt x="0" y="0"/>
                  </a:moveTo>
                  <a:lnTo>
                    <a:pt x="9671192" y="0"/>
                  </a:lnTo>
                  <a:lnTo>
                    <a:pt x="9671192" y="519253"/>
                  </a:lnTo>
                  <a:lnTo>
                    <a:pt x="0" y="519253"/>
                  </a:lnTo>
                  <a:close/>
                </a:path>
              </a:pathLst>
            </a:custGeom>
            <a:solidFill>
              <a:srgbClr val="000000">
                <a:alpha val="0"/>
              </a:srgbClr>
            </a:solidFill>
          </p:spPr>
        </p:sp>
        <p:sp>
          <p:nvSpPr>
            <p:cNvPr id="10" name="TextBox 10"/>
            <p:cNvSpPr txBox="1"/>
            <p:nvPr/>
          </p:nvSpPr>
          <p:spPr>
            <a:xfrm>
              <a:off x="0" y="-28575"/>
              <a:ext cx="9671191" cy="547828"/>
            </a:xfrm>
            <a:prstGeom prst="rect">
              <a:avLst/>
            </a:prstGeom>
          </p:spPr>
          <p:txBody>
            <a:bodyPr lIns="0" tIns="0" rIns="0" bIns="0" rtlCol="0" anchor="ctr"/>
            <a:lstStyle/>
            <a:p>
              <a:pPr algn="ctr">
                <a:lnSpc>
                  <a:spcPts val="1559"/>
                </a:lnSpc>
              </a:pPr>
              <a:r>
                <a:rPr lang="en-US" sz="1299">
                  <a:solidFill>
                    <a:srgbClr val="888888"/>
                  </a:solidFill>
                  <a:latin typeface="Times New Roman"/>
                  <a:ea typeface="Times New Roman"/>
                  <a:cs typeface="Times New Roman"/>
                  <a:sym typeface="Times New Roman"/>
                </a:rPr>
                <a:t>Integrated Anti-Spoofing and Deepfake Detection System Using MobileNet and ResNeXt</a:t>
              </a:r>
            </a:p>
          </p:txBody>
        </p:sp>
      </p:grpSp>
      <p:grpSp>
        <p:nvGrpSpPr>
          <p:cNvPr id="11" name="Group 11"/>
          <p:cNvGrpSpPr/>
          <p:nvPr/>
        </p:nvGrpSpPr>
        <p:grpSpPr>
          <a:xfrm>
            <a:off x="471840" y="967680"/>
            <a:ext cx="8809920" cy="5542400"/>
            <a:chOff x="0" y="0"/>
            <a:chExt cx="11746560" cy="7389867"/>
          </a:xfrm>
        </p:grpSpPr>
        <p:sp>
          <p:nvSpPr>
            <p:cNvPr id="12" name="Freeform 12"/>
            <p:cNvSpPr/>
            <p:nvPr/>
          </p:nvSpPr>
          <p:spPr>
            <a:xfrm>
              <a:off x="0" y="0"/>
              <a:ext cx="11746560" cy="7389867"/>
            </a:xfrm>
            <a:custGeom>
              <a:avLst/>
              <a:gdLst/>
              <a:ahLst/>
              <a:cxnLst/>
              <a:rect l="l" t="t" r="r" b="b"/>
              <a:pathLst>
                <a:path w="11746560" h="7389867">
                  <a:moveTo>
                    <a:pt x="0" y="0"/>
                  </a:moveTo>
                  <a:lnTo>
                    <a:pt x="11746560" y="0"/>
                  </a:lnTo>
                  <a:lnTo>
                    <a:pt x="11746560" y="7389867"/>
                  </a:lnTo>
                  <a:lnTo>
                    <a:pt x="0" y="7389867"/>
                  </a:lnTo>
                  <a:close/>
                </a:path>
              </a:pathLst>
            </a:custGeom>
            <a:solidFill>
              <a:srgbClr val="000000">
                <a:alpha val="0"/>
              </a:srgbClr>
            </a:solidFill>
          </p:spPr>
        </p:sp>
        <p:sp>
          <p:nvSpPr>
            <p:cNvPr id="13" name="TextBox 13"/>
            <p:cNvSpPr txBox="1"/>
            <p:nvPr/>
          </p:nvSpPr>
          <p:spPr>
            <a:xfrm>
              <a:off x="0" y="-76200"/>
              <a:ext cx="11746560" cy="7466067"/>
            </a:xfrm>
            <a:prstGeom prst="rect">
              <a:avLst/>
            </a:prstGeom>
          </p:spPr>
          <p:txBody>
            <a:bodyPr lIns="0" tIns="0" rIns="0" bIns="0" rtlCol="0" anchor="ctr"/>
            <a:lstStyle/>
            <a:p>
              <a:pPr marL="345628" lvl="1" indent="-172814" algn="just">
                <a:lnSpc>
                  <a:spcPts val="2897"/>
                </a:lnSpc>
                <a:buFont typeface="Arial"/>
                <a:buChar char="•"/>
              </a:pPr>
              <a:r>
                <a:rPr lang="en-US" sz="2100" b="1">
                  <a:solidFill>
                    <a:srgbClr val="000000"/>
                  </a:solidFill>
                  <a:latin typeface="Times New Roman Bold"/>
                  <a:ea typeface="Times New Roman Bold"/>
                  <a:cs typeface="Times New Roman Bold"/>
                  <a:sym typeface="Times New Roman Bold"/>
                </a:rPr>
                <a:t>Real-Time Spoofing Detection</a:t>
              </a:r>
              <a:r>
                <a:rPr lang="en-US" sz="2100">
                  <a:solidFill>
                    <a:srgbClr val="000000"/>
                  </a:solidFill>
                  <a:latin typeface="Times New Roman"/>
                  <a:ea typeface="Times New Roman"/>
                  <a:cs typeface="Times New Roman"/>
                  <a:sym typeface="Times New Roman"/>
                </a:rPr>
                <a:t>: Use MobileNet to quickly identify fake biometric data (e.g., photos, masks).</a:t>
              </a:r>
            </a:p>
            <a:p>
              <a:pPr marL="345628" lvl="1" indent="-172814" algn="just">
                <a:lnSpc>
                  <a:spcPts val="2897"/>
                </a:lnSpc>
                <a:buFont typeface="Arial"/>
                <a:buChar char="•"/>
              </a:pPr>
              <a:r>
                <a:rPr lang="en-US" sz="2100" b="1">
                  <a:solidFill>
                    <a:srgbClr val="000000"/>
                  </a:solidFill>
                  <a:latin typeface="Times New Roman Bold"/>
                  <a:ea typeface="Times New Roman Bold"/>
                  <a:cs typeface="Times New Roman Bold"/>
                  <a:sym typeface="Times New Roman Bold"/>
                </a:rPr>
                <a:t>Deepfake Detection</a:t>
              </a:r>
              <a:r>
                <a:rPr lang="en-US" sz="2100">
                  <a:solidFill>
                    <a:srgbClr val="000000"/>
                  </a:solidFill>
                  <a:latin typeface="Times New Roman"/>
                  <a:ea typeface="Times New Roman"/>
                  <a:cs typeface="Times New Roman"/>
                  <a:sym typeface="Times New Roman"/>
                </a:rPr>
                <a:t>: Leverage ResNeXt to analyze and detect manipulated videos through subtle artifacts.</a:t>
              </a:r>
            </a:p>
            <a:p>
              <a:pPr marL="345628" lvl="1" indent="-172814" algn="just">
                <a:lnSpc>
                  <a:spcPts val="2897"/>
                </a:lnSpc>
                <a:buFont typeface="Arial"/>
                <a:buChar char="•"/>
              </a:pPr>
              <a:r>
                <a:rPr lang="en-US" sz="2100" b="1">
                  <a:solidFill>
                    <a:srgbClr val="000000"/>
                  </a:solidFill>
                  <a:latin typeface="Times New Roman Bold"/>
                  <a:ea typeface="Times New Roman Bold"/>
                  <a:cs typeface="Times New Roman Bold"/>
                  <a:sym typeface="Times New Roman Bold"/>
                </a:rPr>
                <a:t>Unified Security Framework</a:t>
              </a:r>
              <a:r>
                <a:rPr lang="en-US" sz="2100">
                  <a:solidFill>
                    <a:srgbClr val="000000"/>
                  </a:solidFill>
                  <a:latin typeface="Times New Roman"/>
                  <a:ea typeface="Times New Roman"/>
                  <a:cs typeface="Times New Roman"/>
                  <a:sym typeface="Times New Roman"/>
                </a:rPr>
                <a:t>: Integrate both models to provide comprehensive protection against biometric spoofing and deepfakes.</a:t>
              </a:r>
            </a:p>
            <a:p>
              <a:pPr marL="345628" lvl="1" indent="-172814" algn="just">
                <a:lnSpc>
                  <a:spcPts val="2897"/>
                </a:lnSpc>
                <a:buFont typeface="Arial"/>
                <a:buChar char="•"/>
              </a:pPr>
              <a:r>
                <a:rPr lang="en-US" sz="2100" b="1">
                  <a:solidFill>
                    <a:srgbClr val="000000"/>
                  </a:solidFill>
                  <a:latin typeface="Times New Roman Bold"/>
                  <a:ea typeface="Times New Roman Bold"/>
                  <a:cs typeface="Times New Roman Bold"/>
                  <a:sym typeface="Times New Roman Bold"/>
                </a:rPr>
                <a:t>Adaptability and Robustness</a:t>
              </a:r>
              <a:r>
                <a:rPr lang="en-US" sz="2100">
                  <a:solidFill>
                    <a:srgbClr val="000000"/>
                  </a:solidFill>
                  <a:latin typeface="Times New Roman"/>
                  <a:ea typeface="Times New Roman"/>
                  <a:cs typeface="Times New Roman"/>
                  <a:sym typeface="Times New Roman"/>
                </a:rPr>
                <a:t>: Train on diverse datasets to improve detection accuracy across various attack techniques.</a:t>
              </a:r>
            </a:p>
            <a:p>
              <a:pPr marL="345628" lvl="1" indent="-172814" algn="just">
                <a:lnSpc>
                  <a:spcPts val="2897"/>
                </a:lnSpc>
                <a:buFont typeface="Arial"/>
                <a:buChar char="•"/>
              </a:pPr>
              <a:r>
                <a:rPr lang="en-US" sz="2100" b="1">
                  <a:solidFill>
                    <a:srgbClr val="000000"/>
                  </a:solidFill>
                  <a:latin typeface="Times New Roman Bold"/>
                  <a:ea typeface="Times New Roman Bold"/>
                  <a:cs typeface="Times New Roman Bold"/>
                  <a:sym typeface="Times New Roman Bold"/>
                </a:rPr>
                <a:t>Enhance Security Infrastructure</a:t>
              </a:r>
              <a:r>
                <a:rPr lang="en-US" sz="2100">
                  <a:solidFill>
                    <a:srgbClr val="000000"/>
                  </a:solidFill>
                  <a:latin typeface="Times New Roman"/>
                  <a:ea typeface="Times New Roman"/>
                  <a:cs typeface="Times New Roman"/>
                  <a:sym typeface="Times New Roman"/>
                </a:rPr>
                <a:t>: Bridge the gap between separate deepfake and spoofing detection systems for a more efficient and reliable security solution.</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70560" y="19164"/>
            <a:ext cx="8412480" cy="733933"/>
            <a:chOff x="0" y="0"/>
            <a:chExt cx="11216640" cy="978578"/>
          </a:xfrm>
        </p:grpSpPr>
        <p:sp>
          <p:nvSpPr>
            <p:cNvPr id="3" name="Freeform 3"/>
            <p:cNvSpPr/>
            <p:nvPr/>
          </p:nvSpPr>
          <p:spPr>
            <a:xfrm>
              <a:off x="0" y="0"/>
              <a:ext cx="11216640" cy="978578"/>
            </a:xfrm>
            <a:custGeom>
              <a:avLst/>
              <a:gdLst/>
              <a:ahLst/>
              <a:cxnLst/>
              <a:rect l="l" t="t" r="r" b="b"/>
              <a:pathLst>
                <a:path w="11216640" h="978578">
                  <a:moveTo>
                    <a:pt x="0" y="0"/>
                  </a:moveTo>
                  <a:lnTo>
                    <a:pt x="11216640" y="0"/>
                  </a:lnTo>
                  <a:lnTo>
                    <a:pt x="11216640" y="978578"/>
                  </a:lnTo>
                  <a:lnTo>
                    <a:pt x="0" y="978578"/>
                  </a:lnTo>
                  <a:close/>
                </a:path>
              </a:pathLst>
            </a:custGeom>
            <a:solidFill>
              <a:srgbClr val="000000">
                <a:alpha val="0"/>
              </a:srgbClr>
            </a:solidFill>
          </p:spPr>
        </p:sp>
        <p:sp>
          <p:nvSpPr>
            <p:cNvPr id="4" name="TextBox 4"/>
            <p:cNvSpPr txBox="1"/>
            <p:nvPr/>
          </p:nvSpPr>
          <p:spPr>
            <a:xfrm>
              <a:off x="0" y="-38100"/>
              <a:ext cx="11216640" cy="1016678"/>
            </a:xfrm>
            <a:prstGeom prst="rect">
              <a:avLst/>
            </a:prstGeom>
          </p:spPr>
          <p:txBody>
            <a:bodyPr lIns="0" tIns="0" rIns="0" bIns="0" rtlCol="0" anchor="ctr"/>
            <a:lstStyle/>
            <a:p>
              <a:pPr algn="ctr">
                <a:lnSpc>
                  <a:spcPts val="4104"/>
                </a:lnSpc>
              </a:pPr>
              <a:r>
                <a:rPr lang="en-US" sz="3800" b="1">
                  <a:solidFill>
                    <a:srgbClr val="7030A0"/>
                  </a:solidFill>
                  <a:latin typeface="Times New Roman Bold"/>
                  <a:ea typeface="Times New Roman Bold"/>
                  <a:cs typeface="Times New Roman Bold"/>
                  <a:sym typeface="Times New Roman Bold"/>
                </a:rPr>
                <a:t>LITERATURE SURVEY</a:t>
              </a:r>
            </a:p>
          </p:txBody>
        </p:sp>
      </p:grpSp>
      <p:grpSp>
        <p:nvGrpSpPr>
          <p:cNvPr id="5" name="Group 5"/>
          <p:cNvGrpSpPr/>
          <p:nvPr/>
        </p:nvGrpSpPr>
        <p:grpSpPr>
          <a:xfrm>
            <a:off x="6888480" y="6838791"/>
            <a:ext cx="2194560" cy="389467"/>
            <a:chOff x="0" y="0"/>
            <a:chExt cx="2926080" cy="519289"/>
          </a:xfrm>
        </p:grpSpPr>
        <p:sp>
          <p:nvSpPr>
            <p:cNvPr id="6" name="Freeform 6"/>
            <p:cNvSpPr/>
            <p:nvPr/>
          </p:nvSpPr>
          <p:spPr>
            <a:xfrm>
              <a:off x="0" y="0"/>
              <a:ext cx="2926080" cy="519289"/>
            </a:xfrm>
            <a:custGeom>
              <a:avLst/>
              <a:gdLst/>
              <a:ahLst/>
              <a:cxnLst/>
              <a:rect l="l" t="t" r="r" b="b"/>
              <a:pathLst>
                <a:path w="2926080" h="519289">
                  <a:moveTo>
                    <a:pt x="0" y="0"/>
                  </a:moveTo>
                  <a:lnTo>
                    <a:pt x="2926080" y="0"/>
                  </a:lnTo>
                  <a:lnTo>
                    <a:pt x="2926080" y="519289"/>
                  </a:lnTo>
                  <a:lnTo>
                    <a:pt x="0" y="519289"/>
                  </a:lnTo>
                  <a:close/>
                </a:path>
              </a:pathLst>
            </a:custGeom>
            <a:solidFill>
              <a:srgbClr val="000000">
                <a:alpha val="0"/>
              </a:srgbClr>
            </a:solidFill>
          </p:spPr>
        </p:sp>
        <p:sp>
          <p:nvSpPr>
            <p:cNvPr id="7" name="TextBox 7"/>
            <p:cNvSpPr txBox="1"/>
            <p:nvPr/>
          </p:nvSpPr>
          <p:spPr>
            <a:xfrm>
              <a:off x="0" y="-28575"/>
              <a:ext cx="2926080" cy="547864"/>
            </a:xfrm>
            <a:prstGeom prst="rect">
              <a:avLst/>
            </a:prstGeom>
          </p:spPr>
          <p:txBody>
            <a:bodyPr lIns="0" tIns="0" rIns="0" bIns="0" rtlCol="0" anchor="ctr"/>
            <a:lstStyle/>
            <a:p>
              <a:pPr algn="r">
                <a:lnSpc>
                  <a:spcPts val="1791"/>
                </a:lnSpc>
              </a:pPr>
              <a:r>
                <a:rPr lang="en-US" sz="1493" b="1">
                  <a:solidFill>
                    <a:srgbClr val="000000"/>
                  </a:solidFill>
                  <a:latin typeface="Times New Roman Bold"/>
                  <a:ea typeface="Times New Roman Bold"/>
                  <a:cs typeface="Times New Roman Bold"/>
                  <a:sym typeface="Times New Roman Bold"/>
                </a:rPr>
                <a:t>5</a:t>
              </a:r>
            </a:p>
          </p:txBody>
        </p:sp>
      </p:grpSp>
      <p:grpSp>
        <p:nvGrpSpPr>
          <p:cNvPr id="8" name="Group 8"/>
          <p:cNvGrpSpPr/>
          <p:nvPr/>
        </p:nvGrpSpPr>
        <p:grpSpPr>
          <a:xfrm>
            <a:off x="1156974" y="6838791"/>
            <a:ext cx="7357402" cy="389440"/>
            <a:chOff x="0" y="0"/>
            <a:chExt cx="9809869" cy="519253"/>
          </a:xfrm>
        </p:grpSpPr>
        <p:sp>
          <p:nvSpPr>
            <p:cNvPr id="9" name="Freeform 9"/>
            <p:cNvSpPr/>
            <p:nvPr/>
          </p:nvSpPr>
          <p:spPr>
            <a:xfrm>
              <a:off x="0" y="0"/>
              <a:ext cx="9809869" cy="519253"/>
            </a:xfrm>
            <a:custGeom>
              <a:avLst/>
              <a:gdLst/>
              <a:ahLst/>
              <a:cxnLst/>
              <a:rect l="l" t="t" r="r" b="b"/>
              <a:pathLst>
                <a:path w="9809869" h="519253">
                  <a:moveTo>
                    <a:pt x="0" y="0"/>
                  </a:moveTo>
                  <a:lnTo>
                    <a:pt x="9809869" y="0"/>
                  </a:lnTo>
                  <a:lnTo>
                    <a:pt x="9809869" y="519253"/>
                  </a:lnTo>
                  <a:lnTo>
                    <a:pt x="0" y="519253"/>
                  </a:lnTo>
                  <a:close/>
                </a:path>
              </a:pathLst>
            </a:custGeom>
            <a:solidFill>
              <a:srgbClr val="000000">
                <a:alpha val="0"/>
              </a:srgbClr>
            </a:solidFill>
          </p:spPr>
        </p:sp>
        <p:sp>
          <p:nvSpPr>
            <p:cNvPr id="10" name="TextBox 10"/>
            <p:cNvSpPr txBox="1"/>
            <p:nvPr/>
          </p:nvSpPr>
          <p:spPr>
            <a:xfrm>
              <a:off x="0" y="-28575"/>
              <a:ext cx="9809869" cy="547828"/>
            </a:xfrm>
            <a:prstGeom prst="rect">
              <a:avLst/>
            </a:prstGeom>
          </p:spPr>
          <p:txBody>
            <a:bodyPr lIns="0" tIns="0" rIns="0" bIns="0" rtlCol="0" anchor="ctr"/>
            <a:lstStyle/>
            <a:p>
              <a:pPr algn="ctr">
                <a:lnSpc>
                  <a:spcPts val="1559"/>
                </a:lnSpc>
              </a:pPr>
              <a:r>
                <a:rPr lang="en-US" sz="1299">
                  <a:solidFill>
                    <a:srgbClr val="888888"/>
                  </a:solidFill>
                  <a:latin typeface="Times New Roman"/>
                  <a:ea typeface="Times New Roman"/>
                  <a:cs typeface="Times New Roman"/>
                  <a:sym typeface="Times New Roman"/>
                </a:rPr>
                <a:t>Integrated Anti-Spoofing and Deepfake Detection System Using MobileNet and ResNeXt</a:t>
              </a:r>
            </a:p>
          </p:txBody>
        </p:sp>
      </p:grpSp>
      <p:graphicFrame>
        <p:nvGraphicFramePr>
          <p:cNvPr id="11" name="Table 11"/>
          <p:cNvGraphicFramePr>
            <a:graphicFrameLocks noGrp="1"/>
          </p:cNvGraphicFramePr>
          <p:nvPr/>
        </p:nvGraphicFramePr>
        <p:xfrm>
          <a:off x="135467" y="959167"/>
          <a:ext cx="9409132" cy="5540048"/>
        </p:xfrm>
        <a:graphic>
          <a:graphicData uri="http://schemas.openxmlformats.org/drawingml/2006/table">
            <a:tbl>
              <a:tblPr/>
              <a:tblGrid>
                <a:gridCol w="1054041">
                  <a:extLst>
                    <a:ext uri="{9D8B030D-6E8A-4147-A177-3AD203B41FA5}">
                      <a16:colId xmlns:a16="http://schemas.microsoft.com/office/drawing/2014/main" val="20000"/>
                    </a:ext>
                  </a:extLst>
                </a:gridCol>
                <a:gridCol w="2293852">
                  <a:extLst>
                    <a:ext uri="{9D8B030D-6E8A-4147-A177-3AD203B41FA5}">
                      <a16:colId xmlns:a16="http://schemas.microsoft.com/office/drawing/2014/main" val="20001"/>
                    </a:ext>
                  </a:extLst>
                </a:gridCol>
                <a:gridCol w="2297586">
                  <a:extLst>
                    <a:ext uri="{9D8B030D-6E8A-4147-A177-3AD203B41FA5}">
                      <a16:colId xmlns:a16="http://schemas.microsoft.com/office/drawing/2014/main" val="20002"/>
                    </a:ext>
                  </a:extLst>
                </a:gridCol>
                <a:gridCol w="1881826">
                  <a:extLst>
                    <a:ext uri="{9D8B030D-6E8A-4147-A177-3AD203B41FA5}">
                      <a16:colId xmlns:a16="http://schemas.microsoft.com/office/drawing/2014/main" val="20003"/>
                    </a:ext>
                  </a:extLst>
                </a:gridCol>
                <a:gridCol w="1881826">
                  <a:extLst>
                    <a:ext uri="{9D8B030D-6E8A-4147-A177-3AD203B41FA5}">
                      <a16:colId xmlns:a16="http://schemas.microsoft.com/office/drawing/2014/main" val="20004"/>
                    </a:ext>
                  </a:extLst>
                </a:gridCol>
              </a:tblGrid>
              <a:tr h="1379217">
                <a:tc>
                  <a:txBody>
                    <a:bodyPr/>
                    <a:lstStyle/>
                    <a:p>
                      <a:pPr algn="ctr">
                        <a:lnSpc>
                          <a:spcPts val="2279"/>
                        </a:lnSpc>
                        <a:defRPr/>
                      </a:pPr>
                      <a:r>
                        <a:rPr lang="en-US" sz="1899" b="1">
                          <a:solidFill>
                            <a:srgbClr val="000000"/>
                          </a:solidFill>
                          <a:latin typeface="Times New Roman Bold"/>
                          <a:ea typeface="Times New Roman Bold"/>
                          <a:cs typeface="Times New Roman Bold"/>
                          <a:sym typeface="Times New Roman Bold"/>
                        </a:rPr>
                        <a:t>S.NO</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279"/>
                        </a:lnSpc>
                        <a:defRPr/>
                      </a:pPr>
                      <a:r>
                        <a:rPr lang="en-US" sz="1899" b="1">
                          <a:solidFill>
                            <a:srgbClr val="000000"/>
                          </a:solidFill>
                          <a:latin typeface="Times New Roman Bold"/>
                          <a:ea typeface="Times New Roman Bold"/>
                          <a:cs typeface="Times New Roman Bold"/>
                          <a:sym typeface="Times New Roman Bold"/>
                        </a:rPr>
                        <a:t>PAPER DETAILS</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279"/>
                        </a:lnSpc>
                        <a:defRPr/>
                      </a:pPr>
                      <a:r>
                        <a:rPr lang="en-US" sz="1899" b="1">
                          <a:solidFill>
                            <a:srgbClr val="000000"/>
                          </a:solidFill>
                          <a:latin typeface="Times New Roman Bold"/>
                          <a:ea typeface="Times New Roman Bold"/>
                          <a:cs typeface="Times New Roman Bold"/>
                          <a:sym typeface="Times New Roman Bold"/>
                        </a:rPr>
                        <a:t>SUMMARY</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279"/>
                        </a:lnSpc>
                        <a:defRPr/>
                      </a:pPr>
                      <a:r>
                        <a:rPr lang="en-US" sz="1899" b="1">
                          <a:solidFill>
                            <a:srgbClr val="000000"/>
                          </a:solidFill>
                          <a:latin typeface="Times New Roman Bold"/>
                          <a:ea typeface="Times New Roman Bold"/>
                          <a:cs typeface="Times New Roman Bold"/>
                          <a:sym typeface="Times New Roman Bold"/>
                        </a:rPr>
                        <a:t>TECHNIQUES/ALGORITHMS USED</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279"/>
                        </a:lnSpc>
                        <a:defRPr/>
                      </a:pPr>
                      <a:r>
                        <a:rPr lang="en-US" sz="1899" b="1">
                          <a:solidFill>
                            <a:srgbClr val="000000"/>
                          </a:solidFill>
                          <a:latin typeface="Times New Roman Bold"/>
                          <a:ea typeface="Times New Roman Bold"/>
                          <a:cs typeface="Times New Roman Bold"/>
                          <a:sym typeface="Times New Roman Bold"/>
                        </a:rPr>
                        <a:t>RESEARCH GAP</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160831">
                <a:tc>
                  <a:txBody>
                    <a:bodyPr/>
                    <a:lstStyle/>
                    <a:p>
                      <a:pPr algn="ctr">
                        <a:lnSpc>
                          <a:spcPts val="2279"/>
                        </a:lnSpc>
                        <a:defRPr/>
                      </a:pPr>
                      <a:r>
                        <a:rPr lang="en-US" sz="1899">
                          <a:solidFill>
                            <a:srgbClr val="000000"/>
                          </a:solidFill>
                          <a:latin typeface="Times New Roman"/>
                          <a:ea typeface="Times New Roman"/>
                          <a:cs typeface="Times New Roman"/>
                          <a:sym typeface="Times New Roman"/>
                        </a:rPr>
                        <a:t>1</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2279"/>
                        </a:lnSpc>
                        <a:defRPr/>
                      </a:pPr>
                      <a:r>
                        <a:rPr lang="en-US" sz="1899">
                          <a:solidFill>
                            <a:srgbClr val="000000"/>
                          </a:solidFill>
                          <a:latin typeface="Times New Roman"/>
                          <a:ea typeface="Times New Roman"/>
                          <a:cs typeface="Times New Roman"/>
                          <a:sym typeface="Times New Roman"/>
                        </a:rPr>
                        <a:t>DeepFake Detection with MobileNet and ResNeXt" (2021)</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2279"/>
                        </a:lnSpc>
                        <a:defRPr/>
                      </a:pPr>
                      <a:r>
                        <a:rPr lang="en-US" sz="1899">
                          <a:solidFill>
                            <a:srgbClr val="000000"/>
                          </a:solidFill>
                          <a:latin typeface="Times New Roman"/>
                          <a:ea typeface="Times New Roman"/>
                          <a:cs typeface="Times New Roman"/>
                          <a:sym typeface="Times New Roman"/>
                        </a:rPr>
                        <a:t>This paper presents an integrated system for detecting deepfakes and biometric spoofing using MobileNet for real-time detection and ResNeXt for feature extraction.</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2279"/>
                        </a:lnSpc>
                        <a:defRPr/>
                      </a:pPr>
                      <a:r>
                        <a:rPr lang="en-US" sz="1899">
                          <a:solidFill>
                            <a:srgbClr val="000000"/>
                          </a:solidFill>
                          <a:latin typeface="Times New Roman"/>
                          <a:ea typeface="Times New Roman"/>
                          <a:cs typeface="Times New Roman"/>
                          <a:sym typeface="Times New Roman"/>
                        </a:rPr>
                        <a:t>MobileNet, ResNeXt</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2279"/>
                        </a:lnSpc>
                        <a:defRPr/>
                      </a:pPr>
                      <a:r>
                        <a:rPr lang="en-US" sz="1899">
                          <a:solidFill>
                            <a:srgbClr val="000000"/>
                          </a:solidFill>
                          <a:latin typeface="Times New Roman"/>
                          <a:ea typeface="Times New Roman"/>
                          <a:cs typeface="Times New Roman"/>
                          <a:sym typeface="Times New Roman"/>
                        </a:rPr>
                        <a:t>The study lacks handling of adversarial attacks, which can be refined for better robustness.</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70560" y="177057"/>
            <a:ext cx="8412480" cy="733933"/>
            <a:chOff x="0" y="0"/>
            <a:chExt cx="11216640" cy="978578"/>
          </a:xfrm>
        </p:grpSpPr>
        <p:sp>
          <p:nvSpPr>
            <p:cNvPr id="3" name="Freeform 3"/>
            <p:cNvSpPr/>
            <p:nvPr/>
          </p:nvSpPr>
          <p:spPr>
            <a:xfrm>
              <a:off x="0" y="0"/>
              <a:ext cx="11216640" cy="978577"/>
            </a:xfrm>
            <a:custGeom>
              <a:avLst/>
              <a:gdLst/>
              <a:ahLst/>
              <a:cxnLst/>
              <a:rect l="l" t="t" r="r" b="b"/>
              <a:pathLst>
                <a:path w="11216640" h="978577">
                  <a:moveTo>
                    <a:pt x="0" y="0"/>
                  </a:moveTo>
                  <a:lnTo>
                    <a:pt x="11216640" y="0"/>
                  </a:lnTo>
                  <a:lnTo>
                    <a:pt x="11216640" y="978577"/>
                  </a:lnTo>
                  <a:lnTo>
                    <a:pt x="0" y="978577"/>
                  </a:lnTo>
                  <a:close/>
                </a:path>
              </a:pathLst>
            </a:custGeom>
            <a:solidFill>
              <a:srgbClr val="000000">
                <a:alpha val="0"/>
              </a:srgbClr>
            </a:solidFill>
          </p:spPr>
        </p:sp>
        <p:sp>
          <p:nvSpPr>
            <p:cNvPr id="4" name="TextBox 4"/>
            <p:cNvSpPr txBox="1"/>
            <p:nvPr/>
          </p:nvSpPr>
          <p:spPr>
            <a:xfrm>
              <a:off x="0" y="-38100"/>
              <a:ext cx="11216640" cy="1016678"/>
            </a:xfrm>
            <a:prstGeom prst="rect">
              <a:avLst/>
            </a:prstGeom>
          </p:spPr>
          <p:txBody>
            <a:bodyPr lIns="0" tIns="0" rIns="0" bIns="0" rtlCol="0" anchor="ctr"/>
            <a:lstStyle/>
            <a:p>
              <a:pPr algn="ctr">
                <a:lnSpc>
                  <a:spcPts val="4104"/>
                </a:lnSpc>
              </a:pPr>
              <a:r>
                <a:rPr lang="en-US" sz="3800" b="1">
                  <a:solidFill>
                    <a:srgbClr val="7030A0"/>
                  </a:solidFill>
                  <a:latin typeface="Times New Roman Bold"/>
                  <a:ea typeface="Times New Roman Bold"/>
                  <a:cs typeface="Times New Roman Bold"/>
                  <a:sym typeface="Times New Roman Bold"/>
                </a:rPr>
                <a:t>LITERATURE SURVEY</a:t>
              </a:r>
            </a:p>
          </p:txBody>
        </p:sp>
      </p:grpSp>
      <p:grpSp>
        <p:nvGrpSpPr>
          <p:cNvPr id="5" name="Group 5"/>
          <p:cNvGrpSpPr/>
          <p:nvPr/>
        </p:nvGrpSpPr>
        <p:grpSpPr>
          <a:xfrm>
            <a:off x="6888480" y="6780108"/>
            <a:ext cx="2194560" cy="389440"/>
            <a:chOff x="0" y="0"/>
            <a:chExt cx="2926080" cy="519253"/>
          </a:xfrm>
        </p:grpSpPr>
        <p:sp>
          <p:nvSpPr>
            <p:cNvPr id="6" name="Freeform 6"/>
            <p:cNvSpPr/>
            <p:nvPr/>
          </p:nvSpPr>
          <p:spPr>
            <a:xfrm>
              <a:off x="0" y="0"/>
              <a:ext cx="2926080" cy="519253"/>
            </a:xfrm>
            <a:custGeom>
              <a:avLst/>
              <a:gdLst/>
              <a:ahLst/>
              <a:cxnLst/>
              <a:rect l="l" t="t" r="r" b="b"/>
              <a:pathLst>
                <a:path w="2926080" h="519253">
                  <a:moveTo>
                    <a:pt x="0" y="0"/>
                  </a:moveTo>
                  <a:lnTo>
                    <a:pt x="2926080" y="0"/>
                  </a:lnTo>
                  <a:lnTo>
                    <a:pt x="2926080" y="519253"/>
                  </a:lnTo>
                  <a:lnTo>
                    <a:pt x="0" y="519253"/>
                  </a:lnTo>
                  <a:close/>
                </a:path>
              </a:pathLst>
            </a:custGeom>
            <a:solidFill>
              <a:srgbClr val="000000">
                <a:alpha val="0"/>
              </a:srgbClr>
            </a:solidFill>
          </p:spPr>
        </p:sp>
        <p:sp>
          <p:nvSpPr>
            <p:cNvPr id="7" name="TextBox 7"/>
            <p:cNvSpPr txBox="1"/>
            <p:nvPr/>
          </p:nvSpPr>
          <p:spPr>
            <a:xfrm>
              <a:off x="0" y="-9525"/>
              <a:ext cx="2926080" cy="528778"/>
            </a:xfrm>
            <a:prstGeom prst="rect">
              <a:avLst/>
            </a:prstGeom>
          </p:spPr>
          <p:txBody>
            <a:bodyPr lIns="0" tIns="0" rIns="0" bIns="0" rtlCol="0" anchor="ctr"/>
            <a:lstStyle/>
            <a:p>
              <a:pPr algn="r">
                <a:lnSpc>
                  <a:spcPts val="1791"/>
                </a:lnSpc>
              </a:pPr>
              <a:r>
                <a:rPr lang="en-US" sz="1493" b="1">
                  <a:solidFill>
                    <a:srgbClr val="000000"/>
                  </a:solidFill>
                  <a:latin typeface="Poppins Bold"/>
                  <a:ea typeface="Poppins Bold"/>
                  <a:cs typeface="Poppins Bold"/>
                  <a:sym typeface="Poppins Bold"/>
                </a:rPr>
                <a:t>6</a:t>
              </a:r>
            </a:p>
          </p:txBody>
        </p:sp>
      </p:grpSp>
      <p:grpSp>
        <p:nvGrpSpPr>
          <p:cNvPr id="8" name="Group 8"/>
          <p:cNvGrpSpPr/>
          <p:nvPr/>
        </p:nvGrpSpPr>
        <p:grpSpPr>
          <a:xfrm>
            <a:off x="1156974" y="6838791"/>
            <a:ext cx="7357402" cy="389440"/>
            <a:chOff x="0" y="0"/>
            <a:chExt cx="9809869" cy="519253"/>
          </a:xfrm>
        </p:grpSpPr>
        <p:sp>
          <p:nvSpPr>
            <p:cNvPr id="9" name="Freeform 9"/>
            <p:cNvSpPr/>
            <p:nvPr/>
          </p:nvSpPr>
          <p:spPr>
            <a:xfrm>
              <a:off x="0" y="0"/>
              <a:ext cx="9809869" cy="519253"/>
            </a:xfrm>
            <a:custGeom>
              <a:avLst/>
              <a:gdLst/>
              <a:ahLst/>
              <a:cxnLst/>
              <a:rect l="l" t="t" r="r" b="b"/>
              <a:pathLst>
                <a:path w="9809869" h="519253">
                  <a:moveTo>
                    <a:pt x="0" y="0"/>
                  </a:moveTo>
                  <a:lnTo>
                    <a:pt x="9809869" y="0"/>
                  </a:lnTo>
                  <a:lnTo>
                    <a:pt x="9809869" y="519253"/>
                  </a:lnTo>
                  <a:lnTo>
                    <a:pt x="0" y="519253"/>
                  </a:lnTo>
                  <a:close/>
                </a:path>
              </a:pathLst>
            </a:custGeom>
            <a:solidFill>
              <a:srgbClr val="000000">
                <a:alpha val="0"/>
              </a:srgbClr>
            </a:solidFill>
          </p:spPr>
        </p:sp>
        <p:sp>
          <p:nvSpPr>
            <p:cNvPr id="10" name="TextBox 10"/>
            <p:cNvSpPr txBox="1"/>
            <p:nvPr/>
          </p:nvSpPr>
          <p:spPr>
            <a:xfrm>
              <a:off x="0" y="-28575"/>
              <a:ext cx="9809869" cy="547828"/>
            </a:xfrm>
            <a:prstGeom prst="rect">
              <a:avLst/>
            </a:prstGeom>
          </p:spPr>
          <p:txBody>
            <a:bodyPr lIns="0" tIns="0" rIns="0" bIns="0" rtlCol="0" anchor="ctr"/>
            <a:lstStyle/>
            <a:p>
              <a:pPr algn="ctr">
                <a:lnSpc>
                  <a:spcPts val="1559"/>
                </a:lnSpc>
              </a:pPr>
              <a:r>
                <a:rPr lang="en-US" sz="1299">
                  <a:solidFill>
                    <a:srgbClr val="888888"/>
                  </a:solidFill>
                  <a:latin typeface="Times New Roman"/>
                  <a:ea typeface="Times New Roman"/>
                  <a:cs typeface="Times New Roman"/>
                  <a:sym typeface="Times New Roman"/>
                </a:rPr>
                <a:t>Integrated Anti-Spoofing and Deepfake Detection System Using MobileNet and ResNeXt</a:t>
              </a:r>
            </a:p>
          </p:txBody>
        </p:sp>
      </p:grpSp>
      <p:graphicFrame>
        <p:nvGraphicFramePr>
          <p:cNvPr id="11" name="Table 11"/>
          <p:cNvGraphicFramePr>
            <a:graphicFrameLocks noGrp="1"/>
          </p:cNvGraphicFramePr>
          <p:nvPr/>
        </p:nvGraphicFramePr>
        <p:xfrm>
          <a:off x="297027" y="1141627"/>
          <a:ext cx="9208821" cy="5442053"/>
        </p:xfrm>
        <a:graphic>
          <a:graphicData uri="http://schemas.openxmlformats.org/drawingml/2006/table">
            <a:tbl>
              <a:tblPr/>
              <a:tblGrid>
                <a:gridCol w="1031601">
                  <a:extLst>
                    <a:ext uri="{9D8B030D-6E8A-4147-A177-3AD203B41FA5}">
                      <a16:colId xmlns:a16="http://schemas.microsoft.com/office/drawing/2014/main" val="20000"/>
                    </a:ext>
                  </a:extLst>
                </a:gridCol>
                <a:gridCol w="2245018">
                  <a:extLst>
                    <a:ext uri="{9D8B030D-6E8A-4147-A177-3AD203B41FA5}">
                      <a16:colId xmlns:a16="http://schemas.microsoft.com/office/drawing/2014/main" val="20001"/>
                    </a:ext>
                  </a:extLst>
                </a:gridCol>
                <a:gridCol w="2248673">
                  <a:extLst>
                    <a:ext uri="{9D8B030D-6E8A-4147-A177-3AD203B41FA5}">
                      <a16:colId xmlns:a16="http://schemas.microsoft.com/office/drawing/2014/main" val="20002"/>
                    </a:ext>
                  </a:extLst>
                </a:gridCol>
                <a:gridCol w="1841764">
                  <a:extLst>
                    <a:ext uri="{9D8B030D-6E8A-4147-A177-3AD203B41FA5}">
                      <a16:colId xmlns:a16="http://schemas.microsoft.com/office/drawing/2014/main" val="20003"/>
                    </a:ext>
                  </a:extLst>
                </a:gridCol>
                <a:gridCol w="1841764">
                  <a:extLst>
                    <a:ext uri="{9D8B030D-6E8A-4147-A177-3AD203B41FA5}">
                      <a16:colId xmlns:a16="http://schemas.microsoft.com/office/drawing/2014/main" val="20004"/>
                    </a:ext>
                  </a:extLst>
                </a:gridCol>
              </a:tblGrid>
              <a:tr h="1420923">
                <a:tc>
                  <a:txBody>
                    <a:bodyPr/>
                    <a:lstStyle/>
                    <a:p>
                      <a:pPr algn="ctr">
                        <a:lnSpc>
                          <a:spcPts val="2279"/>
                        </a:lnSpc>
                        <a:defRPr/>
                      </a:pPr>
                      <a:r>
                        <a:rPr lang="en-US" sz="1899" b="1">
                          <a:solidFill>
                            <a:srgbClr val="000000"/>
                          </a:solidFill>
                          <a:latin typeface="Times New Roman Bold"/>
                          <a:ea typeface="Times New Roman Bold"/>
                          <a:cs typeface="Times New Roman Bold"/>
                          <a:sym typeface="Times New Roman Bold"/>
                        </a:rPr>
                        <a:t>S.NO</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279"/>
                        </a:lnSpc>
                        <a:defRPr/>
                      </a:pPr>
                      <a:r>
                        <a:rPr lang="en-US" sz="1899" b="1">
                          <a:solidFill>
                            <a:srgbClr val="000000"/>
                          </a:solidFill>
                          <a:latin typeface="Times New Roman Bold"/>
                          <a:ea typeface="Times New Roman Bold"/>
                          <a:cs typeface="Times New Roman Bold"/>
                          <a:sym typeface="Times New Roman Bold"/>
                        </a:rPr>
                        <a:t>PAPER DETAILS</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279"/>
                        </a:lnSpc>
                        <a:defRPr/>
                      </a:pPr>
                      <a:r>
                        <a:rPr lang="en-US" sz="1899" b="1">
                          <a:solidFill>
                            <a:srgbClr val="000000"/>
                          </a:solidFill>
                          <a:latin typeface="Times New Roman Bold"/>
                          <a:ea typeface="Times New Roman Bold"/>
                          <a:cs typeface="Times New Roman Bold"/>
                          <a:sym typeface="Times New Roman Bold"/>
                        </a:rPr>
                        <a:t>SUMMARY</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279"/>
                        </a:lnSpc>
                        <a:defRPr/>
                      </a:pPr>
                      <a:r>
                        <a:rPr lang="en-US" sz="1899" b="1">
                          <a:solidFill>
                            <a:srgbClr val="000000"/>
                          </a:solidFill>
                          <a:latin typeface="Times New Roman Bold"/>
                          <a:ea typeface="Times New Roman Bold"/>
                          <a:cs typeface="Times New Roman Bold"/>
                          <a:sym typeface="Times New Roman Bold"/>
                        </a:rPr>
                        <a:t>TECHNIQUES/ALGORITHMS USED</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279"/>
                        </a:lnSpc>
                        <a:defRPr/>
                      </a:pPr>
                      <a:r>
                        <a:rPr lang="en-US" sz="1899" b="1">
                          <a:solidFill>
                            <a:srgbClr val="000000"/>
                          </a:solidFill>
                          <a:latin typeface="Times New Roman Bold"/>
                          <a:ea typeface="Times New Roman Bold"/>
                          <a:cs typeface="Times New Roman Bold"/>
                          <a:sym typeface="Times New Roman Bold"/>
                        </a:rPr>
                        <a:t>RESEARCH GAP</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021130">
                <a:tc>
                  <a:txBody>
                    <a:bodyPr/>
                    <a:lstStyle/>
                    <a:p>
                      <a:pPr algn="ctr">
                        <a:lnSpc>
                          <a:spcPts val="2279"/>
                        </a:lnSpc>
                        <a:defRPr/>
                      </a:pPr>
                      <a:r>
                        <a:rPr lang="en-US" sz="1899">
                          <a:solidFill>
                            <a:srgbClr val="000000"/>
                          </a:solidFill>
                          <a:latin typeface="Times New Roman"/>
                          <a:ea typeface="Times New Roman"/>
                          <a:cs typeface="Times New Roman"/>
                          <a:sym typeface="Times New Roman"/>
                        </a:rPr>
                        <a:t>2</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2279"/>
                        </a:lnSpc>
                        <a:defRPr/>
                      </a:pPr>
                      <a:r>
                        <a:rPr lang="en-US" sz="1899">
                          <a:solidFill>
                            <a:srgbClr val="000000"/>
                          </a:solidFill>
                          <a:latin typeface="Times New Roman"/>
                          <a:ea typeface="Times New Roman"/>
                          <a:cs typeface="Times New Roman"/>
                          <a:sym typeface="Times New Roman"/>
                        </a:rPr>
                        <a:t>A Novel Anti-Spoofing Approach Using ResNeXt for Deepfake Detection" (2020)</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2279"/>
                        </a:lnSpc>
                        <a:defRPr/>
                      </a:pPr>
                      <a:r>
                        <a:rPr lang="en-US" sz="1899">
                          <a:solidFill>
                            <a:srgbClr val="000000"/>
                          </a:solidFill>
                          <a:latin typeface="Times New Roman"/>
                          <a:ea typeface="Times New Roman"/>
                          <a:cs typeface="Times New Roman"/>
                          <a:sym typeface="Times New Roman"/>
                        </a:rPr>
                        <a:t>Focuses on utilizing ResNeXt to detect facial manipulations and deepfake artifacts, combined with anti-spoofing measures.</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2279"/>
                        </a:lnSpc>
                        <a:defRPr/>
                      </a:pPr>
                      <a:r>
                        <a:rPr lang="en-US" sz="1899">
                          <a:solidFill>
                            <a:srgbClr val="000000"/>
                          </a:solidFill>
                          <a:latin typeface="Times New Roman"/>
                          <a:ea typeface="Times New Roman"/>
                          <a:cs typeface="Times New Roman"/>
                          <a:sym typeface="Times New Roman"/>
                        </a:rPr>
                        <a:t>ResNeXt</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2279"/>
                        </a:lnSpc>
                        <a:defRPr/>
                      </a:pPr>
                      <a:r>
                        <a:rPr lang="en-US" sz="1899">
                          <a:solidFill>
                            <a:srgbClr val="000000"/>
                          </a:solidFill>
                          <a:latin typeface="Times New Roman"/>
                          <a:ea typeface="Times New Roman"/>
                          <a:cs typeface="Times New Roman"/>
                          <a:sym typeface="Times New Roman"/>
                        </a:rPr>
                        <a:t>Does not integrate real-time processing optimizations for live systems.</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70560" y="177057"/>
            <a:ext cx="8412480" cy="733933"/>
            <a:chOff x="0" y="0"/>
            <a:chExt cx="11216640" cy="978578"/>
          </a:xfrm>
        </p:grpSpPr>
        <p:sp>
          <p:nvSpPr>
            <p:cNvPr id="3" name="Freeform 3"/>
            <p:cNvSpPr/>
            <p:nvPr/>
          </p:nvSpPr>
          <p:spPr>
            <a:xfrm>
              <a:off x="0" y="0"/>
              <a:ext cx="11216640" cy="978577"/>
            </a:xfrm>
            <a:custGeom>
              <a:avLst/>
              <a:gdLst/>
              <a:ahLst/>
              <a:cxnLst/>
              <a:rect l="l" t="t" r="r" b="b"/>
              <a:pathLst>
                <a:path w="11216640" h="978577">
                  <a:moveTo>
                    <a:pt x="0" y="0"/>
                  </a:moveTo>
                  <a:lnTo>
                    <a:pt x="11216640" y="0"/>
                  </a:lnTo>
                  <a:lnTo>
                    <a:pt x="11216640" y="978577"/>
                  </a:lnTo>
                  <a:lnTo>
                    <a:pt x="0" y="978577"/>
                  </a:lnTo>
                  <a:close/>
                </a:path>
              </a:pathLst>
            </a:custGeom>
            <a:solidFill>
              <a:srgbClr val="000000">
                <a:alpha val="0"/>
              </a:srgbClr>
            </a:solidFill>
          </p:spPr>
        </p:sp>
        <p:sp>
          <p:nvSpPr>
            <p:cNvPr id="4" name="TextBox 4"/>
            <p:cNvSpPr txBox="1"/>
            <p:nvPr/>
          </p:nvSpPr>
          <p:spPr>
            <a:xfrm>
              <a:off x="0" y="-38100"/>
              <a:ext cx="11216640" cy="1016678"/>
            </a:xfrm>
            <a:prstGeom prst="rect">
              <a:avLst/>
            </a:prstGeom>
          </p:spPr>
          <p:txBody>
            <a:bodyPr lIns="0" tIns="0" rIns="0" bIns="0" rtlCol="0" anchor="ctr"/>
            <a:lstStyle/>
            <a:p>
              <a:pPr algn="ctr">
                <a:lnSpc>
                  <a:spcPts val="4104"/>
                </a:lnSpc>
              </a:pPr>
              <a:r>
                <a:rPr lang="en-US" sz="3800" b="1">
                  <a:solidFill>
                    <a:srgbClr val="7030A0"/>
                  </a:solidFill>
                  <a:latin typeface="Times New Roman Bold"/>
                  <a:ea typeface="Times New Roman Bold"/>
                  <a:cs typeface="Times New Roman Bold"/>
                  <a:sym typeface="Times New Roman Bold"/>
                </a:rPr>
                <a:t>LITERATURE SURVEY</a:t>
              </a:r>
            </a:p>
          </p:txBody>
        </p:sp>
      </p:grpSp>
      <p:grpSp>
        <p:nvGrpSpPr>
          <p:cNvPr id="5" name="Group 5"/>
          <p:cNvGrpSpPr/>
          <p:nvPr/>
        </p:nvGrpSpPr>
        <p:grpSpPr>
          <a:xfrm>
            <a:off x="6907530" y="6780108"/>
            <a:ext cx="2194560" cy="389440"/>
            <a:chOff x="0" y="0"/>
            <a:chExt cx="2926080" cy="519253"/>
          </a:xfrm>
        </p:grpSpPr>
        <p:sp>
          <p:nvSpPr>
            <p:cNvPr id="6" name="Freeform 6"/>
            <p:cNvSpPr/>
            <p:nvPr/>
          </p:nvSpPr>
          <p:spPr>
            <a:xfrm>
              <a:off x="0" y="0"/>
              <a:ext cx="2926080" cy="519253"/>
            </a:xfrm>
            <a:custGeom>
              <a:avLst/>
              <a:gdLst/>
              <a:ahLst/>
              <a:cxnLst/>
              <a:rect l="l" t="t" r="r" b="b"/>
              <a:pathLst>
                <a:path w="2926080" h="519253">
                  <a:moveTo>
                    <a:pt x="0" y="0"/>
                  </a:moveTo>
                  <a:lnTo>
                    <a:pt x="2926080" y="0"/>
                  </a:lnTo>
                  <a:lnTo>
                    <a:pt x="2926080" y="519253"/>
                  </a:lnTo>
                  <a:lnTo>
                    <a:pt x="0" y="519253"/>
                  </a:lnTo>
                  <a:close/>
                </a:path>
              </a:pathLst>
            </a:custGeom>
            <a:solidFill>
              <a:srgbClr val="000000">
                <a:alpha val="0"/>
              </a:srgbClr>
            </a:solidFill>
          </p:spPr>
        </p:sp>
        <p:sp>
          <p:nvSpPr>
            <p:cNvPr id="7" name="TextBox 7"/>
            <p:cNvSpPr txBox="1"/>
            <p:nvPr/>
          </p:nvSpPr>
          <p:spPr>
            <a:xfrm>
              <a:off x="0" y="-28575"/>
              <a:ext cx="2926080" cy="547828"/>
            </a:xfrm>
            <a:prstGeom prst="rect">
              <a:avLst/>
            </a:prstGeom>
          </p:spPr>
          <p:txBody>
            <a:bodyPr lIns="0" tIns="0" rIns="0" bIns="0" rtlCol="0" anchor="ctr"/>
            <a:lstStyle/>
            <a:p>
              <a:pPr algn="r">
                <a:lnSpc>
                  <a:spcPts val="1791"/>
                </a:lnSpc>
              </a:pPr>
              <a:r>
                <a:rPr lang="en-US" sz="1493" b="1">
                  <a:solidFill>
                    <a:srgbClr val="000000"/>
                  </a:solidFill>
                  <a:latin typeface="Times New Roman Bold"/>
                  <a:ea typeface="Times New Roman Bold"/>
                  <a:cs typeface="Times New Roman Bold"/>
                  <a:sym typeface="Times New Roman Bold"/>
                </a:rPr>
                <a:t>7</a:t>
              </a:r>
            </a:p>
          </p:txBody>
        </p:sp>
      </p:grpSp>
      <p:grpSp>
        <p:nvGrpSpPr>
          <p:cNvPr id="8" name="Group 8"/>
          <p:cNvGrpSpPr/>
          <p:nvPr/>
        </p:nvGrpSpPr>
        <p:grpSpPr>
          <a:xfrm>
            <a:off x="1215434" y="6780108"/>
            <a:ext cx="7322733" cy="389440"/>
            <a:chOff x="0" y="0"/>
            <a:chExt cx="9763643" cy="519253"/>
          </a:xfrm>
        </p:grpSpPr>
        <p:sp>
          <p:nvSpPr>
            <p:cNvPr id="9" name="Freeform 9"/>
            <p:cNvSpPr/>
            <p:nvPr/>
          </p:nvSpPr>
          <p:spPr>
            <a:xfrm>
              <a:off x="0" y="0"/>
              <a:ext cx="9763644" cy="519253"/>
            </a:xfrm>
            <a:custGeom>
              <a:avLst/>
              <a:gdLst/>
              <a:ahLst/>
              <a:cxnLst/>
              <a:rect l="l" t="t" r="r" b="b"/>
              <a:pathLst>
                <a:path w="9763644" h="519253">
                  <a:moveTo>
                    <a:pt x="0" y="0"/>
                  </a:moveTo>
                  <a:lnTo>
                    <a:pt x="9763644" y="0"/>
                  </a:lnTo>
                  <a:lnTo>
                    <a:pt x="9763644" y="519253"/>
                  </a:lnTo>
                  <a:lnTo>
                    <a:pt x="0" y="519253"/>
                  </a:lnTo>
                  <a:close/>
                </a:path>
              </a:pathLst>
            </a:custGeom>
            <a:solidFill>
              <a:srgbClr val="000000">
                <a:alpha val="0"/>
              </a:srgbClr>
            </a:solidFill>
          </p:spPr>
        </p:sp>
        <p:sp>
          <p:nvSpPr>
            <p:cNvPr id="10" name="TextBox 10"/>
            <p:cNvSpPr txBox="1"/>
            <p:nvPr/>
          </p:nvSpPr>
          <p:spPr>
            <a:xfrm>
              <a:off x="0" y="-28575"/>
              <a:ext cx="9763643" cy="547828"/>
            </a:xfrm>
            <a:prstGeom prst="rect">
              <a:avLst/>
            </a:prstGeom>
          </p:spPr>
          <p:txBody>
            <a:bodyPr lIns="0" tIns="0" rIns="0" bIns="0" rtlCol="0" anchor="ctr"/>
            <a:lstStyle/>
            <a:p>
              <a:pPr algn="ctr">
                <a:lnSpc>
                  <a:spcPts val="1559"/>
                </a:lnSpc>
              </a:pPr>
              <a:r>
                <a:rPr lang="en-US" sz="1299">
                  <a:solidFill>
                    <a:srgbClr val="888888"/>
                  </a:solidFill>
                  <a:latin typeface="Times New Roman"/>
                  <a:ea typeface="Times New Roman"/>
                  <a:cs typeface="Times New Roman"/>
                  <a:sym typeface="Times New Roman"/>
                </a:rPr>
                <a:t>Integrated Anti-Spoofing and Deepfake Detection System Using MobileNet and ResNeXt</a:t>
              </a:r>
            </a:p>
          </p:txBody>
        </p:sp>
      </p:grpSp>
      <p:graphicFrame>
        <p:nvGraphicFramePr>
          <p:cNvPr id="11" name="Table 11"/>
          <p:cNvGraphicFramePr>
            <a:graphicFrameLocks noGrp="1"/>
          </p:cNvGraphicFramePr>
          <p:nvPr/>
        </p:nvGraphicFramePr>
        <p:xfrm>
          <a:off x="297027" y="1141627"/>
          <a:ext cx="9158323" cy="5226547"/>
        </p:xfrm>
        <a:graphic>
          <a:graphicData uri="http://schemas.openxmlformats.org/drawingml/2006/table">
            <a:tbl>
              <a:tblPr/>
              <a:tblGrid>
                <a:gridCol w="1025944">
                  <a:extLst>
                    <a:ext uri="{9D8B030D-6E8A-4147-A177-3AD203B41FA5}">
                      <a16:colId xmlns:a16="http://schemas.microsoft.com/office/drawing/2014/main" val="20000"/>
                    </a:ext>
                  </a:extLst>
                </a:gridCol>
                <a:gridCol w="2232708">
                  <a:extLst>
                    <a:ext uri="{9D8B030D-6E8A-4147-A177-3AD203B41FA5}">
                      <a16:colId xmlns:a16="http://schemas.microsoft.com/office/drawing/2014/main" val="20001"/>
                    </a:ext>
                  </a:extLst>
                </a:gridCol>
                <a:gridCol w="2236342">
                  <a:extLst>
                    <a:ext uri="{9D8B030D-6E8A-4147-A177-3AD203B41FA5}">
                      <a16:colId xmlns:a16="http://schemas.microsoft.com/office/drawing/2014/main" val="20002"/>
                    </a:ext>
                  </a:extLst>
                </a:gridCol>
                <a:gridCol w="1831665">
                  <a:extLst>
                    <a:ext uri="{9D8B030D-6E8A-4147-A177-3AD203B41FA5}">
                      <a16:colId xmlns:a16="http://schemas.microsoft.com/office/drawing/2014/main" val="20003"/>
                    </a:ext>
                  </a:extLst>
                </a:gridCol>
                <a:gridCol w="1831665">
                  <a:extLst>
                    <a:ext uri="{9D8B030D-6E8A-4147-A177-3AD203B41FA5}">
                      <a16:colId xmlns:a16="http://schemas.microsoft.com/office/drawing/2014/main" val="20004"/>
                    </a:ext>
                  </a:extLst>
                </a:gridCol>
              </a:tblGrid>
              <a:tr h="1432706">
                <a:tc>
                  <a:txBody>
                    <a:bodyPr/>
                    <a:lstStyle/>
                    <a:p>
                      <a:pPr algn="ctr">
                        <a:lnSpc>
                          <a:spcPts val="2279"/>
                        </a:lnSpc>
                        <a:defRPr/>
                      </a:pPr>
                      <a:r>
                        <a:rPr lang="en-US" sz="1899" b="1">
                          <a:solidFill>
                            <a:srgbClr val="000000"/>
                          </a:solidFill>
                          <a:latin typeface="Times New Roman Bold"/>
                          <a:ea typeface="Times New Roman Bold"/>
                          <a:cs typeface="Times New Roman Bold"/>
                          <a:sym typeface="Times New Roman Bold"/>
                        </a:rPr>
                        <a:t>S.NO</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279"/>
                        </a:lnSpc>
                        <a:defRPr/>
                      </a:pPr>
                      <a:r>
                        <a:rPr lang="en-US" sz="1899" b="1">
                          <a:solidFill>
                            <a:srgbClr val="000000"/>
                          </a:solidFill>
                          <a:latin typeface="Times New Roman Bold"/>
                          <a:ea typeface="Times New Roman Bold"/>
                          <a:cs typeface="Times New Roman Bold"/>
                          <a:sym typeface="Times New Roman Bold"/>
                        </a:rPr>
                        <a:t>PAPER DETAILS</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279"/>
                        </a:lnSpc>
                        <a:defRPr/>
                      </a:pPr>
                      <a:r>
                        <a:rPr lang="en-US" sz="1899" b="1">
                          <a:solidFill>
                            <a:srgbClr val="000000"/>
                          </a:solidFill>
                          <a:latin typeface="Times New Roman Bold"/>
                          <a:ea typeface="Times New Roman Bold"/>
                          <a:cs typeface="Times New Roman Bold"/>
                          <a:sym typeface="Times New Roman Bold"/>
                        </a:rPr>
                        <a:t>SUMMARY</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279"/>
                        </a:lnSpc>
                        <a:defRPr/>
                      </a:pPr>
                      <a:r>
                        <a:rPr lang="en-US" sz="1899" b="1">
                          <a:solidFill>
                            <a:srgbClr val="000000"/>
                          </a:solidFill>
                          <a:latin typeface="Times New Roman Bold"/>
                          <a:ea typeface="Times New Roman Bold"/>
                          <a:cs typeface="Times New Roman Bold"/>
                          <a:sym typeface="Times New Roman Bold"/>
                        </a:rPr>
                        <a:t>TECHNIQUES/ALGORITHMS USED</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279"/>
                        </a:lnSpc>
                        <a:defRPr/>
                      </a:pPr>
                      <a:r>
                        <a:rPr lang="en-US" sz="1899" b="1">
                          <a:solidFill>
                            <a:srgbClr val="000000"/>
                          </a:solidFill>
                          <a:latin typeface="Times New Roman Bold"/>
                          <a:ea typeface="Times New Roman Bold"/>
                          <a:cs typeface="Times New Roman Bold"/>
                          <a:sym typeface="Times New Roman Bold"/>
                        </a:rPr>
                        <a:t>RESEARCH GAP</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793841">
                <a:tc>
                  <a:txBody>
                    <a:bodyPr/>
                    <a:lstStyle/>
                    <a:p>
                      <a:pPr algn="ctr">
                        <a:lnSpc>
                          <a:spcPts val="2279"/>
                        </a:lnSpc>
                        <a:defRPr/>
                      </a:pPr>
                      <a:r>
                        <a:rPr lang="en-US" sz="1899">
                          <a:solidFill>
                            <a:srgbClr val="000000"/>
                          </a:solidFill>
                          <a:latin typeface="Times New Roman"/>
                          <a:ea typeface="Times New Roman"/>
                          <a:cs typeface="Times New Roman"/>
                          <a:sym typeface="Times New Roman"/>
                        </a:rPr>
                        <a:t>3</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2279"/>
                        </a:lnSpc>
                        <a:defRPr/>
                      </a:pPr>
                      <a:r>
                        <a:rPr lang="en-US" sz="1899">
                          <a:solidFill>
                            <a:srgbClr val="000000"/>
                          </a:solidFill>
                          <a:latin typeface="Times New Roman"/>
                          <a:ea typeface="Times New Roman"/>
                          <a:cs typeface="Times New Roman"/>
                          <a:sym typeface="Times New Roman"/>
                        </a:rPr>
                        <a:t>"Real-Time Face Spoofing and Deepfake Detection via Lightweight Neural Networks" (2021)</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2279"/>
                        </a:lnSpc>
                        <a:defRPr/>
                      </a:pPr>
                      <a:r>
                        <a:rPr lang="en-US" sz="1899">
                          <a:solidFill>
                            <a:srgbClr val="000000"/>
                          </a:solidFill>
                          <a:latin typeface="Times New Roman"/>
                          <a:ea typeface="Times New Roman"/>
                          <a:cs typeface="Times New Roman"/>
                          <a:sym typeface="Times New Roman"/>
                        </a:rPr>
                        <a:t>Proposes an anti-spoofing and deepfake detection system using lightweight CNN models for faster processing.</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2279"/>
                        </a:lnSpc>
                        <a:defRPr/>
                      </a:pPr>
                      <a:r>
                        <a:rPr lang="en-US" sz="1899">
                          <a:solidFill>
                            <a:srgbClr val="000000"/>
                          </a:solidFill>
                          <a:latin typeface="Times New Roman"/>
                          <a:ea typeface="Times New Roman"/>
                          <a:cs typeface="Times New Roman"/>
                          <a:sym typeface="Times New Roman"/>
                        </a:rPr>
                        <a:t>Lightweight CNNs, Anti-spoofing Algorithms</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2279"/>
                        </a:lnSpc>
                        <a:defRPr/>
                      </a:pPr>
                      <a:r>
                        <a:rPr lang="en-US" sz="1899">
                          <a:solidFill>
                            <a:srgbClr val="000000"/>
                          </a:solidFill>
                          <a:latin typeface="Times New Roman"/>
                          <a:ea typeface="Times New Roman"/>
                          <a:cs typeface="Times New Roman"/>
                          <a:sym typeface="Times New Roman"/>
                        </a:rPr>
                        <a:t>Limited scalability for handling large datasets.</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70560" y="177057"/>
            <a:ext cx="8412480" cy="733933"/>
            <a:chOff x="0" y="0"/>
            <a:chExt cx="11216640" cy="978578"/>
          </a:xfrm>
        </p:grpSpPr>
        <p:sp>
          <p:nvSpPr>
            <p:cNvPr id="3" name="Freeform 3"/>
            <p:cNvSpPr/>
            <p:nvPr/>
          </p:nvSpPr>
          <p:spPr>
            <a:xfrm>
              <a:off x="0" y="0"/>
              <a:ext cx="11216640" cy="978577"/>
            </a:xfrm>
            <a:custGeom>
              <a:avLst/>
              <a:gdLst/>
              <a:ahLst/>
              <a:cxnLst/>
              <a:rect l="l" t="t" r="r" b="b"/>
              <a:pathLst>
                <a:path w="11216640" h="978577">
                  <a:moveTo>
                    <a:pt x="0" y="0"/>
                  </a:moveTo>
                  <a:lnTo>
                    <a:pt x="11216640" y="0"/>
                  </a:lnTo>
                  <a:lnTo>
                    <a:pt x="11216640" y="978577"/>
                  </a:lnTo>
                  <a:lnTo>
                    <a:pt x="0" y="978577"/>
                  </a:lnTo>
                  <a:close/>
                </a:path>
              </a:pathLst>
            </a:custGeom>
            <a:solidFill>
              <a:srgbClr val="000000">
                <a:alpha val="0"/>
              </a:srgbClr>
            </a:solidFill>
          </p:spPr>
        </p:sp>
        <p:sp>
          <p:nvSpPr>
            <p:cNvPr id="4" name="TextBox 4"/>
            <p:cNvSpPr txBox="1"/>
            <p:nvPr/>
          </p:nvSpPr>
          <p:spPr>
            <a:xfrm>
              <a:off x="0" y="-38100"/>
              <a:ext cx="11216640" cy="1016678"/>
            </a:xfrm>
            <a:prstGeom prst="rect">
              <a:avLst/>
            </a:prstGeom>
          </p:spPr>
          <p:txBody>
            <a:bodyPr lIns="0" tIns="0" rIns="0" bIns="0" rtlCol="0" anchor="ctr"/>
            <a:lstStyle/>
            <a:p>
              <a:pPr algn="ctr">
                <a:lnSpc>
                  <a:spcPts val="4104"/>
                </a:lnSpc>
              </a:pPr>
              <a:r>
                <a:rPr lang="en-US" sz="3800" b="1">
                  <a:solidFill>
                    <a:srgbClr val="7030A0"/>
                  </a:solidFill>
                  <a:latin typeface="Times New Roman Bold"/>
                  <a:ea typeface="Times New Roman Bold"/>
                  <a:cs typeface="Times New Roman Bold"/>
                  <a:sym typeface="Times New Roman Bold"/>
                </a:rPr>
                <a:t>LITERATURE SURVEY</a:t>
              </a:r>
            </a:p>
          </p:txBody>
        </p:sp>
      </p:grpSp>
      <p:grpSp>
        <p:nvGrpSpPr>
          <p:cNvPr id="5" name="Group 5"/>
          <p:cNvGrpSpPr/>
          <p:nvPr/>
        </p:nvGrpSpPr>
        <p:grpSpPr>
          <a:xfrm>
            <a:off x="6888480" y="6780108"/>
            <a:ext cx="2194560" cy="389440"/>
            <a:chOff x="0" y="0"/>
            <a:chExt cx="2926080" cy="519253"/>
          </a:xfrm>
        </p:grpSpPr>
        <p:sp>
          <p:nvSpPr>
            <p:cNvPr id="6" name="Freeform 6"/>
            <p:cNvSpPr/>
            <p:nvPr/>
          </p:nvSpPr>
          <p:spPr>
            <a:xfrm>
              <a:off x="0" y="0"/>
              <a:ext cx="2926080" cy="519253"/>
            </a:xfrm>
            <a:custGeom>
              <a:avLst/>
              <a:gdLst/>
              <a:ahLst/>
              <a:cxnLst/>
              <a:rect l="l" t="t" r="r" b="b"/>
              <a:pathLst>
                <a:path w="2926080" h="519253">
                  <a:moveTo>
                    <a:pt x="0" y="0"/>
                  </a:moveTo>
                  <a:lnTo>
                    <a:pt x="2926080" y="0"/>
                  </a:lnTo>
                  <a:lnTo>
                    <a:pt x="2926080" y="519253"/>
                  </a:lnTo>
                  <a:lnTo>
                    <a:pt x="0" y="519253"/>
                  </a:lnTo>
                  <a:close/>
                </a:path>
              </a:pathLst>
            </a:custGeom>
            <a:solidFill>
              <a:srgbClr val="000000">
                <a:alpha val="0"/>
              </a:srgbClr>
            </a:solidFill>
          </p:spPr>
        </p:sp>
        <p:sp>
          <p:nvSpPr>
            <p:cNvPr id="7" name="TextBox 7"/>
            <p:cNvSpPr txBox="1"/>
            <p:nvPr/>
          </p:nvSpPr>
          <p:spPr>
            <a:xfrm>
              <a:off x="0" y="-28575"/>
              <a:ext cx="2926080" cy="547828"/>
            </a:xfrm>
            <a:prstGeom prst="rect">
              <a:avLst/>
            </a:prstGeom>
          </p:spPr>
          <p:txBody>
            <a:bodyPr lIns="0" tIns="0" rIns="0" bIns="0" rtlCol="0" anchor="ctr"/>
            <a:lstStyle/>
            <a:p>
              <a:pPr algn="r">
                <a:lnSpc>
                  <a:spcPts val="1791"/>
                </a:lnSpc>
              </a:pPr>
              <a:r>
                <a:rPr lang="en-US" sz="1493" b="1">
                  <a:solidFill>
                    <a:srgbClr val="000000"/>
                  </a:solidFill>
                  <a:latin typeface="Times New Roman Bold"/>
                  <a:ea typeface="Times New Roman Bold"/>
                  <a:cs typeface="Times New Roman Bold"/>
                  <a:sym typeface="Times New Roman Bold"/>
                </a:rPr>
                <a:t>8</a:t>
              </a:r>
            </a:p>
          </p:txBody>
        </p:sp>
      </p:grpSp>
      <p:grpSp>
        <p:nvGrpSpPr>
          <p:cNvPr id="8" name="Group 8"/>
          <p:cNvGrpSpPr/>
          <p:nvPr/>
        </p:nvGrpSpPr>
        <p:grpSpPr>
          <a:xfrm>
            <a:off x="1241436" y="6780108"/>
            <a:ext cx="7270728" cy="389440"/>
            <a:chOff x="0" y="0"/>
            <a:chExt cx="9694304" cy="519253"/>
          </a:xfrm>
        </p:grpSpPr>
        <p:sp>
          <p:nvSpPr>
            <p:cNvPr id="9" name="Freeform 9"/>
            <p:cNvSpPr/>
            <p:nvPr/>
          </p:nvSpPr>
          <p:spPr>
            <a:xfrm>
              <a:off x="0" y="0"/>
              <a:ext cx="9694304" cy="519253"/>
            </a:xfrm>
            <a:custGeom>
              <a:avLst/>
              <a:gdLst/>
              <a:ahLst/>
              <a:cxnLst/>
              <a:rect l="l" t="t" r="r" b="b"/>
              <a:pathLst>
                <a:path w="9694304" h="519253">
                  <a:moveTo>
                    <a:pt x="0" y="0"/>
                  </a:moveTo>
                  <a:lnTo>
                    <a:pt x="9694304" y="0"/>
                  </a:lnTo>
                  <a:lnTo>
                    <a:pt x="9694304" y="519253"/>
                  </a:lnTo>
                  <a:lnTo>
                    <a:pt x="0" y="519253"/>
                  </a:lnTo>
                  <a:close/>
                </a:path>
              </a:pathLst>
            </a:custGeom>
            <a:solidFill>
              <a:srgbClr val="000000">
                <a:alpha val="0"/>
              </a:srgbClr>
            </a:solidFill>
          </p:spPr>
        </p:sp>
        <p:sp>
          <p:nvSpPr>
            <p:cNvPr id="10" name="TextBox 10"/>
            <p:cNvSpPr txBox="1"/>
            <p:nvPr/>
          </p:nvSpPr>
          <p:spPr>
            <a:xfrm>
              <a:off x="0" y="-28575"/>
              <a:ext cx="9694304" cy="547828"/>
            </a:xfrm>
            <a:prstGeom prst="rect">
              <a:avLst/>
            </a:prstGeom>
          </p:spPr>
          <p:txBody>
            <a:bodyPr lIns="0" tIns="0" rIns="0" bIns="0" rtlCol="0" anchor="ctr"/>
            <a:lstStyle/>
            <a:p>
              <a:pPr algn="ctr">
                <a:lnSpc>
                  <a:spcPts val="1559"/>
                </a:lnSpc>
              </a:pPr>
              <a:r>
                <a:rPr lang="en-US" sz="1299">
                  <a:solidFill>
                    <a:srgbClr val="888888"/>
                  </a:solidFill>
                  <a:latin typeface="Times New Roman"/>
                  <a:ea typeface="Times New Roman"/>
                  <a:cs typeface="Times New Roman"/>
                  <a:sym typeface="Times New Roman"/>
                </a:rPr>
                <a:t>Integrated Anti-Spoofing and Deepfake Detection System Using MobileNet and ResNeXt</a:t>
              </a:r>
            </a:p>
          </p:txBody>
        </p:sp>
      </p:grpSp>
      <p:graphicFrame>
        <p:nvGraphicFramePr>
          <p:cNvPr id="11" name="Table 11"/>
          <p:cNvGraphicFramePr>
            <a:graphicFrameLocks noGrp="1"/>
          </p:cNvGraphicFramePr>
          <p:nvPr/>
        </p:nvGraphicFramePr>
        <p:xfrm>
          <a:off x="297027" y="1141627"/>
          <a:ext cx="9137422" cy="5358802"/>
        </p:xfrm>
        <a:graphic>
          <a:graphicData uri="http://schemas.openxmlformats.org/drawingml/2006/table">
            <a:tbl>
              <a:tblPr/>
              <a:tblGrid>
                <a:gridCol w="1023603">
                  <a:extLst>
                    <a:ext uri="{9D8B030D-6E8A-4147-A177-3AD203B41FA5}">
                      <a16:colId xmlns:a16="http://schemas.microsoft.com/office/drawing/2014/main" val="20000"/>
                    </a:ext>
                  </a:extLst>
                </a:gridCol>
                <a:gridCol w="2227612">
                  <a:extLst>
                    <a:ext uri="{9D8B030D-6E8A-4147-A177-3AD203B41FA5}">
                      <a16:colId xmlns:a16="http://schemas.microsoft.com/office/drawing/2014/main" val="20001"/>
                    </a:ext>
                  </a:extLst>
                </a:gridCol>
                <a:gridCol w="2231238">
                  <a:extLst>
                    <a:ext uri="{9D8B030D-6E8A-4147-A177-3AD203B41FA5}">
                      <a16:colId xmlns:a16="http://schemas.microsoft.com/office/drawing/2014/main" val="20002"/>
                    </a:ext>
                  </a:extLst>
                </a:gridCol>
                <a:gridCol w="1827484">
                  <a:extLst>
                    <a:ext uri="{9D8B030D-6E8A-4147-A177-3AD203B41FA5}">
                      <a16:colId xmlns:a16="http://schemas.microsoft.com/office/drawing/2014/main" val="20003"/>
                    </a:ext>
                  </a:extLst>
                </a:gridCol>
                <a:gridCol w="1827484">
                  <a:extLst>
                    <a:ext uri="{9D8B030D-6E8A-4147-A177-3AD203B41FA5}">
                      <a16:colId xmlns:a16="http://schemas.microsoft.com/office/drawing/2014/main" val="20004"/>
                    </a:ext>
                  </a:extLst>
                </a:gridCol>
              </a:tblGrid>
              <a:tr h="1423432">
                <a:tc>
                  <a:txBody>
                    <a:bodyPr/>
                    <a:lstStyle/>
                    <a:p>
                      <a:pPr algn="ctr">
                        <a:lnSpc>
                          <a:spcPts val="2279"/>
                        </a:lnSpc>
                        <a:defRPr/>
                      </a:pPr>
                      <a:r>
                        <a:rPr lang="en-US" sz="1899" b="1">
                          <a:solidFill>
                            <a:srgbClr val="000000"/>
                          </a:solidFill>
                          <a:latin typeface="Times New Roman Bold"/>
                          <a:ea typeface="Times New Roman Bold"/>
                          <a:cs typeface="Times New Roman Bold"/>
                          <a:sym typeface="Times New Roman Bold"/>
                        </a:rPr>
                        <a:t>S.NO</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279"/>
                        </a:lnSpc>
                        <a:defRPr/>
                      </a:pPr>
                      <a:r>
                        <a:rPr lang="en-US" sz="1899" b="1">
                          <a:solidFill>
                            <a:srgbClr val="000000"/>
                          </a:solidFill>
                          <a:latin typeface="Times New Roman Bold"/>
                          <a:ea typeface="Times New Roman Bold"/>
                          <a:cs typeface="Times New Roman Bold"/>
                          <a:sym typeface="Times New Roman Bold"/>
                        </a:rPr>
                        <a:t>PAPER DETAILS</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279"/>
                        </a:lnSpc>
                        <a:defRPr/>
                      </a:pPr>
                      <a:r>
                        <a:rPr lang="en-US" sz="1899" b="1">
                          <a:solidFill>
                            <a:srgbClr val="000000"/>
                          </a:solidFill>
                          <a:latin typeface="Times New Roman Bold"/>
                          <a:ea typeface="Times New Roman Bold"/>
                          <a:cs typeface="Times New Roman Bold"/>
                          <a:sym typeface="Times New Roman Bold"/>
                        </a:rPr>
                        <a:t>SUMMARY</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279"/>
                        </a:lnSpc>
                        <a:defRPr/>
                      </a:pPr>
                      <a:r>
                        <a:rPr lang="en-US" sz="1899" b="1">
                          <a:solidFill>
                            <a:srgbClr val="000000"/>
                          </a:solidFill>
                          <a:latin typeface="Times New Roman Bold"/>
                          <a:ea typeface="Times New Roman Bold"/>
                          <a:cs typeface="Times New Roman Bold"/>
                          <a:sym typeface="Times New Roman Bold"/>
                        </a:rPr>
                        <a:t>TECHNIQUES/ALGORITHMS USED</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279"/>
                        </a:lnSpc>
                        <a:defRPr/>
                      </a:pPr>
                      <a:r>
                        <a:rPr lang="en-US" sz="1899" b="1">
                          <a:solidFill>
                            <a:srgbClr val="000000"/>
                          </a:solidFill>
                          <a:latin typeface="Times New Roman Bold"/>
                          <a:ea typeface="Times New Roman Bold"/>
                          <a:cs typeface="Times New Roman Bold"/>
                          <a:sym typeface="Times New Roman Bold"/>
                        </a:rPr>
                        <a:t>RESEARCH GAP</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935370">
                <a:tc>
                  <a:txBody>
                    <a:bodyPr/>
                    <a:lstStyle/>
                    <a:p>
                      <a:pPr algn="ctr">
                        <a:lnSpc>
                          <a:spcPts val="2279"/>
                        </a:lnSpc>
                        <a:defRPr/>
                      </a:pPr>
                      <a:r>
                        <a:rPr lang="en-US" sz="1899">
                          <a:solidFill>
                            <a:srgbClr val="000000"/>
                          </a:solidFill>
                          <a:latin typeface="Times New Roman"/>
                          <a:ea typeface="Times New Roman"/>
                          <a:cs typeface="Times New Roman"/>
                          <a:sym typeface="Times New Roman"/>
                        </a:rPr>
                        <a:t>4</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2279"/>
                        </a:lnSpc>
                        <a:defRPr/>
                      </a:pPr>
                      <a:r>
                        <a:rPr lang="en-US" sz="1899">
                          <a:solidFill>
                            <a:srgbClr val="000000"/>
                          </a:solidFill>
                          <a:latin typeface="Times New Roman"/>
                          <a:ea typeface="Times New Roman"/>
                          <a:cs typeface="Times New Roman"/>
                          <a:sym typeface="Times New Roman"/>
                        </a:rPr>
                        <a:t>"Biometric Anti-Spoofing and Deepfake Detection Using MobileNet" (2020)</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2279"/>
                        </a:lnSpc>
                        <a:defRPr/>
                      </a:pPr>
                      <a:r>
                        <a:rPr lang="en-US" sz="1899">
                          <a:solidFill>
                            <a:srgbClr val="000000"/>
                          </a:solidFill>
                          <a:latin typeface="Times New Roman"/>
                          <a:ea typeface="Times New Roman"/>
                          <a:cs typeface="Times New Roman"/>
                          <a:sym typeface="Times New Roman"/>
                        </a:rPr>
                        <a:t>Investigates MobileNet's effectiveness in detecting both spoofing attempts and deepfake media, with emphasis on biometric authentication.</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2279"/>
                        </a:lnSpc>
                        <a:defRPr/>
                      </a:pPr>
                      <a:r>
                        <a:rPr lang="en-US" sz="1899">
                          <a:solidFill>
                            <a:srgbClr val="000000"/>
                          </a:solidFill>
                          <a:latin typeface="Times New Roman"/>
                          <a:ea typeface="Times New Roman"/>
                          <a:cs typeface="Times New Roman"/>
                          <a:sym typeface="Times New Roman"/>
                        </a:rPr>
                        <a:t>MobileNet, Biometric Anti-Spoofing</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2279"/>
                        </a:lnSpc>
                        <a:defRPr/>
                      </a:pPr>
                      <a:r>
                        <a:rPr lang="en-US" sz="1899">
                          <a:solidFill>
                            <a:srgbClr val="000000"/>
                          </a:solidFill>
                          <a:latin typeface="Times New Roman"/>
                          <a:ea typeface="Times New Roman"/>
                          <a:cs typeface="Times New Roman"/>
                          <a:sym typeface="Times New Roman"/>
                        </a:rPr>
                        <a:t>The system’s generalization ability on diverse datasets needs improvement.</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70560" y="177057"/>
            <a:ext cx="8412480" cy="733933"/>
            <a:chOff x="0" y="0"/>
            <a:chExt cx="11216640" cy="978578"/>
          </a:xfrm>
        </p:grpSpPr>
        <p:sp>
          <p:nvSpPr>
            <p:cNvPr id="3" name="Freeform 3"/>
            <p:cNvSpPr/>
            <p:nvPr/>
          </p:nvSpPr>
          <p:spPr>
            <a:xfrm>
              <a:off x="0" y="0"/>
              <a:ext cx="11216640" cy="978577"/>
            </a:xfrm>
            <a:custGeom>
              <a:avLst/>
              <a:gdLst/>
              <a:ahLst/>
              <a:cxnLst/>
              <a:rect l="l" t="t" r="r" b="b"/>
              <a:pathLst>
                <a:path w="11216640" h="978577">
                  <a:moveTo>
                    <a:pt x="0" y="0"/>
                  </a:moveTo>
                  <a:lnTo>
                    <a:pt x="11216640" y="0"/>
                  </a:lnTo>
                  <a:lnTo>
                    <a:pt x="11216640" y="978577"/>
                  </a:lnTo>
                  <a:lnTo>
                    <a:pt x="0" y="978577"/>
                  </a:lnTo>
                  <a:close/>
                </a:path>
              </a:pathLst>
            </a:custGeom>
            <a:solidFill>
              <a:srgbClr val="000000">
                <a:alpha val="0"/>
              </a:srgbClr>
            </a:solidFill>
          </p:spPr>
        </p:sp>
        <p:sp>
          <p:nvSpPr>
            <p:cNvPr id="4" name="TextBox 4"/>
            <p:cNvSpPr txBox="1"/>
            <p:nvPr/>
          </p:nvSpPr>
          <p:spPr>
            <a:xfrm>
              <a:off x="0" y="-38100"/>
              <a:ext cx="11216640" cy="1016678"/>
            </a:xfrm>
            <a:prstGeom prst="rect">
              <a:avLst/>
            </a:prstGeom>
          </p:spPr>
          <p:txBody>
            <a:bodyPr lIns="0" tIns="0" rIns="0" bIns="0" rtlCol="0" anchor="ctr"/>
            <a:lstStyle/>
            <a:p>
              <a:pPr algn="ctr">
                <a:lnSpc>
                  <a:spcPts val="4104"/>
                </a:lnSpc>
              </a:pPr>
              <a:r>
                <a:rPr lang="en-US" sz="3800" b="1">
                  <a:solidFill>
                    <a:srgbClr val="7030A0"/>
                  </a:solidFill>
                  <a:latin typeface="Times New Roman Bold"/>
                  <a:ea typeface="Times New Roman Bold"/>
                  <a:cs typeface="Times New Roman Bold"/>
                  <a:sym typeface="Times New Roman Bold"/>
                </a:rPr>
                <a:t>LITERATURE SURVEY</a:t>
              </a:r>
            </a:p>
          </p:txBody>
        </p:sp>
      </p:grpSp>
      <p:grpSp>
        <p:nvGrpSpPr>
          <p:cNvPr id="5" name="Group 5"/>
          <p:cNvGrpSpPr/>
          <p:nvPr/>
        </p:nvGrpSpPr>
        <p:grpSpPr>
          <a:xfrm>
            <a:off x="6888480" y="6780108"/>
            <a:ext cx="2194560" cy="389440"/>
            <a:chOff x="0" y="0"/>
            <a:chExt cx="2926080" cy="519253"/>
          </a:xfrm>
        </p:grpSpPr>
        <p:sp>
          <p:nvSpPr>
            <p:cNvPr id="6" name="Freeform 6"/>
            <p:cNvSpPr/>
            <p:nvPr/>
          </p:nvSpPr>
          <p:spPr>
            <a:xfrm>
              <a:off x="0" y="0"/>
              <a:ext cx="2926080" cy="519253"/>
            </a:xfrm>
            <a:custGeom>
              <a:avLst/>
              <a:gdLst/>
              <a:ahLst/>
              <a:cxnLst/>
              <a:rect l="l" t="t" r="r" b="b"/>
              <a:pathLst>
                <a:path w="2926080" h="519253">
                  <a:moveTo>
                    <a:pt x="0" y="0"/>
                  </a:moveTo>
                  <a:lnTo>
                    <a:pt x="2926080" y="0"/>
                  </a:lnTo>
                  <a:lnTo>
                    <a:pt x="2926080" y="519253"/>
                  </a:lnTo>
                  <a:lnTo>
                    <a:pt x="0" y="519253"/>
                  </a:lnTo>
                  <a:close/>
                </a:path>
              </a:pathLst>
            </a:custGeom>
            <a:solidFill>
              <a:srgbClr val="000000">
                <a:alpha val="0"/>
              </a:srgbClr>
            </a:solidFill>
          </p:spPr>
        </p:sp>
        <p:sp>
          <p:nvSpPr>
            <p:cNvPr id="7" name="TextBox 7"/>
            <p:cNvSpPr txBox="1"/>
            <p:nvPr/>
          </p:nvSpPr>
          <p:spPr>
            <a:xfrm>
              <a:off x="0" y="-28575"/>
              <a:ext cx="2926080" cy="547828"/>
            </a:xfrm>
            <a:prstGeom prst="rect">
              <a:avLst/>
            </a:prstGeom>
          </p:spPr>
          <p:txBody>
            <a:bodyPr lIns="0" tIns="0" rIns="0" bIns="0" rtlCol="0" anchor="ctr"/>
            <a:lstStyle/>
            <a:p>
              <a:pPr algn="r">
                <a:lnSpc>
                  <a:spcPts val="1791"/>
                </a:lnSpc>
              </a:pPr>
              <a:r>
                <a:rPr lang="en-US" sz="1493" b="1">
                  <a:solidFill>
                    <a:srgbClr val="000000"/>
                  </a:solidFill>
                  <a:latin typeface="Times New Roman Bold"/>
                  <a:ea typeface="Times New Roman Bold"/>
                  <a:cs typeface="Times New Roman Bold"/>
                  <a:sym typeface="Times New Roman Bold"/>
                </a:rPr>
                <a:t>9</a:t>
              </a:r>
            </a:p>
          </p:txBody>
        </p:sp>
      </p:grpSp>
      <p:grpSp>
        <p:nvGrpSpPr>
          <p:cNvPr id="8" name="Group 8"/>
          <p:cNvGrpSpPr/>
          <p:nvPr/>
        </p:nvGrpSpPr>
        <p:grpSpPr>
          <a:xfrm>
            <a:off x="1232768" y="6780108"/>
            <a:ext cx="7288063" cy="389440"/>
            <a:chOff x="0" y="0"/>
            <a:chExt cx="9717417" cy="519253"/>
          </a:xfrm>
        </p:grpSpPr>
        <p:sp>
          <p:nvSpPr>
            <p:cNvPr id="9" name="Freeform 9"/>
            <p:cNvSpPr/>
            <p:nvPr/>
          </p:nvSpPr>
          <p:spPr>
            <a:xfrm>
              <a:off x="0" y="0"/>
              <a:ext cx="9717418" cy="519253"/>
            </a:xfrm>
            <a:custGeom>
              <a:avLst/>
              <a:gdLst/>
              <a:ahLst/>
              <a:cxnLst/>
              <a:rect l="l" t="t" r="r" b="b"/>
              <a:pathLst>
                <a:path w="9717418" h="519253">
                  <a:moveTo>
                    <a:pt x="0" y="0"/>
                  </a:moveTo>
                  <a:lnTo>
                    <a:pt x="9717418" y="0"/>
                  </a:lnTo>
                  <a:lnTo>
                    <a:pt x="9717418" y="519253"/>
                  </a:lnTo>
                  <a:lnTo>
                    <a:pt x="0" y="519253"/>
                  </a:lnTo>
                  <a:close/>
                </a:path>
              </a:pathLst>
            </a:custGeom>
            <a:solidFill>
              <a:srgbClr val="000000">
                <a:alpha val="0"/>
              </a:srgbClr>
            </a:solidFill>
          </p:spPr>
        </p:sp>
        <p:sp>
          <p:nvSpPr>
            <p:cNvPr id="10" name="TextBox 10"/>
            <p:cNvSpPr txBox="1"/>
            <p:nvPr/>
          </p:nvSpPr>
          <p:spPr>
            <a:xfrm>
              <a:off x="0" y="-28575"/>
              <a:ext cx="9717417" cy="547828"/>
            </a:xfrm>
            <a:prstGeom prst="rect">
              <a:avLst/>
            </a:prstGeom>
          </p:spPr>
          <p:txBody>
            <a:bodyPr lIns="0" tIns="0" rIns="0" bIns="0" rtlCol="0" anchor="ctr"/>
            <a:lstStyle/>
            <a:p>
              <a:pPr algn="ctr">
                <a:lnSpc>
                  <a:spcPts val="1559"/>
                </a:lnSpc>
              </a:pPr>
              <a:r>
                <a:rPr lang="en-US" sz="1299">
                  <a:solidFill>
                    <a:srgbClr val="888888"/>
                  </a:solidFill>
                  <a:latin typeface="Times New Roman"/>
                  <a:ea typeface="Times New Roman"/>
                  <a:cs typeface="Times New Roman"/>
                  <a:sym typeface="Times New Roman"/>
                </a:rPr>
                <a:t>Integrated Anti-Spoofing and Deepfake Detection System Using MobileNet and ResNeXt</a:t>
              </a:r>
            </a:p>
          </p:txBody>
        </p:sp>
      </p:grpSp>
      <p:graphicFrame>
        <p:nvGraphicFramePr>
          <p:cNvPr id="11" name="Table 11"/>
          <p:cNvGraphicFramePr>
            <a:graphicFrameLocks noGrp="1"/>
          </p:cNvGraphicFramePr>
          <p:nvPr/>
        </p:nvGraphicFramePr>
        <p:xfrm>
          <a:off x="297027" y="1141627"/>
          <a:ext cx="9116522" cy="4954837"/>
        </p:xfrm>
        <a:graphic>
          <a:graphicData uri="http://schemas.openxmlformats.org/drawingml/2006/table">
            <a:tbl>
              <a:tblPr/>
              <a:tblGrid>
                <a:gridCol w="1021262">
                  <a:extLst>
                    <a:ext uri="{9D8B030D-6E8A-4147-A177-3AD203B41FA5}">
                      <a16:colId xmlns:a16="http://schemas.microsoft.com/office/drawing/2014/main" val="20000"/>
                    </a:ext>
                  </a:extLst>
                </a:gridCol>
                <a:gridCol w="2222517">
                  <a:extLst>
                    <a:ext uri="{9D8B030D-6E8A-4147-A177-3AD203B41FA5}">
                      <a16:colId xmlns:a16="http://schemas.microsoft.com/office/drawing/2014/main" val="20001"/>
                    </a:ext>
                  </a:extLst>
                </a:gridCol>
                <a:gridCol w="2226135">
                  <a:extLst>
                    <a:ext uri="{9D8B030D-6E8A-4147-A177-3AD203B41FA5}">
                      <a16:colId xmlns:a16="http://schemas.microsoft.com/office/drawing/2014/main" val="20002"/>
                    </a:ext>
                  </a:extLst>
                </a:gridCol>
                <a:gridCol w="1823304">
                  <a:extLst>
                    <a:ext uri="{9D8B030D-6E8A-4147-A177-3AD203B41FA5}">
                      <a16:colId xmlns:a16="http://schemas.microsoft.com/office/drawing/2014/main" val="20003"/>
                    </a:ext>
                  </a:extLst>
                </a:gridCol>
                <a:gridCol w="1823304">
                  <a:extLst>
                    <a:ext uri="{9D8B030D-6E8A-4147-A177-3AD203B41FA5}">
                      <a16:colId xmlns:a16="http://schemas.microsoft.com/office/drawing/2014/main" val="20004"/>
                    </a:ext>
                  </a:extLst>
                </a:gridCol>
              </a:tblGrid>
              <a:tr h="1358225">
                <a:tc>
                  <a:txBody>
                    <a:bodyPr/>
                    <a:lstStyle/>
                    <a:p>
                      <a:pPr algn="ctr">
                        <a:lnSpc>
                          <a:spcPts val="2279"/>
                        </a:lnSpc>
                        <a:defRPr/>
                      </a:pPr>
                      <a:r>
                        <a:rPr lang="en-US" sz="1899" b="1">
                          <a:solidFill>
                            <a:srgbClr val="000000"/>
                          </a:solidFill>
                          <a:latin typeface="Times New Roman Bold"/>
                          <a:ea typeface="Times New Roman Bold"/>
                          <a:cs typeface="Times New Roman Bold"/>
                          <a:sym typeface="Times New Roman Bold"/>
                        </a:rPr>
                        <a:t>S.NO</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279"/>
                        </a:lnSpc>
                        <a:defRPr/>
                      </a:pPr>
                      <a:r>
                        <a:rPr lang="en-US" sz="1899" b="1">
                          <a:solidFill>
                            <a:srgbClr val="000000"/>
                          </a:solidFill>
                          <a:latin typeface="Times New Roman Bold"/>
                          <a:ea typeface="Times New Roman Bold"/>
                          <a:cs typeface="Times New Roman Bold"/>
                          <a:sym typeface="Times New Roman Bold"/>
                        </a:rPr>
                        <a:t>PAPER DETAILS</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279"/>
                        </a:lnSpc>
                        <a:defRPr/>
                      </a:pPr>
                      <a:r>
                        <a:rPr lang="en-US" sz="1899" b="1">
                          <a:solidFill>
                            <a:srgbClr val="000000"/>
                          </a:solidFill>
                          <a:latin typeface="Times New Roman Bold"/>
                          <a:ea typeface="Times New Roman Bold"/>
                          <a:cs typeface="Times New Roman Bold"/>
                          <a:sym typeface="Times New Roman Bold"/>
                        </a:rPr>
                        <a:t>SUMMARY</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279"/>
                        </a:lnSpc>
                        <a:defRPr/>
                      </a:pPr>
                      <a:r>
                        <a:rPr lang="en-US" sz="1899" b="1">
                          <a:solidFill>
                            <a:srgbClr val="000000"/>
                          </a:solidFill>
                          <a:latin typeface="Times New Roman Bold"/>
                          <a:ea typeface="Times New Roman Bold"/>
                          <a:cs typeface="Times New Roman Bold"/>
                          <a:sym typeface="Times New Roman Bold"/>
                        </a:rPr>
                        <a:t>TECHNIQUES/ALGORITHMS USED</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279"/>
                        </a:lnSpc>
                        <a:defRPr/>
                      </a:pPr>
                      <a:r>
                        <a:rPr lang="en-US" sz="1899" b="1">
                          <a:solidFill>
                            <a:srgbClr val="000000"/>
                          </a:solidFill>
                          <a:latin typeface="Times New Roman Bold"/>
                          <a:ea typeface="Times New Roman Bold"/>
                          <a:cs typeface="Times New Roman Bold"/>
                          <a:sym typeface="Times New Roman Bold"/>
                        </a:rPr>
                        <a:t>RESEARCH GAP</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596612">
                <a:tc>
                  <a:txBody>
                    <a:bodyPr/>
                    <a:lstStyle/>
                    <a:p>
                      <a:pPr algn="ctr">
                        <a:lnSpc>
                          <a:spcPts val="2279"/>
                        </a:lnSpc>
                        <a:defRPr/>
                      </a:pPr>
                      <a:r>
                        <a:rPr lang="en-US" sz="1899">
                          <a:solidFill>
                            <a:srgbClr val="000000"/>
                          </a:solidFill>
                          <a:latin typeface="Times New Roman"/>
                          <a:ea typeface="Times New Roman"/>
                          <a:cs typeface="Times New Roman"/>
                          <a:sym typeface="Times New Roman"/>
                        </a:rPr>
                        <a:t>5</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2279"/>
                        </a:lnSpc>
                        <a:defRPr/>
                      </a:pPr>
                      <a:r>
                        <a:rPr lang="en-US" sz="1899">
                          <a:solidFill>
                            <a:srgbClr val="000000"/>
                          </a:solidFill>
                          <a:latin typeface="Times New Roman"/>
                          <a:ea typeface="Times New Roman"/>
                          <a:cs typeface="Times New Roman"/>
                          <a:sym typeface="Times New Roman"/>
                        </a:rPr>
                        <a:t>"Deepfake Detection via Multi-Modal Networks for Anti-Spoofing Applications" (2021)</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2279"/>
                        </a:lnSpc>
                        <a:defRPr/>
                      </a:pPr>
                      <a:r>
                        <a:rPr lang="en-US" sz="1899">
                          <a:solidFill>
                            <a:srgbClr val="000000"/>
                          </a:solidFill>
                          <a:latin typeface="Times New Roman"/>
                          <a:ea typeface="Times New Roman"/>
                          <a:cs typeface="Times New Roman"/>
                          <a:sym typeface="Times New Roman"/>
                        </a:rPr>
                        <a:t>Explores multi-modal networks for improving deepfake detection and anti-spoofing, combining both video and audio cues for better accuracy.</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2279"/>
                        </a:lnSpc>
                        <a:defRPr/>
                      </a:pPr>
                      <a:r>
                        <a:rPr lang="en-US" sz="1899">
                          <a:solidFill>
                            <a:srgbClr val="000000"/>
                          </a:solidFill>
                          <a:latin typeface="Times New Roman"/>
                          <a:ea typeface="Times New Roman"/>
                          <a:cs typeface="Times New Roman"/>
                          <a:sym typeface="Times New Roman"/>
                        </a:rPr>
                        <a:t>Multi-modal Networks</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2279"/>
                        </a:lnSpc>
                        <a:defRPr/>
                      </a:pPr>
                      <a:r>
                        <a:rPr lang="en-US" sz="1899">
                          <a:solidFill>
                            <a:srgbClr val="000000"/>
                          </a:solidFill>
                          <a:latin typeface="Times New Roman"/>
                          <a:ea typeface="Times New Roman"/>
                          <a:cs typeface="Times New Roman"/>
                          <a:sym typeface="Times New Roman"/>
                        </a:rPr>
                        <a:t>Limited focus on adversarial deepfake detection and edge case handling.</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70560" y="177057"/>
            <a:ext cx="8412480" cy="733933"/>
            <a:chOff x="0" y="0"/>
            <a:chExt cx="11216640" cy="978578"/>
          </a:xfrm>
        </p:grpSpPr>
        <p:sp>
          <p:nvSpPr>
            <p:cNvPr id="3" name="Freeform 3"/>
            <p:cNvSpPr/>
            <p:nvPr/>
          </p:nvSpPr>
          <p:spPr>
            <a:xfrm>
              <a:off x="0" y="0"/>
              <a:ext cx="11216640" cy="978578"/>
            </a:xfrm>
            <a:custGeom>
              <a:avLst/>
              <a:gdLst/>
              <a:ahLst/>
              <a:cxnLst/>
              <a:rect l="l" t="t" r="r" b="b"/>
              <a:pathLst>
                <a:path w="11216640" h="978578">
                  <a:moveTo>
                    <a:pt x="0" y="0"/>
                  </a:moveTo>
                  <a:lnTo>
                    <a:pt x="11216640" y="0"/>
                  </a:lnTo>
                  <a:lnTo>
                    <a:pt x="11216640" y="978578"/>
                  </a:lnTo>
                  <a:lnTo>
                    <a:pt x="0" y="978578"/>
                  </a:lnTo>
                  <a:close/>
                </a:path>
              </a:pathLst>
            </a:custGeom>
            <a:solidFill>
              <a:srgbClr val="000000">
                <a:alpha val="0"/>
              </a:srgbClr>
            </a:solidFill>
          </p:spPr>
        </p:sp>
        <p:sp>
          <p:nvSpPr>
            <p:cNvPr id="4" name="TextBox 4"/>
            <p:cNvSpPr txBox="1"/>
            <p:nvPr/>
          </p:nvSpPr>
          <p:spPr>
            <a:xfrm>
              <a:off x="0" y="-38100"/>
              <a:ext cx="11216640" cy="1016678"/>
            </a:xfrm>
            <a:prstGeom prst="rect">
              <a:avLst/>
            </a:prstGeom>
          </p:spPr>
          <p:txBody>
            <a:bodyPr lIns="0" tIns="0" rIns="0" bIns="0" rtlCol="0" anchor="ctr"/>
            <a:lstStyle/>
            <a:p>
              <a:pPr algn="ctr">
                <a:lnSpc>
                  <a:spcPts val="4104"/>
                </a:lnSpc>
              </a:pPr>
              <a:r>
                <a:rPr lang="en-US" sz="3800" b="1">
                  <a:solidFill>
                    <a:srgbClr val="7030A0"/>
                  </a:solidFill>
                  <a:latin typeface="Times New Roman Bold"/>
                  <a:ea typeface="Times New Roman Bold"/>
                  <a:cs typeface="Times New Roman Bold"/>
                  <a:sym typeface="Times New Roman Bold"/>
                </a:rPr>
                <a:t>PROBLEM STATEMENT</a:t>
              </a:r>
            </a:p>
          </p:txBody>
        </p:sp>
      </p:grpSp>
      <p:grpSp>
        <p:nvGrpSpPr>
          <p:cNvPr id="5" name="Group 5"/>
          <p:cNvGrpSpPr/>
          <p:nvPr/>
        </p:nvGrpSpPr>
        <p:grpSpPr>
          <a:xfrm>
            <a:off x="6888480" y="6780108"/>
            <a:ext cx="2194560" cy="389467"/>
            <a:chOff x="0" y="0"/>
            <a:chExt cx="2926080" cy="519289"/>
          </a:xfrm>
        </p:grpSpPr>
        <p:sp>
          <p:nvSpPr>
            <p:cNvPr id="6" name="Freeform 6"/>
            <p:cNvSpPr/>
            <p:nvPr/>
          </p:nvSpPr>
          <p:spPr>
            <a:xfrm>
              <a:off x="0" y="0"/>
              <a:ext cx="2926080" cy="519289"/>
            </a:xfrm>
            <a:custGeom>
              <a:avLst/>
              <a:gdLst/>
              <a:ahLst/>
              <a:cxnLst/>
              <a:rect l="l" t="t" r="r" b="b"/>
              <a:pathLst>
                <a:path w="2926080" h="519289">
                  <a:moveTo>
                    <a:pt x="0" y="0"/>
                  </a:moveTo>
                  <a:lnTo>
                    <a:pt x="2926080" y="0"/>
                  </a:lnTo>
                  <a:lnTo>
                    <a:pt x="2926080" y="519289"/>
                  </a:lnTo>
                  <a:lnTo>
                    <a:pt x="0" y="519289"/>
                  </a:lnTo>
                  <a:close/>
                </a:path>
              </a:pathLst>
            </a:custGeom>
            <a:solidFill>
              <a:srgbClr val="000000">
                <a:alpha val="0"/>
              </a:srgbClr>
            </a:solidFill>
          </p:spPr>
        </p:sp>
        <p:sp>
          <p:nvSpPr>
            <p:cNvPr id="7" name="TextBox 7"/>
            <p:cNvSpPr txBox="1"/>
            <p:nvPr/>
          </p:nvSpPr>
          <p:spPr>
            <a:xfrm>
              <a:off x="0" y="-28575"/>
              <a:ext cx="2926080" cy="547864"/>
            </a:xfrm>
            <a:prstGeom prst="rect">
              <a:avLst/>
            </a:prstGeom>
          </p:spPr>
          <p:txBody>
            <a:bodyPr lIns="0" tIns="0" rIns="0" bIns="0" rtlCol="0" anchor="ctr"/>
            <a:lstStyle/>
            <a:p>
              <a:pPr algn="r">
                <a:lnSpc>
                  <a:spcPts val="1791"/>
                </a:lnSpc>
              </a:pPr>
              <a:r>
                <a:rPr lang="en-US" sz="1493" b="1">
                  <a:solidFill>
                    <a:srgbClr val="000000"/>
                  </a:solidFill>
                  <a:latin typeface="Times New Roman Bold"/>
                  <a:ea typeface="Times New Roman Bold"/>
                  <a:cs typeface="Times New Roman Bold"/>
                  <a:sym typeface="Times New Roman Bold"/>
                </a:rPr>
                <a:t>10</a:t>
              </a:r>
            </a:p>
          </p:txBody>
        </p:sp>
      </p:grpSp>
      <p:grpSp>
        <p:nvGrpSpPr>
          <p:cNvPr id="8" name="Group 8"/>
          <p:cNvGrpSpPr/>
          <p:nvPr/>
        </p:nvGrpSpPr>
        <p:grpSpPr>
          <a:xfrm>
            <a:off x="1053375" y="6780108"/>
            <a:ext cx="7340067" cy="389440"/>
            <a:chOff x="0" y="0"/>
            <a:chExt cx="9786756" cy="519253"/>
          </a:xfrm>
        </p:grpSpPr>
        <p:sp>
          <p:nvSpPr>
            <p:cNvPr id="9" name="Freeform 9"/>
            <p:cNvSpPr/>
            <p:nvPr/>
          </p:nvSpPr>
          <p:spPr>
            <a:xfrm>
              <a:off x="0" y="0"/>
              <a:ext cx="9786756" cy="519253"/>
            </a:xfrm>
            <a:custGeom>
              <a:avLst/>
              <a:gdLst/>
              <a:ahLst/>
              <a:cxnLst/>
              <a:rect l="l" t="t" r="r" b="b"/>
              <a:pathLst>
                <a:path w="9786756" h="519253">
                  <a:moveTo>
                    <a:pt x="0" y="0"/>
                  </a:moveTo>
                  <a:lnTo>
                    <a:pt x="9786756" y="0"/>
                  </a:lnTo>
                  <a:lnTo>
                    <a:pt x="9786756" y="519253"/>
                  </a:lnTo>
                  <a:lnTo>
                    <a:pt x="0" y="519253"/>
                  </a:lnTo>
                  <a:close/>
                </a:path>
              </a:pathLst>
            </a:custGeom>
            <a:solidFill>
              <a:srgbClr val="000000">
                <a:alpha val="0"/>
              </a:srgbClr>
            </a:solidFill>
          </p:spPr>
        </p:sp>
        <p:sp>
          <p:nvSpPr>
            <p:cNvPr id="10" name="TextBox 10"/>
            <p:cNvSpPr txBox="1"/>
            <p:nvPr/>
          </p:nvSpPr>
          <p:spPr>
            <a:xfrm>
              <a:off x="0" y="-28575"/>
              <a:ext cx="9786756" cy="547828"/>
            </a:xfrm>
            <a:prstGeom prst="rect">
              <a:avLst/>
            </a:prstGeom>
          </p:spPr>
          <p:txBody>
            <a:bodyPr lIns="0" tIns="0" rIns="0" bIns="0" rtlCol="0" anchor="ctr"/>
            <a:lstStyle/>
            <a:p>
              <a:pPr algn="ctr">
                <a:lnSpc>
                  <a:spcPts val="1559"/>
                </a:lnSpc>
              </a:pPr>
              <a:r>
                <a:rPr lang="en-US" sz="1299">
                  <a:solidFill>
                    <a:srgbClr val="888888"/>
                  </a:solidFill>
                  <a:latin typeface="Times New Roman"/>
                  <a:ea typeface="Times New Roman"/>
                  <a:cs typeface="Times New Roman"/>
                  <a:sym typeface="Times New Roman"/>
                </a:rPr>
                <a:t>Integrated Anti-Spoofing and Deepfake Detection System Using MobileNet and ResNeXt</a:t>
              </a:r>
            </a:p>
          </p:txBody>
        </p:sp>
      </p:grpSp>
      <p:grpSp>
        <p:nvGrpSpPr>
          <p:cNvPr id="11" name="Group 11"/>
          <p:cNvGrpSpPr/>
          <p:nvPr/>
        </p:nvGrpSpPr>
        <p:grpSpPr>
          <a:xfrm>
            <a:off x="471840" y="967680"/>
            <a:ext cx="8809920" cy="5542400"/>
            <a:chOff x="0" y="0"/>
            <a:chExt cx="11746560" cy="7389867"/>
          </a:xfrm>
        </p:grpSpPr>
        <p:sp>
          <p:nvSpPr>
            <p:cNvPr id="12" name="Freeform 12"/>
            <p:cNvSpPr/>
            <p:nvPr/>
          </p:nvSpPr>
          <p:spPr>
            <a:xfrm>
              <a:off x="0" y="0"/>
              <a:ext cx="11746560" cy="7389867"/>
            </a:xfrm>
            <a:custGeom>
              <a:avLst/>
              <a:gdLst/>
              <a:ahLst/>
              <a:cxnLst/>
              <a:rect l="l" t="t" r="r" b="b"/>
              <a:pathLst>
                <a:path w="11746560" h="7389867">
                  <a:moveTo>
                    <a:pt x="0" y="0"/>
                  </a:moveTo>
                  <a:lnTo>
                    <a:pt x="11746560" y="0"/>
                  </a:lnTo>
                  <a:lnTo>
                    <a:pt x="11746560" y="7389867"/>
                  </a:lnTo>
                  <a:lnTo>
                    <a:pt x="0" y="7389867"/>
                  </a:lnTo>
                  <a:close/>
                </a:path>
              </a:pathLst>
            </a:custGeom>
            <a:solidFill>
              <a:srgbClr val="000000">
                <a:alpha val="0"/>
              </a:srgbClr>
            </a:solidFill>
          </p:spPr>
        </p:sp>
        <p:sp>
          <p:nvSpPr>
            <p:cNvPr id="13" name="TextBox 13"/>
            <p:cNvSpPr txBox="1"/>
            <p:nvPr/>
          </p:nvSpPr>
          <p:spPr>
            <a:xfrm>
              <a:off x="0" y="-85725"/>
              <a:ext cx="11746560" cy="7475592"/>
            </a:xfrm>
            <a:prstGeom prst="rect">
              <a:avLst/>
            </a:prstGeom>
          </p:spPr>
          <p:txBody>
            <a:bodyPr lIns="0" tIns="0" rIns="0" bIns="0" rtlCol="0" anchor="ctr"/>
            <a:lstStyle/>
            <a:p>
              <a:pPr marL="474981" lvl="1" indent="-237491" algn="just">
                <a:lnSpc>
                  <a:spcPts val="3036"/>
                </a:lnSpc>
                <a:buFont typeface="Arial"/>
                <a:buChar char="•"/>
              </a:pPr>
              <a:r>
                <a:rPr lang="en-US" sz="2200" b="1">
                  <a:solidFill>
                    <a:srgbClr val="000000"/>
                  </a:solidFill>
                  <a:latin typeface="Times New Roman Bold"/>
                  <a:ea typeface="Times New Roman Bold"/>
                  <a:cs typeface="Times New Roman Bold"/>
                  <a:sym typeface="Times New Roman Bold"/>
                </a:rPr>
                <a:t>Deepfake Threats</a:t>
              </a:r>
              <a:r>
                <a:rPr lang="en-US" sz="2200">
                  <a:solidFill>
                    <a:srgbClr val="000000"/>
                  </a:solidFill>
                  <a:latin typeface="Times New Roman"/>
                  <a:ea typeface="Times New Roman"/>
                  <a:cs typeface="Times New Roman"/>
                  <a:sym typeface="Times New Roman"/>
                </a:rPr>
                <a:t>: AI-generated deepfakes impersonate individuals, spread misinformation, and manipulate public opinion.</a:t>
              </a:r>
            </a:p>
            <a:p>
              <a:pPr marL="474981" lvl="1" indent="-237491" algn="just">
                <a:lnSpc>
                  <a:spcPts val="3036"/>
                </a:lnSpc>
                <a:buFont typeface="Arial"/>
                <a:buChar char="•"/>
              </a:pPr>
              <a:r>
                <a:rPr lang="en-US" sz="2200" b="1">
                  <a:solidFill>
                    <a:srgbClr val="000000"/>
                  </a:solidFill>
                  <a:latin typeface="Times New Roman Bold"/>
                  <a:ea typeface="Times New Roman Bold"/>
                  <a:cs typeface="Times New Roman Bold"/>
                  <a:sym typeface="Times New Roman Bold"/>
                </a:rPr>
                <a:t>Biometric Spoofing Risks: </a:t>
              </a:r>
              <a:r>
                <a:rPr lang="en-US" sz="2200">
                  <a:solidFill>
                    <a:srgbClr val="000000"/>
                  </a:solidFill>
                  <a:latin typeface="Times New Roman"/>
                  <a:ea typeface="Times New Roman"/>
                  <a:cs typeface="Times New Roman"/>
                  <a:sym typeface="Times New Roman"/>
                </a:rPr>
                <a:t>Fake biometric data (photos, videos, masks) can bypass authentication systems.</a:t>
              </a:r>
            </a:p>
            <a:p>
              <a:pPr marL="474981" lvl="1" indent="-237491" algn="just">
                <a:lnSpc>
                  <a:spcPts val="3036"/>
                </a:lnSpc>
                <a:buFont typeface="Arial"/>
                <a:buChar char="•"/>
              </a:pPr>
              <a:r>
                <a:rPr lang="en-US" sz="2200" b="1">
                  <a:solidFill>
                    <a:srgbClr val="000000"/>
                  </a:solidFill>
                  <a:latin typeface="Times New Roman Bold"/>
                  <a:ea typeface="Times New Roman Bold"/>
                  <a:cs typeface="Times New Roman Bold"/>
                  <a:sym typeface="Times New Roman Bold"/>
                </a:rPr>
                <a:t>Detection Challenges: </a:t>
              </a:r>
              <a:r>
                <a:rPr lang="en-US" sz="2200">
                  <a:solidFill>
                    <a:srgbClr val="000000"/>
                  </a:solidFill>
                  <a:latin typeface="Times New Roman"/>
                  <a:ea typeface="Times New Roman"/>
                  <a:cs typeface="Times New Roman"/>
                  <a:sym typeface="Times New Roman"/>
                </a:rPr>
                <a:t>Deepfakes are highly realistic, and existing methods struggle to generalize across manipulations.</a:t>
              </a:r>
            </a:p>
            <a:p>
              <a:pPr marL="474981" lvl="1" indent="-237491" algn="just">
                <a:lnSpc>
                  <a:spcPts val="3036"/>
                </a:lnSpc>
                <a:buFont typeface="Arial"/>
                <a:buChar char="•"/>
              </a:pPr>
              <a:r>
                <a:rPr lang="en-US" sz="2200" b="1">
                  <a:solidFill>
                    <a:srgbClr val="000000"/>
                  </a:solidFill>
                  <a:latin typeface="Times New Roman Bold"/>
                  <a:ea typeface="Times New Roman Bold"/>
                  <a:cs typeface="Times New Roman Bold"/>
                  <a:sym typeface="Times New Roman Bold"/>
                </a:rPr>
                <a:t>Performance Issues:</a:t>
              </a:r>
              <a:r>
                <a:rPr lang="en-US" sz="2200">
                  <a:solidFill>
                    <a:srgbClr val="000000"/>
                  </a:solidFill>
                  <a:latin typeface="Times New Roman"/>
                  <a:ea typeface="Times New Roman"/>
                  <a:cs typeface="Times New Roman"/>
                  <a:sym typeface="Times New Roman"/>
                </a:rPr>
                <a:t> Most anti-spoofing models are slow and unsuitable for real-time applications.</a:t>
              </a:r>
            </a:p>
            <a:p>
              <a:pPr marL="474981" lvl="1" indent="-237491" algn="just">
                <a:lnSpc>
                  <a:spcPts val="3036"/>
                </a:lnSpc>
                <a:buFont typeface="Arial"/>
                <a:buChar char="•"/>
              </a:pPr>
              <a:r>
                <a:rPr lang="en-US" sz="2200" b="1">
                  <a:solidFill>
                    <a:srgbClr val="000000"/>
                  </a:solidFill>
                  <a:latin typeface="Times New Roman Bold"/>
                  <a:ea typeface="Times New Roman Bold"/>
                  <a:cs typeface="Times New Roman Bold"/>
                  <a:sym typeface="Times New Roman Bold"/>
                </a:rPr>
                <a:t>Secure Vision Solution:</a:t>
              </a:r>
              <a:r>
                <a:rPr lang="en-US" sz="2200">
                  <a:solidFill>
                    <a:srgbClr val="000000"/>
                  </a:solidFill>
                  <a:latin typeface="Times New Roman"/>
                  <a:ea typeface="Times New Roman"/>
                  <a:cs typeface="Times New Roman"/>
                  <a:sym typeface="Times New Roman"/>
                </a:rPr>
                <a:t> MobileNet is used for real-time biometric spoofing detection, and ResNeXt is used for deepfake video detection.</a:t>
              </a:r>
            </a:p>
            <a:p>
              <a:pPr algn="just">
                <a:lnSpc>
                  <a:spcPts val="3036"/>
                </a:lnSpc>
              </a:pPr>
              <a:endParaRPr lang="en-US" sz="2200">
                <a:solidFill>
                  <a:srgbClr val="000000"/>
                </a:solidFill>
                <a:latin typeface="Times New Roman"/>
                <a:ea typeface="Times New Roman"/>
                <a:cs typeface="Times New Roman"/>
                <a:sym typeface="Times New Roman"/>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70560" y="177057"/>
            <a:ext cx="8412480" cy="733933"/>
            <a:chOff x="0" y="0"/>
            <a:chExt cx="11216640" cy="978578"/>
          </a:xfrm>
        </p:grpSpPr>
        <p:sp>
          <p:nvSpPr>
            <p:cNvPr id="3" name="Freeform 3"/>
            <p:cNvSpPr/>
            <p:nvPr/>
          </p:nvSpPr>
          <p:spPr>
            <a:xfrm>
              <a:off x="0" y="0"/>
              <a:ext cx="11216640" cy="978577"/>
            </a:xfrm>
            <a:custGeom>
              <a:avLst/>
              <a:gdLst/>
              <a:ahLst/>
              <a:cxnLst/>
              <a:rect l="l" t="t" r="r" b="b"/>
              <a:pathLst>
                <a:path w="11216640" h="978577">
                  <a:moveTo>
                    <a:pt x="0" y="0"/>
                  </a:moveTo>
                  <a:lnTo>
                    <a:pt x="11216640" y="0"/>
                  </a:lnTo>
                  <a:lnTo>
                    <a:pt x="11216640" y="978577"/>
                  </a:lnTo>
                  <a:lnTo>
                    <a:pt x="0" y="978577"/>
                  </a:lnTo>
                  <a:close/>
                </a:path>
              </a:pathLst>
            </a:custGeom>
            <a:solidFill>
              <a:srgbClr val="000000">
                <a:alpha val="0"/>
              </a:srgbClr>
            </a:solidFill>
          </p:spPr>
        </p:sp>
        <p:sp>
          <p:nvSpPr>
            <p:cNvPr id="4" name="TextBox 4"/>
            <p:cNvSpPr txBox="1"/>
            <p:nvPr/>
          </p:nvSpPr>
          <p:spPr>
            <a:xfrm>
              <a:off x="0" y="-38100"/>
              <a:ext cx="11216640" cy="1016678"/>
            </a:xfrm>
            <a:prstGeom prst="rect">
              <a:avLst/>
            </a:prstGeom>
          </p:spPr>
          <p:txBody>
            <a:bodyPr lIns="0" tIns="0" rIns="0" bIns="0" rtlCol="0" anchor="ctr"/>
            <a:lstStyle/>
            <a:p>
              <a:pPr algn="ctr">
                <a:lnSpc>
                  <a:spcPts val="4104"/>
                </a:lnSpc>
              </a:pPr>
              <a:r>
                <a:rPr lang="en-US" sz="3800" b="1">
                  <a:solidFill>
                    <a:srgbClr val="7030A0"/>
                  </a:solidFill>
                  <a:latin typeface="Times New Roman Bold"/>
                  <a:ea typeface="Times New Roman Bold"/>
                  <a:cs typeface="Times New Roman Bold"/>
                  <a:sym typeface="Times New Roman Bold"/>
                </a:rPr>
                <a:t>PROPOSED SYSTEM</a:t>
              </a:r>
            </a:p>
          </p:txBody>
        </p:sp>
      </p:grpSp>
      <p:grpSp>
        <p:nvGrpSpPr>
          <p:cNvPr id="5" name="Group 5"/>
          <p:cNvGrpSpPr/>
          <p:nvPr/>
        </p:nvGrpSpPr>
        <p:grpSpPr>
          <a:xfrm>
            <a:off x="6888480" y="6780108"/>
            <a:ext cx="2194560" cy="389467"/>
            <a:chOff x="0" y="0"/>
            <a:chExt cx="2926080" cy="519289"/>
          </a:xfrm>
        </p:grpSpPr>
        <p:sp>
          <p:nvSpPr>
            <p:cNvPr id="6" name="Freeform 6"/>
            <p:cNvSpPr/>
            <p:nvPr/>
          </p:nvSpPr>
          <p:spPr>
            <a:xfrm>
              <a:off x="0" y="0"/>
              <a:ext cx="2926080" cy="519289"/>
            </a:xfrm>
            <a:custGeom>
              <a:avLst/>
              <a:gdLst/>
              <a:ahLst/>
              <a:cxnLst/>
              <a:rect l="l" t="t" r="r" b="b"/>
              <a:pathLst>
                <a:path w="2926080" h="519289">
                  <a:moveTo>
                    <a:pt x="0" y="0"/>
                  </a:moveTo>
                  <a:lnTo>
                    <a:pt x="2926080" y="0"/>
                  </a:lnTo>
                  <a:lnTo>
                    <a:pt x="2926080" y="519289"/>
                  </a:lnTo>
                  <a:lnTo>
                    <a:pt x="0" y="519289"/>
                  </a:lnTo>
                  <a:close/>
                </a:path>
              </a:pathLst>
            </a:custGeom>
            <a:solidFill>
              <a:srgbClr val="000000">
                <a:alpha val="0"/>
              </a:srgbClr>
            </a:solidFill>
          </p:spPr>
        </p:sp>
        <p:sp>
          <p:nvSpPr>
            <p:cNvPr id="7" name="TextBox 7"/>
            <p:cNvSpPr txBox="1"/>
            <p:nvPr/>
          </p:nvSpPr>
          <p:spPr>
            <a:xfrm>
              <a:off x="0" y="-28575"/>
              <a:ext cx="2926080" cy="547864"/>
            </a:xfrm>
            <a:prstGeom prst="rect">
              <a:avLst/>
            </a:prstGeom>
          </p:spPr>
          <p:txBody>
            <a:bodyPr lIns="0" tIns="0" rIns="0" bIns="0" rtlCol="0" anchor="ctr"/>
            <a:lstStyle/>
            <a:p>
              <a:pPr algn="r">
                <a:lnSpc>
                  <a:spcPts val="1791"/>
                </a:lnSpc>
              </a:pPr>
              <a:r>
                <a:rPr lang="en-US" sz="1493" b="1">
                  <a:solidFill>
                    <a:srgbClr val="000000"/>
                  </a:solidFill>
                  <a:latin typeface="Times New Roman Bold"/>
                  <a:ea typeface="Times New Roman Bold"/>
                  <a:cs typeface="Times New Roman Bold"/>
                  <a:sym typeface="Times New Roman Bold"/>
                </a:rPr>
                <a:t>11</a:t>
              </a:r>
            </a:p>
          </p:txBody>
        </p:sp>
      </p:grpSp>
      <p:grpSp>
        <p:nvGrpSpPr>
          <p:cNvPr id="8" name="Group 8"/>
          <p:cNvGrpSpPr/>
          <p:nvPr/>
        </p:nvGrpSpPr>
        <p:grpSpPr>
          <a:xfrm>
            <a:off x="1293440" y="6838791"/>
            <a:ext cx="7270728" cy="389440"/>
            <a:chOff x="0" y="0"/>
            <a:chExt cx="9694304" cy="519253"/>
          </a:xfrm>
        </p:grpSpPr>
        <p:sp>
          <p:nvSpPr>
            <p:cNvPr id="9" name="Freeform 9"/>
            <p:cNvSpPr/>
            <p:nvPr/>
          </p:nvSpPr>
          <p:spPr>
            <a:xfrm>
              <a:off x="0" y="0"/>
              <a:ext cx="9694304" cy="519253"/>
            </a:xfrm>
            <a:custGeom>
              <a:avLst/>
              <a:gdLst/>
              <a:ahLst/>
              <a:cxnLst/>
              <a:rect l="l" t="t" r="r" b="b"/>
              <a:pathLst>
                <a:path w="9694304" h="519253">
                  <a:moveTo>
                    <a:pt x="0" y="0"/>
                  </a:moveTo>
                  <a:lnTo>
                    <a:pt x="9694304" y="0"/>
                  </a:lnTo>
                  <a:lnTo>
                    <a:pt x="9694304" y="519253"/>
                  </a:lnTo>
                  <a:lnTo>
                    <a:pt x="0" y="519253"/>
                  </a:lnTo>
                  <a:close/>
                </a:path>
              </a:pathLst>
            </a:custGeom>
            <a:solidFill>
              <a:srgbClr val="000000">
                <a:alpha val="0"/>
              </a:srgbClr>
            </a:solidFill>
          </p:spPr>
        </p:sp>
        <p:sp>
          <p:nvSpPr>
            <p:cNvPr id="10" name="TextBox 10"/>
            <p:cNvSpPr txBox="1"/>
            <p:nvPr/>
          </p:nvSpPr>
          <p:spPr>
            <a:xfrm>
              <a:off x="0" y="-28575"/>
              <a:ext cx="9694304" cy="547828"/>
            </a:xfrm>
            <a:prstGeom prst="rect">
              <a:avLst/>
            </a:prstGeom>
          </p:spPr>
          <p:txBody>
            <a:bodyPr lIns="0" tIns="0" rIns="0" bIns="0" rtlCol="0" anchor="ctr"/>
            <a:lstStyle/>
            <a:p>
              <a:pPr algn="ctr">
                <a:lnSpc>
                  <a:spcPts val="1559"/>
                </a:lnSpc>
              </a:pPr>
              <a:r>
                <a:rPr lang="en-US" sz="1299">
                  <a:solidFill>
                    <a:srgbClr val="888888"/>
                  </a:solidFill>
                  <a:latin typeface="Times New Roman"/>
                  <a:ea typeface="Times New Roman"/>
                  <a:cs typeface="Times New Roman"/>
                  <a:sym typeface="Times New Roman"/>
                </a:rPr>
                <a:t>Integrated Anti-Spoofing and Deepfake Detection System Using MobileNet and ResNeXt</a:t>
              </a:r>
            </a:p>
          </p:txBody>
        </p:sp>
      </p:grpSp>
      <p:grpSp>
        <p:nvGrpSpPr>
          <p:cNvPr id="11" name="Group 11"/>
          <p:cNvGrpSpPr/>
          <p:nvPr/>
        </p:nvGrpSpPr>
        <p:grpSpPr>
          <a:xfrm>
            <a:off x="471840" y="855227"/>
            <a:ext cx="8809920" cy="5812480"/>
            <a:chOff x="0" y="0"/>
            <a:chExt cx="11746560" cy="7749973"/>
          </a:xfrm>
        </p:grpSpPr>
        <p:sp>
          <p:nvSpPr>
            <p:cNvPr id="12" name="Freeform 12"/>
            <p:cNvSpPr/>
            <p:nvPr/>
          </p:nvSpPr>
          <p:spPr>
            <a:xfrm>
              <a:off x="0" y="0"/>
              <a:ext cx="11746560" cy="7749973"/>
            </a:xfrm>
            <a:custGeom>
              <a:avLst/>
              <a:gdLst/>
              <a:ahLst/>
              <a:cxnLst/>
              <a:rect l="l" t="t" r="r" b="b"/>
              <a:pathLst>
                <a:path w="11746560" h="7749973">
                  <a:moveTo>
                    <a:pt x="0" y="0"/>
                  </a:moveTo>
                  <a:lnTo>
                    <a:pt x="11746560" y="0"/>
                  </a:lnTo>
                  <a:lnTo>
                    <a:pt x="11746560" y="7749973"/>
                  </a:lnTo>
                  <a:lnTo>
                    <a:pt x="0" y="7749973"/>
                  </a:lnTo>
                  <a:close/>
                </a:path>
              </a:pathLst>
            </a:custGeom>
            <a:solidFill>
              <a:srgbClr val="000000">
                <a:alpha val="0"/>
              </a:srgbClr>
            </a:solidFill>
          </p:spPr>
        </p:sp>
        <p:sp>
          <p:nvSpPr>
            <p:cNvPr id="13" name="TextBox 13"/>
            <p:cNvSpPr txBox="1"/>
            <p:nvPr/>
          </p:nvSpPr>
          <p:spPr>
            <a:xfrm>
              <a:off x="0" y="-85725"/>
              <a:ext cx="11746560" cy="7835698"/>
            </a:xfrm>
            <a:prstGeom prst="rect">
              <a:avLst/>
            </a:prstGeom>
          </p:spPr>
          <p:txBody>
            <a:bodyPr lIns="0" tIns="0" rIns="0" bIns="0" rtlCol="0" anchor="ctr"/>
            <a:lstStyle/>
            <a:p>
              <a:pPr algn="just">
                <a:lnSpc>
                  <a:spcPts val="3035"/>
                </a:lnSpc>
              </a:pPr>
              <a:r>
                <a:rPr lang="en-US" sz="2199">
                  <a:solidFill>
                    <a:srgbClr val="000000"/>
                  </a:solidFill>
                  <a:latin typeface="Times New Roman"/>
                  <a:ea typeface="Times New Roman"/>
                  <a:cs typeface="Times New Roman"/>
                  <a:sym typeface="Times New Roman"/>
                </a:rPr>
                <a:t>The Secure Vision methodology is structured in three stages:</a:t>
              </a:r>
            </a:p>
            <a:p>
              <a:pPr marL="394885" lvl="1" indent="-197442" algn="just">
                <a:lnSpc>
                  <a:spcPts val="3035"/>
                </a:lnSpc>
                <a:buFont typeface="Arial"/>
                <a:buChar char="•"/>
              </a:pPr>
              <a:r>
                <a:rPr lang="en-US" sz="2199" b="1">
                  <a:solidFill>
                    <a:srgbClr val="000000"/>
                  </a:solidFill>
                  <a:latin typeface="Times New Roman Bold"/>
                  <a:ea typeface="Times New Roman Bold"/>
                  <a:cs typeface="Times New Roman Bold"/>
                  <a:sym typeface="Times New Roman Bold"/>
                </a:rPr>
                <a:t>Stage 1: Data Collection &amp; Preprocessing</a:t>
              </a:r>
            </a:p>
            <a:p>
              <a:pPr marL="394885" lvl="1" indent="-197442" algn="just">
                <a:lnSpc>
                  <a:spcPts val="3035"/>
                </a:lnSpc>
              </a:pPr>
              <a:r>
                <a:rPr lang="en-US" sz="2199">
                  <a:solidFill>
                    <a:srgbClr val="000000"/>
                  </a:solidFill>
                  <a:latin typeface="Times New Roman"/>
                  <a:ea typeface="Times New Roman"/>
                  <a:cs typeface="Times New Roman"/>
                  <a:sym typeface="Times New Roman"/>
                </a:rPr>
                <a:t> Collect datasets for biometric spoofing and deepfake detection. Apply preprocessing techniques like resizing, normalization, and augmentation.</a:t>
              </a:r>
            </a:p>
            <a:p>
              <a:pPr marL="394885" lvl="1" indent="-197442" algn="just">
                <a:lnSpc>
                  <a:spcPts val="3035"/>
                </a:lnSpc>
                <a:buFont typeface="Arial"/>
                <a:buChar char="•"/>
              </a:pPr>
              <a:r>
                <a:rPr lang="en-US" sz="2199" b="1">
                  <a:solidFill>
                    <a:srgbClr val="000000"/>
                  </a:solidFill>
                  <a:latin typeface="Times New Roman Bold"/>
                  <a:ea typeface="Times New Roman Bold"/>
                  <a:cs typeface="Times New Roman Bold"/>
                  <a:sym typeface="Times New Roman Bold"/>
                </a:rPr>
                <a:t>Stage 2: Model Training &amp; Optimization</a:t>
              </a:r>
            </a:p>
            <a:p>
              <a:pPr marL="394885" lvl="1" indent="-197442" algn="just">
                <a:lnSpc>
                  <a:spcPts val="3035"/>
                </a:lnSpc>
              </a:pPr>
              <a:r>
                <a:rPr lang="en-US" sz="2199">
                  <a:solidFill>
                    <a:srgbClr val="000000"/>
                  </a:solidFill>
                  <a:latin typeface="Times New Roman"/>
                  <a:ea typeface="Times New Roman"/>
                  <a:cs typeface="Times New Roman"/>
                  <a:sym typeface="Times New Roman"/>
                </a:rPr>
                <a:t> Train MobileNet for spoofing detection and ResNeXt for deepfake classification. Optimize using transfer learning and hyperparameter tuning.</a:t>
              </a:r>
            </a:p>
            <a:p>
              <a:pPr marL="394885" lvl="1" indent="-197442" algn="just">
                <a:lnSpc>
                  <a:spcPts val="3035"/>
                </a:lnSpc>
                <a:buFont typeface="Arial"/>
                <a:buChar char="•"/>
              </a:pPr>
              <a:r>
                <a:rPr lang="en-US" sz="2199" b="1">
                  <a:solidFill>
                    <a:srgbClr val="000000"/>
                  </a:solidFill>
                  <a:latin typeface="Times New Roman Bold"/>
                  <a:ea typeface="Times New Roman Bold"/>
                  <a:cs typeface="Times New Roman Bold"/>
                  <a:sym typeface="Times New Roman Bold"/>
                </a:rPr>
                <a:t>Stage 3: System Integration &amp; Deployment</a:t>
              </a:r>
            </a:p>
            <a:p>
              <a:pPr marL="394885" lvl="1" indent="-197442" algn="just">
                <a:lnSpc>
                  <a:spcPts val="3035"/>
                </a:lnSpc>
              </a:pPr>
              <a:r>
                <a:rPr lang="en-US" sz="2199">
                  <a:solidFill>
                    <a:srgbClr val="000000"/>
                  </a:solidFill>
                  <a:latin typeface="Times New Roman"/>
                  <a:ea typeface="Times New Roman"/>
                  <a:cs typeface="Times New Roman"/>
                  <a:sym typeface="Times New Roman"/>
                </a:rPr>
                <a:t> Develop a web-based UI for real-time detection. Implement REST API for model integration and deploy on cloud/edge devices for scalability and efficiency.</a:t>
              </a:r>
            </a:p>
            <a:p>
              <a:pPr marL="394885" lvl="1" indent="-197442" algn="just">
                <a:lnSpc>
                  <a:spcPts val="3035"/>
                </a:lnSpc>
              </a:pPr>
              <a:r>
                <a:rPr lang="en-US" sz="2199">
                  <a:solidFill>
                    <a:srgbClr val="000000"/>
                  </a:solidFill>
                  <a:latin typeface="Times New Roman"/>
                  <a:ea typeface="Times New Roman"/>
                  <a:cs typeface="Times New Roman"/>
                  <a:sym typeface="Times New Roman"/>
                </a:rPr>
                <a:t>This approach ensures Secure Vision is efficient, accurate, and scalable for real-time security applications.</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70560" y="177057"/>
            <a:ext cx="8412480" cy="733933"/>
            <a:chOff x="0" y="0"/>
            <a:chExt cx="11216640" cy="978578"/>
          </a:xfrm>
        </p:grpSpPr>
        <p:sp>
          <p:nvSpPr>
            <p:cNvPr id="3" name="Freeform 3"/>
            <p:cNvSpPr/>
            <p:nvPr/>
          </p:nvSpPr>
          <p:spPr>
            <a:xfrm>
              <a:off x="0" y="0"/>
              <a:ext cx="11216640" cy="978577"/>
            </a:xfrm>
            <a:custGeom>
              <a:avLst/>
              <a:gdLst/>
              <a:ahLst/>
              <a:cxnLst/>
              <a:rect l="l" t="t" r="r" b="b"/>
              <a:pathLst>
                <a:path w="11216640" h="978577">
                  <a:moveTo>
                    <a:pt x="0" y="0"/>
                  </a:moveTo>
                  <a:lnTo>
                    <a:pt x="11216640" y="0"/>
                  </a:lnTo>
                  <a:lnTo>
                    <a:pt x="11216640" y="978577"/>
                  </a:lnTo>
                  <a:lnTo>
                    <a:pt x="0" y="978577"/>
                  </a:lnTo>
                  <a:close/>
                </a:path>
              </a:pathLst>
            </a:custGeom>
            <a:solidFill>
              <a:srgbClr val="000000">
                <a:alpha val="0"/>
              </a:srgbClr>
            </a:solidFill>
          </p:spPr>
        </p:sp>
        <p:sp>
          <p:nvSpPr>
            <p:cNvPr id="4" name="TextBox 4"/>
            <p:cNvSpPr txBox="1"/>
            <p:nvPr/>
          </p:nvSpPr>
          <p:spPr>
            <a:xfrm>
              <a:off x="0" y="-38100"/>
              <a:ext cx="11216640" cy="1016678"/>
            </a:xfrm>
            <a:prstGeom prst="rect">
              <a:avLst/>
            </a:prstGeom>
          </p:spPr>
          <p:txBody>
            <a:bodyPr lIns="0" tIns="0" rIns="0" bIns="0" rtlCol="0" anchor="ctr"/>
            <a:lstStyle/>
            <a:p>
              <a:pPr algn="ctr">
                <a:lnSpc>
                  <a:spcPts val="4104"/>
                </a:lnSpc>
              </a:pPr>
              <a:r>
                <a:rPr lang="en-US" sz="3800" b="1">
                  <a:solidFill>
                    <a:srgbClr val="7030A0"/>
                  </a:solidFill>
                  <a:latin typeface="Times New Roman Bold"/>
                  <a:ea typeface="Times New Roman Bold"/>
                  <a:cs typeface="Times New Roman Bold"/>
                  <a:sym typeface="Times New Roman Bold"/>
                </a:rPr>
                <a:t>HARDWARE REQUIREMENT</a:t>
              </a:r>
            </a:p>
          </p:txBody>
        </p:sp>
      </p:grpSp>
      <p:grpSp>
        <p:nvGrpSpPr>
          <p:cNvPr id="5" name="Group 5"/>
          <p:cNvGrpSpPr/>
          <p:nvPr/>
        </p:nvGrpSpPr>
        <p:grpSpPr>
          <a:xfrm>
            <a:off x="6888480" y="6780108"/>
            <a:ext cx="2194560" cy="389467"/>
            <a:chOff x="0" y="0"/>
            <a:chExt cx="2926080" cy="519289"/>
          </a:xfrm>
        </p:grpSpPr>
        <p:sp>
          <p:nvSpPr>
            <p:cNvPr id="6" name="Freeform 6"/>
            <p:cNvSpPr/>
            <p:nvPr/>
          </p:nvSpPr>
          <p:spPr>
            <a:xfrm>
              <a:off x="0" y="0"/>
              <a:ext cx="2926080" cy="519289"/>
            </a:xfrm>
            <a:custGeom>
              <a:avLst/>
              <a:gdLst/>
              <a:ahLst/>
              <a:cxnLst/>
              <a:rect l="l" t="t" r="r" b="b"/>
              <a:pathLst>
                <a:path w="2926080" h="519289">
                  <a:moveTo>
                    <a:pt x="0" y="0"/>
                  </a:moveTo>
                  <a:lnTo>
                    <a:pt x="2926080" y="0"/>
                  </a:lnTo>
                  <a:lnTo>
                    <a:pt x="2926080" y="519289"/>
                  </a:lnTo>
                  <a:lnTo>
                    <a:pt x="0" y="519289"/>
                  </a:lnTo>
                  <a:close/>
                </a:path>
              </a:pathLst>
            </a:custGeom>
            <a:solidFill>
              <a:srgbClr val="000000">
                <a:alpha val="0"/>
              </a:srgbClr>
            </a:solidFill>
          </p:spPr>
        </p:sp>
        <p:sp>
          <p:nvSpPr>
            <p:cNvPr id="7" name="TextBox 7"/>
            <p:cNvSpPr txBox="1"/>
            <p:nvPr/>
          </p:nvSpPr>
          <p:spPr>
            <a:xfrm>
              <a:off x="0" y="-28575"/>
              <a:ext cx="2926080" cy="547864"/>
            </a:xfrm>
            <a:prstGeom prst="rect">
              <a:avLst/>
            </a:prstGeom>
          </p:spPr>
          <p:txBody>
            <a:bodyPr lIns="0" tIns="0" rIns="0" bIns="0" rtlCol="0" anchor="ctr"/>
            <a:lstStyle/>
            <a:p>
              <a:pPr algn="r">
                <a:lnSpc>
                  <a:spcPts val="1791"/>
                </a:lnSpc>
              </a:pPr>
              <a:r>
                <a:rPr lang="en-US" sz="1493" b="1">
                  <a:solidFill>
                    <a:srgbClr val="000000"/>
                  </a:solidFill>
                  <a:latin typeface="Times New Roman Bold"/>
                  <a:ea typeface="Times New Roman Bold"/>
                  <a:cs typeface="Times New Roman Bold"/>
                  <a:sym typeface="Times New Roman Bold"/>
                </a:rPr>
                <a:t>12</a:t>
              </a:r>
            </a:p>
          </p:txBody>
        </p:sp>
      </p:grpSp>
      <p:grpSp>
        <p:nvGrpSpPr>
          <p:cNvPr id="8" name="Group 8"/>
          <p:cNvGrpSpPr/>
          <p:nvPr/>
        </p:nvGrpSpPr>
        <p:grpSpPr>
          <a:xfrm>
            <a:off x="1293440" y="6838791"/>
            <a:ext cx="7270728" cy="389440"/>
            <a:chOff x="0" y="0"/>
            <a:chExt cx="9694304" cy="519253"/>
          </a:xfrm>
        </p:grpSpPr>
        <p:sp>
          <p:nvSpPr>
            <p:cNvPr id="9" name="Freeform 9"/>
            <p:cNvSpPr/>
            <p:nvPr/>
          </p:nvSpPr>
          <p:spPr>
            <a:xfrm>
              <a:off x="0" y="0"/>
              <a:ext cx="9694304" cy="519253"/>
            </a:xfrm>
            <a:custGeom>
              <a:avLst/>
              <a:gdLst/>
              <a:ahLst/>
              <a:cxnLst/>
              <a:rect l="l" t="t" r="r" b="b"/>
              <a:pathLst>
                <a:path w="9694304" h="519253">
                  <a:moveTo>
                    <a:pt x="0" y="0"/>
                  </a:moveTo>
                  <a:lnTo>
                    <a:pt x="9694304" y="0"/>
                  </a:lnTo>
                  <a:lnTo>
                    <a:pt x="9694304" y="519253"/>
                  </a:lnTo>
                  <a:lnTo>
                    <a:pt x="0" y="519253"/>
                  </a:lnTo>
                  <a:close/>
                </a:path>
              </a:pathLst>
            </a:custGeom>
            <a:solidFill>
              <a:srgbClr val="000000">
                <a:alpha val="0"/>
              </a:srgbClr>
            </a:solidFill>
          </p:spPr>
        </p:sp>
        <p:sp>
          <p:nvSpPr>
            <p:cNvPr id="10" name="TextBox 10"/>
            <p:cNvSpPr txBox="1"/>
            <p:nvPr/>
          </p:nvSpPr>
          <p:spPr>
            <a:xfrm>
              <a:off x="0" y="-28575"/>
              <a:ext cx="9694304" cy="547828"/>
            </a:xfrm>
            <a:prstGeom prst="rect">
              <a:avLst/>
            </a:prstGeom>
          </p:spPr>
          <p:txBody>
            <a:bodyPr lIns="0" tIns="0" rIns="0" bIns="0" rtlCol="0" anchor="ctr"/>
            <a:lstStyle/>
            <a:p>
              <a:pPr algn="ctr">
                <a:lnSpc>
                  <a:spcPts val="1559"/>
                </a:lnSpc>
              </a:pPr>
              <a:r>
                <a:rPr lang="en-US" sz="1299">
                  <a:solidFill>
                    <a:srgbClr val="888888"/>
                  </a:solidFill>
                  <a:latin typeface="Times New Roman"/>
                  <a:ea typeface="Times New Roman"/>
                  <a:cs typeface="Times New Roman"/>
                  <a:sym typeface="Times New Roman"/>
                </a:rPr>
                <a:t>Integrated Anti-Spoofing and Deepfake Detection System Using MobileNet and ResNeXt</a:t>
              </a:r>
            </a:p>
          </p:txBody>
        </p:sp>
      </p:grpSp>
      <p:grpSp>
        <p:nvGrpSpPr>
          <p:cNvPr id="11" name="Group 11"/>
          <p:cNvGrpSpPr/>
          <p:nvPr/>
        </p:nvGrpSpPr>
        <p:grpSpPr>
          <a:xfrm>
            <a:off x="471840" y="855227"/>
            <a:ext cx="8809920" cy="5812480"/>
            <a:chOff x="0" y="0"/>
            <a:chExt cx="11746560" cy="7749973"/>
          </a:xfrm>
        </p:grpSpPr>
        <p:sp>
          <p:nvSpPr>
            <p:cNvPr id="12" name="Freeform 12"/>
            <p:cNvSpPr/>
            <p:nvPr/>
          </p:nvSpPr>
          <p:spPr>
            <a:xfrm>
              <a:off x="0" y="0"/>
              <a:ext cx="11746560" cy="7749973"/>
            </a:xfrm>
            <a:custGeom>
              <a:avLst/>
              <a:gdLst/>
              <a:ahLst/>
              <a:cxnLst/>
              <a:rect l="l" t="t" r="r" b="b"/>
              <a:pathLst>
                <a:path w="11746560" h="7749973">
                  <a:moveTo>
                    <a:pt x="0" y="0"/>
                  </a:moveTo>
                  <a:lnTo>
                    <a:pt x="11746560" y="0"/>
                  </a:lnTo>
                  <a:lnTo>
                    <a:pt x="11746560" y="7749973"/>
                  </a:lnTo>
                  <a:lnTo>
                    <a:pt x="0" y="7749973"/>
                  </a:lnTo>
                  <a:close/>
                </a:path>
              </a:pathLst>
            </a:custGeom>
            <a:solidFill>
              <a:srgbClr val="000000">
                <a:alpha val="0"/>
              </a:srgbClr>
            </a:solidFill>
          </p:spPr>
        </p:sp>
        <p:sp>
          <p:nvSpPr>
            <p:cNvPr id="13" name="TextBox 13"/>
            <p:cNvSpPr txBox="1"/>
            <p:nvPr/>
          </p:nvSpPr>
          <p:spPr>
            <a:xfrm>
              <a:off x="0" y="-47625"/>
              <a:ext cx="11746560" cy="7797598"/>
            </a:xfrm>
            <a:prstGeom prst="rect">
              <a:avLst/>
            </a:prstGeom>
          </p:spPr>
          <p:txBody>
            <a:bodyPr lIns="0" tIns="0" rIns="0" bIns="0" rtlCol="0" anchor="ctr"/>
            <a:lstStyle/>
            <a:p>
              <a:pPr marL="352975" lvl="1" indent="-176487" algn="just">
                <a:lnSpc>
                  <a:spcPts val="2639"/>
                </a:lnSpc>
                <a:buFont typeface="Arial"/>
                <a:buChar char="•"/>
              </a:pPr>
              <a:r>
                <a:rPr lang="en-US" sz="2199">
                  <a:solidFill>
                    <a:srgbClr val="000000"/>
                  </a:solidFill>
                  <a:latin typeface="Times New Roman"/>
                  <a:ea typeface="Times New Roman"/>
                  <a:cs typeface="Times New Roman"/>
                  <a:sym typeface="Times New Roman"/>
                </a:rPr>
                <a:t>Processor: Intel Core i7 or higher / AMD Ryzen 7 or higher</a:t>
              </a:r>
            </a:p>
            <a:p>
              <a:pPr marL="352975" lvl="1" indent="-176487" algn="just">
                <a:lnSpc>
                  <a:spcPts val="2639"/>
                </a:lnSpc>
                <a:buFont typeface="Arial"/>
                <a:buChar char="•"/>
              </a:pPr>
              <a:r>
                <a:rPr lang="en-US" sz="2199">
                  <a:solidFill>
                    <a:srgbClr val="000000"/>
                  </a:solidFill>
                  <a:latin typeface="Times New Roman"/>
                  <a:ea typeface="Times New Roman"/>
                  <a:cs typeface="Times New Roman"/>
                  <a:sym typeface="Times New Roman"/>
                </a:rPr>
                <a:t>GPU: NVIDIA RTX 3080 or higher (for model training and inference)</a:t>
              </a:r>
            </a:p>
            <a:p>
              <a:pPr marL="352975" lvl="1" indent="-176487" algn="just">
                <a:lnSpc>
                  <a:spcPts val="2639"/>
                </a:lnSpc>
                <a:buFont typeface="Arial"/>
                <a:buChar char="•"/>
              </a:pPr>
              <a:r>
                <a:rPr lang="en-US" sz="2199">
                  <a:solidFill>
                    <a:srgbClr val="000000"/>
                  </a:solidFill>
                  <a:latin typeface="Times New Roman"/>
                  <a:ea typeface="Times New Roman"/>
                  <a:cs typeface="Times New Roman"/>
                  <a:sym typeface="Times New Roman"/>
                </a:rPr>
                <a:t>RAM: Minimum 16GB, recommended 32GB for deep learning tasks</a:t>
              </a:r>
            </a:p>
            <a:p>
              <a:pPr marL="352975" lvl="1" indent="-176487" algn="just">
                <a:lnSpc>
                  <a:spcPts val="2639"/>
                </a:lnSpc>
                <a:buFont typeface="Arial"/>
                <a:buChar char="•"/>
              </a:pPr>
              <a:r>
                <a:rPr lang="en-US" sz="2199">
                  <a:solidFill>
                    <a:srgbClr val="000000"/>
                  </a:solidFill>
                  <a:latin typeface="Times New Roman"/>
                  <a:ea typeface="Times New Roman"/>
                  <a:cs typeface="Times New Roman"/>
                  <a:sym typeface="Times New Roman"/>
                </a:rPr>
                <a:t>Storage: SSD with at least 1TB capacity</a:t>
              </a:r>
            </a:p>
            <a:p>
              <a:pPr marL="352975" lvl="1" indent="-176487" algn="just">
                <a:lnSpc>
                  <a:spcPts val="2639"/>
                </a:lnSpc>
                <a:buFont typeface="Arial"/>
                <a:buChar char="•"/>
              </a:pPr>
              <a:r>
                <a:rPr lang="en-US" sz="2199">
                  <a:solidFill>
                    <a:srgbClr val="000000"/>
                  </a:solidFill>
                  <a:latin typeface="Times New Roman"/>
                  <a:ea typeface="Times New Roman"/>
                  <a:cs typeface="Times New Roman"/>
                  <a:sym typeface="Times New Roman"/>
                </a:rPr>
                <a:t>Camera (for real-time testing): HD 1080p webcaM</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70560" y="177057"/>
            <a:ext cx="8412480" cy="733933"/>
            <a:chOff x="0" y="0"/>
            <a:chExt cx="11216640" cy="978578"/>
          </a:xfrm>
        </p:grpSpPr>
        <p:sp>
          <p:nvSpPr>
            <p:cNvPr id="3" name="Freeform 3"/>
            <p:cNvSpPr/>
            <p:nvPr/>
          </p:nvSpPr>
          <p:spPr>
            <a:xfrm>
              <a:off x="0" y="0"/>
              <a:ext cx="11216640" cy="978577"/>
            </a:xfrm>
            <a:custGeom>
              <a:avLst/>
              <a:gdLst/>
              <a:ahLst/>
              <a:cxnLst/>
              <a:rect l="l" t="t" r="r" b="b"/>
              <a:pathLst>
                <a:path w="11216640" h="978577">
                  <a:moveTo>
                    <a:pt x="0" y="0"/>
                  </a:moveTo>
                  <a:lnTo>
                    <a:pt x="11216640" y="0"/>
                  </a:lnTo>
                  <a:lnTo>
                    <a:pt x="11216640" y="978577"/>
                  </a:lnTo>
                  <a:lnTo>
                    <a:pt x="0" y="978577"/>
                  </a:lnTo>
                  <a:close/>
                </a:path>
              </a:pathLst>
            </a:custGeom>
            <a:solidFill>
              <a:srgbClr val="000000">
                <a:alpha val="0"/>
              </a:srgbClr>
            </a:solidFill>
          </p:spPr>
        </p:sp>
        <p:sp>
          <p:nvSpPr>
            <p:cNvPr id="4" name="TextBox 4"/>
            <p:cNvSpPr txBox="1"/>
            <p:nvPr/>
          </p:nvSpPr>
          <p:spPr>
            <a:xfrm>
              <a:off x="0" y="-38100"/>
              <a:ext cx="11216640" cy="1016678"/>
            </a:xfrm>
            <a:prstGeom prst="rect">
              <a:avLst/>
            </a:prstGeom>
          </p:spPr>
          <p:txBody>
            <a:bodyPr lIns="0" tIns="0" rIns="0" bIns="0" rtlCol="0" anchor="ctr"/>
            <a:lstStyle/>
            <a:p>
              <a:pPr algn="ctr">
                <a:lnSpc>
                  <a:spcPts val="4104"/>
                </a:lnSpc>
              </a:pPr>
              <a:r>
                <a:rPr lang="en-US" sz="3800" b="1">
                  <a:solidFill>
                    <a:srgbClr val="7030A0"/>
                  </a:solidFill>
                  <a:latin typeface="Times New Roman Bold"/>
                  <a:ea typeface="Times New Roman Bold"/>
                  <a:cs typeface="Times New Roman Bold"/>
                  <a:sym typeface="Times New Roman Bold"/>
                </a:rPr>
                <a:t>SOFTWARE REQUIREMENT</a:t>
              </a:r>
            </a:p>
          </p:txBody>
        </p:sp>
      </p:grpSp>
      <p:grpSp>
        <p:nvGrpSpPr>
          <p:cNvPr id="5" name="Group 5"/>
          <p:cNvGrpSpPr/>
          <p:nvPr/>
        </p:nvGrpSpPr>
        <p:grpSpPr>
          <a:xfrm>
            <a:off x="6888480" y="6780108"/>
            <a:ext cx="2194560" cy="389440"/>
            <a:chOff x="0" y="0"/>
            <a:chExt cx="2926080" cy="519253"/>
          </a:xfrm>
        </p:grpSpPr>
        <p:sp>
          <p:nvSpPr>
            <p:cNvPr id="6" name="Freeform 6"/>
            <p:cNvSpPr/>
            <p:nvPr/>
          </p:nvSpPr>
          <p:spPr>
            <a:xfrm>
              <a:off x="0" y="0"/>
              <a:ext cx="2926080" cy="519253"/>
            </a:xfrm>
            <a:custGeom>
              <a:avLst/>
              <a:gdLst/>
              <a:ahLst/>
              <a:cxnLst/>
              <a:rect l="l" t="t" r="r" b="b"/>
              <a:pathLst>
                <a:path w="2926080" h="519253">
                  <a:moveTo>
                    <a:pt x="0" y="0"/>
                  </a:moveTo>
                  <a:lnTo>
                    <a:pt x="2926080" y="0"/>
                  </a:lnTo>
                  <a:lnTo>
                    <a:pt x="2926080" y="519253"/>
                  </a:lnTo>
                  <a:lnTo>
                    <a:pt x="0" y="519253"/>
                  </a:lnTo>
                  <a:close/>
                </a:path>
              </a:pathLst>
            </a:custGeom>
            <a:solidFill>
              <a:srgbClr val="000000">
                <a:alpha val="0"/>
              </a:srgbClr>
            </a:solidFill>
          </p:spPr>
        </p:sp>
        <p:sp>
          <p:nvSpPr>
            <p:cNvPr id="7" name="TextBox 7"/>
            <p:cNvSpPr txBox="1"/>
            <p:nvPr/>
          </p:nvSpPr>
          <p:spPr>
            <a:xfrm>
              <a:off x="0" y="-28575"/>
              <a:ext cx="2926080" cy="547828"/>
            </a:xfrm>
            <a:prstGeom prst="rect">
              <a:avLst/>
            </a:prstGeom>
          </p:spPr>
          <p:txBody>
            <a:bodyPr lIns="0" tIns="0" rIns="0" bIns="0" rtlCol="0" anchor="ctr"/>
            <a:lstStyle/>
            <a:p>
              <a:pPr algn="r">
                <a:lnSpc>
                  <a:spcPts val="1791"/>
                </a:lnSpc>
              </a:pPr>
              <a:r>
                <a:rPr lang="en-US" sz="1493" b="1">
                  <a:solidFill>
                    <a:srgbClr val="000000"/>
                  </a:solidFill>
                  <a:latin typeface="Times New Roman Bold"/>
                  <a:ea typeface="Times New Roman Bold"/>
                  <a:cs typeface="Times New Roman Bold"/>
                  <a:sym typeface="Times New Roman Bold"/>
                </a:rPr>
                <a:t>13</a:t>
              </a:r>
            </a:p>
          </p:txBody>
        </p:sp>
      </p:grpSp>
      <p:grpSp>
        <p:nvGrpSpPr>
          <p:cNvPr id="8" name="Group 8"/>
          <p:cNvGrpSpPr/>
          <p:nvPr/>
        </p:nvGrpSpPr>
        <p:grpSpPr>
          <a:xfrm>
            <a:off x="1293440" y="6838791"/>
            <a:ext cx="7236059" cy="389440"/>
            <a:chOff x="0" y="0"/>
            <a:chExt cx="9648079" cy="519253"/>
          </a:xfrm>
        </p:grpSpPr>
        <p:sp>
          <p:nvSpPr>
            <p:cNvPr id="9" name="Freeform 9"/>
            <p:cNvSpPr/>
            <p:nvPr/>
          </p:nvSpPr>
          <p:spPr>
            <a:xfrm>
              <a:off x="0" y="0"/>
              <a:ext cx="9648079" cy="519253"/>
            </a:xfrm>
            <a:custGeom>
              <a:avLst/>
              <a:gdLst/>
              <a:ahLst/>
              <a:cxnLst/>
              <a:rect l="l" t="t" r="r" b="b"/>
              <a:pathLst>
                <a:path w="9648079" h="519253">
                  <a:moveTo>
                    <a:pt x="0" y="0"/>
                  </a:moveTo>
                  <a:lnTo>
                    <a:pt x="9648079" y="0"/>
                  </a:lnTo>
                  <a:lnTo>
                    <a:pt x="9648079" y="519253"/>
                  </a:lnTo>
                  <a:lnTo>
                    <a:pt x="0" y="519253"/>
                  </a:lnTo>
                  <a:close/>
                </a:path>
              </a:pathLst>
            </a:custGeom>
            <a:solidFill>
              <a:srgbClr val="000000">
                <a:alpha val="0"/>
              </a:srgbClr>
            </a:solidFill>
          </p:spPr>
        </p:sp>
        <p:sp>
          <p:nvSpPr>
            <p:cNvPr id="10" name="TextBox 10"/>
            <p:cNvSpPr txBox="1"/>
            <p:nvPr/>
          </p:nvSpPr>
          <p:spPr>
            <a:xfrm>
              <a:off x="0" y="-28575"/>
              <a:ext cx="9648079" cy="547828"/>
            </a:xfrm>
            <a:prstGeom prst="rect">
              <a:avLst/>
            </a:prstGeom>
          </p:spPr>
          <p:txBody>
            <a:bodyPr lIns="0" tIns="0" rIns="0" bIns="0" rtlCol="0" anchor="ctr"/>
            <a:lstStyle/>
            <a:p>
              <a:pPr algn="ctr">
                <a:lnSpc>
                  <a:spcPts val="1559"/>
                </a:lnSpc>
              </a:pPr>
              <a:r>
                <a:rPr lang="en-US" sz="1299">
                  <a:solidFill>
                    <a:srgbClr val="888888"/>
                  </a:solidFill>
                  <a:latin typeface="Times New Roman"/>
                  <a:ea typeface="Times New Roman"/>
                  <a:cs typeface="Times New Roman"/>
                  <a:sym typeface="Times New Roman"/>
                </a:rPr>
                <a:t>Integrated Anti-Spoofing and Deepfake Detection System Using MobileNet and ResNeXt</a:t>
              </a:r>
            </a:p>
          </p:txBody>
        </p:sp>
      </p:grpSp>
      <p:grpSp>
        <p:nvGrpSpPr>
          <p:cNvPr id="11" name="Group 11"/>
          <p:cNvGrpSpPr/>
          <p:nvPr/>
        </p:nvGrpSpPr>
        <p:grpSpPr>
          <a:xfrm>
            <a:off x="471840" y="855227"/>
            <a:ext cx="8809920" cy="5812480"/>
            <a:chOff x="0" y="0"/>
            <a:chExt cx="11746560" cy="7749973"/>
          </a:xfrm>
        </p:grpSpPr>
        <p:sp>
          <p:nvSpPr>
            <p:cNvPr id="12" name="Freeform 12"/>
            <p:cNvSpPr/>
            <p:nvPr/>
          </p:nvSpPr>
          <p:spPr>
            <a:xfrm>
              <a:off x="0" y="0"/>
              <a:ext cx="11746560" cy="7749973"/>
            </a:xfrm>
            <a:custGeom>
              <a:avLst/>
              <a:gdLst/>
              <a:ahLst/>
              <a:cxnLst/>
              <a:rect l="l" t="t" r="r" b="b"/>
              <a:pathLst>
                <a:path w="11746560" h="7749973">
                  <a:moveTo>
                    <a:pt x="0" y="0"/>
                  </a:moveTo>
                  <a:lnTo>
                    <a:pt x="11746560" y="0"/>
                  </a:lnTo>
                  <a:lnTo>
                    <a:pt x="11746560" y="7749973"/>
                  </a:lnTo>
                  <a:lnTo>
                    <a:pt x="0" y="7749973"/>
                  </a:lnTo>
                  <a:close/>
                </a:path>
              </a:pathLst>
            </a:custGeom>
            <a:solidFill>
              <a:srgbClr val="000000">
                <a:alpha val="0"/>
              </a:srgbClr>
            </a:solidFill>
          </p:spPr>
        </p:sp>
        <p:sp>
          <p:nvSpPr>
            <p:cNvPr id="13" name="TextBox 13"/>
            <p:cNvSpPr txBox="1"/>
            <p:nvPr/>
          </p:nvSpPr>
          <p:spPr>
            <a:xfrm>
              <a:off x="0" y="-47625"/>
              <a:ext cx="11746560" cy="7797598"/>
            </a:xfrm>
            <a:prstGeom prst="rect">
              <a:avLst/>
            </a:prstGeom>
          </p:spPr>
          <p:txBody>
            <a:bodyPr lIns="0" tIns="0" rIns="0" bIns="0" rtlCol="0" anchor="ctr"/>
            <a:lstStyle/>
            <a:p>
              <a:pPr marL="362086" lvl="1" indent="-181043" algn="just">
                <a:lnSpc>
                  <a:spcPts val="2639"/>
                </a:lnSpc>
                <a:buFont typeface="Arial"/>
                <a:buChar char="•"/>
              </a:pPr>
              <a:r>
                <a:rPr lang="en-US" sz="2199" dirty="0">
                  <a:solidFill>
                    <a:srgbClr val="000000"/>
                  </a:solidFill>
                  <a:latin typeface="Times New Roman"/>
                  <a:ea typeface="Times New Roman"/>
                  <a:cs typeface="Times New Roman"/>
                  <a:sym typeface="Times New Roman"/>
                </a:rPr>
                <a:t>Operating System: Ubuntu 20.04 LTS / Windows 10 or higher</a:t>
              </a:r>
            </a:p>
            <a:p>
              <a:pPr marL="362086" lvl="1" indent="-181043" algn="just">
                <a:lnSpc>
                  <a:spcPts val="2639"/>
                </a:lnSpc>
                <a:buFont typeface="Arial"/>
                <a:buChar char="•"/>
              </a:pPr>
              <a:r>
                <a:rPr lang="en-US" sz="2199" dirty="0">
                  <a:solidFill>
                    <a:srgbClr val="000000"/>
                  </a:solidFill>
                  <a:latin typeface="Times New Roman"/>
                  <a:ea typeface="Times New Roman"/>
                  <a:cs typeface="Times New Roman"/>
                  <a:sym typeface="Times New Roman"/>
                </a:rPr>
                <a:t>Programming Language: Python 3.8+</a:t>
              </a:r>
            </a:p>
            <a:p>
              <a:pPr marL="362086" lvl="1" indent="-181043" algn="just">
                <a:lnSpc>
                  <a:spcPts val="2639"/>
                </a:lnSpc>
                <a:buFont typeface="Arial"/>
                <a:buChar char="•"/>
              </a:pPr>
              <a:r>
                <a:rPr lang="en-US" sz="2199" dirty="0">
                  <a:solidFill>
                    <a:srgbClr val="000000"/>
                  </a:solidFill>
                  <a:latin typeface="Times New Roman"/>
                  <a:ea typeface="Times New Roman"/>
                  <a:cs typeface="Times New Roman"/>
                  <a:sym typeface="Times New Roman"/>
                </a:rPr>
                <a:t>Deep Learning Frameworks:</a:t>
              </a:r>
            </a:p>
            <a:p>
              <a:pPr marL="362086" lvl="1" indent="-181043" algn="just">
                <a:lnSpc>
                  <a:spcPts val="2639"/>
                </a:lnSpc>
                <a:buFont typeface="Arial"/>
                <a:buChar char="•"/>
              </a:pPr>
              <a:r>
                <a:rPr lang="en-US" sz="2199" dirty="0">
                  <a:solidFill>
                    <a:srgbClr val="000000"/>
                  </a:solidFill>
                  <a:latin typeface="Times New Roman"/>
                  <a:ea typeface="Times New Roman"/>
                  <a:cs typeface="Times New Roman"/>
                  <a:sym typeface="Times New Roman"/>
                </a:rPr>
                <a:t>TensorFlow 2.x</a:t>
              </a:r>
            </a:p>
            <a:p>
              <a:pPr marL="362086" lvl="1" indent="-181043" algn="just">
                <a:lnSpc>
                  <a:spcPts val="2639"/>
                </a:lnSpc>
                <a:buFont typeface="Arial"/>
                <a:buChar char="•"/>
              </a:pPr>
              <a:r>
                <a:rPr lang="en-US" sz="2199" dirty="0" err="1">
                  <a:solidFill>
                    <a:srgbClr val="000000"/>
                  </a:solidFill>
                  <a:latin typeface="Times New Roman"/>
                  <a:ea typeface="Times New Roman"/>
                  <a:cs typeface="Times New Roman"/>
                  <a:sym typeface="Times New Roman"/>
                </a:rPr>
                <a:t>PyTorch</a:t>
              </a:r>
              <a:r>
                <a:rPr lang="en-US" sz="2199" dirty="0">
                  <a:solidFill>
                    <a:srgbClr val="000000"/>
                  </a:solidFill>
                  <a:latin typeface="Times New Roman"/>
                  <a:ea typeface="Times New Roman"/>
                  <a:cs typeface="Times New Roman"/>
                  <a:sym typeface="Times New Roman"/>
                </a:rPr>
                <a:t> 1.10+</a:t>
              </a:r>
            </a:p>
            <a:p>
              <a:pPr marL="362086" lvl="1" indent="-181043" algn="just">
                <a:lnSpc>
                  <a:spcPts val="2639"/>
                </a:lnSpc>
                <a:buFont typeface="Arial"/>
                <a:buChar char="•"/>
              </a:pPr>
              <a:r>
                <a:rPr lang="en-US" sz="2199" dirty="0">
                  <a:solidFill>
                    <a:srgbClr val="000000"/>
                  </a:solidFill>
                  <a:latin typeface="Times New Roman"/>
                  <a:ea typeface="Times New Roman"/>
                  <a:cs typeface="Times New Roman"/>
                  <a:sym typeface="Times New Roman"/>
                </a:rPr>
                <a:t>Libraries for Image and Video Processing:</a:t>
              </a:r>
            </a:p>
            <a:p>
              <a:pPr marL="362086" lvl="1" indent="-181043" algn="just">
                <a:lnSpc>
                  <a:spcPts val="2639"/>
                </a:lnSpc>
                <a:buFont typeface="Arial"/>
                <a:buChar char="•"/>
              </a:pPr>
              <a:r>
                <a:rPr lang="en-US" sz="2199" dirty="0">
                  <a:solidFill>
                    <a:srgbClr val="000000"/>
                  </a:solidFill>
                  <a:latin typeface="Times New Roman"/>
                  <a:ea typeface="Times New Roman"/>
                  <a:cs typeface="Times New Roman"/>
                  <a:sym typeface="Times New Roman"/>
                </a:rPr>
                <a:t>OpenCV</a:t>
              </a:r>
            </a:p>
            <a:p>
              <a:pPr marL="362086" lvl="1" indent="-181043" algn="just">
                <a:lnSpc>
                  <a:spcPts val="2639"/>
                </a:lnSpc>
                <a:buFont typeface="Arial"/>
                <a:buChar char="•"/>
              </a:pPr>
              <a:r>
                <a:rPr lang="en-US" sz="2199" dirty="0" err="1">
                  <a:solidFill>
                    <a:srgbClr val="000000"/>
                  </a:solidFill>
                  <a:latin typeface="Times New Roman"/>
                  <a:ea typeface="Times New Roman"/>
                  <a:cs typeface="Times New Roman"/>
                  <a:sym typeface="Times New Roman"/>
                </a:rPr>
                <a:t>Dlib</a:t>
              </a:r>
              <a:r>
                <a:rPr lang="en-US" sz="2199" dirty="0">
                  <a:solidFill>
                    <a:srgbClr val="000000"/>
                  </a:solidFill>
                  <a:latin typeface="Times New Roman"/>
                  <a:ea typeface="Times New Roman"/>
                  <a:cs typeface="Times New Roman"/>
                  <a:sym typeface="Times New Roman"/>
                </a:rPr>
                <a:t> (for face recognition and landmark detection)</a:t>
              </a:r>
            </a:p>
            <a:p>
              <a:pPr marL="362086" lvl="1" indent="-181043" algn="just">
                <a:lnSpc>
                  <a:spcPts val="2639"/>
                </a:lnSpc>
                <a:buFont typeface="Arial"/>
                <a:buChar char="•"/>
              </a:pPr>
              <a:r>
                <a:rPr lang="en-US" sz="2199">
                  <a:solidFill>
                    <a:srgbClr val="000000"/>
                  </a:solidFill>
                  <a:latin typeface="Times New Roman"/>
                  <a:ea typeface="Times New Roman"/>
                  <a:cs typeface="Times New Roman"/>
                  <a:sym typeface="Times New Roman"/>
                </a:rPr>
                <a:t>Web </a:t>
              </a:r>
              <a:r>
                <a:rPr lang="en-US" sz="2199" dirty="0">
                  <a:solidFill>
                    <a:srgbClr val="000000"/>
                  </a:solidFill>
                  <a:latin typeface="Times New Roman"/>
                  <a:ea typeface="Times New Roman"/>
                  <a:cs typeface="Times New Roman"/>
                  <a:sym typeface="Times New Roman"/>
                </a:rPr>
                <a:t>Framework (for UI Integration): Flask / </a:t>
              </a:r>
              <a:r>
                <a:rPr lang="en-US" sz="2199" dirty="0" err="1">
                  <a:solidFill>
                    <a:srgbClr val="000000"/>
                  </a:solidFill>
                  <a:latin typeface="Times New Roman"/>
                  <a:ea typeface="Times New Roman"/>
                  <a:cs typeface="Times New Roman"/>
                  <a:sym typeface="Times New Roman"/>
                </a:rPr>
                <a:t>Streamlit</a:t>
              </a:r>
              <a:endParaRPr lang="en-US" sz="2199" dirty="0">
                <a:solidFill>
                  <a:srgbClr val="000000"/>
                </a:solidFill>
                <a:latin typeface="Times New Roman"/>
                <a:ea typeface="Times New Roman"/>
                <a:cs typeface="Times New Roman"/>
                <a:sym typeface="Times New Roman"/>
              </a:endParaRPr>
            </a:p>
            <a:p>
              <a:pPr marL="362086" lvl="1" indent="-181043" algn="just">
                <a:lnSpc>
                  <a:spcPts val="2639"/>
                </a:lnSpc>
                <a:buFont typeface="Arial"/>
                <a:buChar char="•"/>
              </a:pPr>
              <a:r>
                <a:rPr lang="en-US" sz="2199" dirty="0">
                  <a:solidFill>
                    <a:srgbClr val="000000"/>
                  </a:solidFill>
                  <a:latin typeface="Times New Roman"/>
                  <a:ea typeface="Times New Roman"/>
                  <a:cs typeface="Times New Roman"/>
                  <a:sym typeface="Times New Roman"/>
                </a:rPr>
                <a:t>Development Environment: </a:t>
              </a:r>
              <a:r>
                <a:rPr lang="en-US" sz="2199" dirty="0" err="1">
                  <a:solidFill>
                    <a:srgbClr val="000000"/>
                  </a:solidFill>
                  <a:latin typeface="Times New Roman"/>
                  <a:ea typeface="Times New Roman"/>
                  <a:cs typeface="Times New Roman"/>
                  <a:sym typeface="Times New Roman"/>
                </a:rPr>
                <a:t>Jupyter</a:t>
              </a:r>
              <a:r>
                <a:rPr lang="en-US" sz="2199" dirty="0">
                  <a:solidFill>
                    <a:srgbClr val="000000"/>
                  </a:solidFill>
                  <a:latin typeface="Times New Roman"/>
                  <a:ea typeface="Times New Roman"/>
                  <a:cs typeface="Times New Roman"/>
                  <a:sym typeface="Times New Roman"/>
                </a:rPr>
                <a:t> Notebook / VS Code / PyCharm</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22347" y="16037"/>
            <a:ext cx="8412480" cy="733933"/>
            <a:chOff x="0" y="0"/>
            <a:chExt cx="11216640" cy="978578"/>
          </a:xfrm>
        </p:grpSpPr>
        <p:sp>
          <p:nvSpPr>
            <p:cNvPr id="3" name="Freeform 3"/>
            <p:cNvSpPr/>
            <p:nvPr/>
          </p:nvSpPr>
          <p:spPr>
            <a:xfrm>
              <a:off x="0" y="0"/>
              <a:ext cx="11216640" cy="978578"/>
            </a:xfrm>
            <a:custGeom>
              <a:avLst/>
              <a:gdLst/>
              <a:ahLst/>
              <a:cxnLst/>
              <a:rect l="l" t="t" r="r" b="b"/>
              <a:pathLst>
                <a:path w="11216640" h="978578">
                  <a:moveTo>
                    <a:pt x="0" y="0"/>
                  </a:moveTo>
                  <a:lnTo>
                    <a:pt x="11216640" y="0"/>
                  </a:lnTo>
                  <a:lnTo>
                    <a:pt x="11216640" y="978578"/>
                  </a:lnTo>
                  <a:lnTo>
                    <a:pt x="0" y="978578"/>
                  </a:lnTo>
                  <a:close/>
                </a:path>
              </a:pathLst>
            </a:custGeom>
            <a:solidFill>
              <a:srgbClr val="000000">
                <a:alpha val="0"/>
              </a:srgbClr>
            </a:solidFill>
          </p:spPr>
        </p:sp>
        <p:sp>
          <p:nvSpPr>
            <p:cNvPr id="4" name="TextBox 4"/>
            <p:cNvSpPr txBox="1"/>
            <p:nvPr/>
          </p:nvSpPr>
          <p:spPr>
            <a:xfrm>
              <a:off x="0" y="-38100"/>
              <a:ext cx="11216640" cy="1016678"/>
            </a:xfrm>
            <a:prstGeom prst="rect">
              <a:avLst/>
            </a:prstGeom>
          </p:spPr>
          <p:txBody>
            <a:bodyPr lIns="0" tIns="0" rIns="0" bIns="0" rtlCol="0" anchor="ctr"/>
            <a:lstStyle/>
            <a:p>
              <a:pPr algn="ctr">
                <a:lnSpc>
                  <a:spcPts val="4104"/>
                </a:lnSpc>
              </a:pPr>
              <a:r>
                <a:rPr lang="en-US" sz="3800" b="1">
                  <a:solidFill>
                    <a:srgbClr val="7030A0"/>
                  </a:solidFill>
                  <a:latin typeface="Times New Roman Bold"/>
                  <a:ea typeface="Times New Roman Bold"/>
                  <a:cs typeface="Times New Roman Bold"/>
                  <a:sym typeface="Times New Roman Bold"/>
                </a:rPr>
                <a:t>SYSTEM ARCHITECTURE</a:t>
              </a:r>
            </a:p>
          </p:txBody>
        </p:sp>
      </p:grpSp>
      <p:grpSp>
        <p:nvGrpSpPr>
          <p:cNvPr id="5" name="Group 5"/>
          <p:cNvGrpSpPr/>
          <p:nvPr/>
        </p:nvGrpSpPr>
        <p:grpSpPr>
          <a:xfrm>
            <a:off x="6888480" y="6780108"/>
            <a:ext cx="2194560" cy="389467"/>
            <a:chOff x="0" y="0"/>
            <a:chExt cx="2926080" cy="519289"/>
          </a:xfrm>
        </p:grpSpPr>
        <p:sp>
          <p:nvSpPr>
            <p:cNvPr id="6" name="Freeform 6"/>
            <p:cNvSpPr/>
            <p:nvPr/>
          </p:nvSpPr>
          <p:spPr>
            <a:xfrm>
              <a:off x="0" y="0"/>
              <a:ext cx="2926080" cy="519289"/>
            </a:xfrm>
            <a:custGeom>
              <a:avLst/>
              <a:gdLst/>
              <a:ahLst/>
              <a:cxnLst/>
              <a:rect l="l" t="t" r="r" b="b"/>
              <a:pathLst>
                <a:path w="2926080" h="519289">
                  <a:moveTo>
                    <a:pt x="0" y="0"/>
                  </a:moveTo>
                  <a:lnTo>
                    <a:pt x="2926080" y="0"/>
                  </a:lnTo>
                  <a:lnTo>
                    <a:pt x="2926080" y="519289"/>
                  </a:lnTo>
                  <a:lnTo>
                    <a:pt x="0" y="519289"/>
                  </a:lnTo>
                  <a:close/>
                </a:path>
              </a:pathLst>
            </a:custGeom>
            <a:solidFill>
              <a:srgbClr val="000000">
                <a:alpha val="0"/>
              </a:srgbClr>
            </a:solidFill>
          </p:spPr>
        </p:sp>
        <p:sp>
          <p:nvSpPr>
            <p:cNvPr id="7" name="TextBox 7"/>
            <p:cNvSpPr txBox="1"/>
            <p:nvPr/>
          </p:nvSpPr>
          <p:spPr>
            <a:xfrm>
              <a:off x="0" y="-28575"/>
              <a:ext cx="2926080" cy="547864"/>
            </a:xfrm>
            <a:prstGeom prst="rect">
              <a:avLst/>
            </a:prstGeom>
          </p:spPr>
          <p:txBody>
            <a:bodyPr lIns="0" tIns="0" rIns="0" bIns="0" rtlCol="0" anchor="ctr"/>
            <a:lstStyle/>
            <a:p>
              <a:pPr algn="r">
                <a:lnSpc>
                  <a:spcPts val="1791"/>
                </a:lnSpc>
              </a:pPr>
              <a:r>
                <a:rPr lang="en-US" sz="1493" b="1">
                  <a:solidFill>
                    <a:srgbClr val="000000"/>
                  </a:solidFill>
                  <a:latin typeface="Times New Roman Bold"/>
                  <a:ea typeface="Times New Roman Bold"/>
                  <a:cs typeface="Times New Roman Bold"/>
                  <a:sym typeface="Times New Roman Bold"/>
                </a:rPr>
                <a:t>14</a:t>
              </a:r>
            </a:p>
          </p:txBody>
        </p:sp>
      </p:grpSp>
      <p:grpSp>
        <p:nvGrpSpPr>
          <p:cNvPr id="8" name="Group 8"/>
          <p:cNvGrpSpPr/>
          <p:nvPr/>
        </p:nvGrpSpPr>
        <p:grpSpPr>
          <a:xfrm>
            <a:off x="1293440" y="6838791"/>
            <a:ext cx="7253394" cy="389440"/>
            <a:chOff x="0" y="0"/>
            <a:chExt cx="9671191" cy="519253"/>
          </a:xfrm>
        </p:grpSpPr>
        <p:sp>
          <p:nvSpPr>
            <p:cNvPr id="9" name="Freeform 9"/>
            <p:cNvSpPr/>
            <p:nvPr/>
          </p:nvSpPr>
          <p:spPr>
            <a:xfrm>
              <a:off x="0" y="0"/>
              <a:ext cx="9671192" cy="519253"/>
            </a:xfrm>
            <a:custGeom>
              <a:avLst/>
              <a:gdLst/>
              <a:ahLst/>
              <a:cxnLst/>
              <a:rect l="l" t="t" r="r" b="b"/>
              <a:pathLst>
                <a:path w="9671192" h="519253">
                  <a:moveTo>
                    <a:pt x="0" y="0"/>
                  </a:moveTo>
                  <a:lnTo>
                    <a:pt x="9671192" y="0"/>
                  </a:lnTo>
                  <a:lnTo>
                    <a:pt x="9671192" y="519253"/>
                  </a:lnTo>
                  <a:lnTo>
                    <a:pt x="0" y="519253"/>
                  </a:lnTo>
                  <a:close/>
                </a:path>
              </a:pathLst>
            </a:custGeom>
            <a:solidFill>
              <a:srgbClr val="000000">
                <a:alpha val="0"/>
              </a:srgbClr>
            </a:solidFill>
          </p:spPr>
        </p:sp>
        <p:sp>
          <p:nvSpPr>
            <p:cNvPr id="10" name="TextBox 10"/>
            <p:cNvSpPr txBox="1"/>
            <p:nvPr/>
          </p:nvSpPr>
          <p:spPr>
            <a:xfrm>
              <a:off x="0" y="-28575"/>
              <a:ext cx="9671191" cy="547828"/>
            </a:xfrm>
            <a:prstGeom prst="rect">
              <a:avLst/>
            </a:prstGeom>
          </p:spPr>
          <p:txBody>
            <a:bodyPr lIns="0" tIns="0" rIns="0" bIns="0" rtlCol="0" anchor="ctr"/>
            <a:lstStyle/>
            <a:p>
              <a:pPr algn="ctr">
                <a:lnSpc>
                  <a:spcPts val="1559"/>
                </a:lnSpc>
              </a:pPr>
              <a:r>
                <a:rPr lang="en-US" sz="1299">
                  <a:solidFill>
                    <a:srgbClr val="888888"/>
                  </a:solidFill>
                  <a:latin typeface="Times New Roman"/>
                  <a:ea typeface="Times New Roman"/>
                  <a:cs typeface="Times New Roman"/>
                  <a:sym typeface="Times New Roman"/>
                </a:rPr>
                <a:t>Integrated Anti-Spoofing and Deepfake Detection System Using MobileNet and ResNeXt</a:t>
              </a:r>
            </a:p>
          </p:txBody>
        </p:sp>
      </p:grpSp>
      <p:sp>
        <p:nvSpPr>
          <p:cNvPr id="11" name="Freeform 11"/>
          <p:cNvSpPr/>
          <p:nvPr/>
        </p:nvSpPr>
        <p:spPr>
          <a:xfrm>
            <a:off x="1395455" y="1044948"/>
            <a:ext cx="7049364" cy="5225304"/>
          </a:xfrm>
          <a:custGeom>
            <a:avLst/>
            <a:gdLst/>
            <a:ahLst/>
            <a:cxnLst/>
            <a:rect l="l" t="t" r="r" b="b"/>
            <a:pathLst>
              <a:path w="7049364" h="5225304">
                <a:moveTo>
                  <a:pt x="0" y="0"/>
                </a:moveTo>
                <a:lnTo>
                  <a:pt x="7049364" y="0"/>
                </a:lnTo>
                <a:lnTo>
                  <a:pt x="7049364" y="5225304"/>
                </a:lnTo>
                <a:lnTo>
                  <a:pt x="0" y="5225304"/>
                </a:lnTo>
                <a:lnTo>
                  <a:pt x="0" y="0"/>
                </a:lnTo>
                <a:close/>
              </a:path>
            </a:pathLst>
          </a:custGeom>
          <a:blipFill>
            <a:blip r:embed="rId3"/>
            <a:stretch>
              <a:fillRect t="-927" b="-927"/>
            </a:stretch>
          </a:blipFill>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70560" y="177057"/>
            <a:ext cx="8412480" cy="1248283"/>
            <a:chOff x="0" y="0"/>
            <a:chExt cx="11216640" cy="1664378"/>
          </a:xfrm>
        </p:grpSpPr>
        <p:sp>
          <p:nvSpPr>
            <p:cNvPr id="3" name="Freeform 3"/>
            <p:cNvSpPr/>
            <p:nvPr/>
          </p:nvSpPr>
          <p:spPr>
            <a:xfrm>
              <a:off x="0" y="0"/>
              <a:ext cx="11216640" cy="1664377"/>
            </a:xfrm>
            <a:custGeom>
              <a:avLst/>
              <a:gdLst/>
              <a:ahLst/>
              <a:cxnLst/>
              <a:rect l="l" t="t" r="r" b="b"/>
              <a:pathLst>
                <a:path w="11216640" h="1664377">
                  <a:moveTo>
                    <a:pt x="0" y="0"/>
                  </a:moveTo>
                  <a:lnTo>
                    <a:pt x="11216640" y="0"/>
                  </a:lnTo>
                  <a:lnTo>
                    <a:pt x="11216640" y="1664377"/>
                  </a:lnTo>
                  <a:lnTo>
                    <a:pt x="0" y="1664377"/>
                  </a:lnTo>
                  <a:close/>
                </a:path>
              </a:pathLst>
            </a:custGeom>
            <a:solidFill>
              <a:srgbClr val="000000">
                <a:alpha val="0"/>
              </a:srgbClr>
            </a:solidFill>
          </p:spPr>
        </p:sp>
        <p:sp>
          <p:nvSpPr>
            <p:cNvPr id="4" name="TextBox 4"/>
            <p:cNvSpPr txBox="1"/>
            <p:nvPr/>
          </p:nvSpPr>
          <p:spPr>
            <a:xfrm>
              <a:off x="0" y="-38100"/>
              <a:ext cx="11216640" cy="1702478"/>
            </a:xfrm>
            <a:prstGeom prst="rect">
              <a:avLst/>
            </a:prstGeom>
          </p:spPr>
          <p:txBody>
            <a:bodyPr lIns="0" tIns="0" rIns="0" bIns="0" rtlCol="0" anchor="ctr"/>
            <a:lstStyle/>
            <a:p>
              <a:pPr algn="ctr">
                <a:lnSpc>
                  <a:spcPts val="4104"/>
                </a:lnSpc>
              </a:pPr>
              <a:r>
                <a:rPr lang="en-US" sz="3800" b="1">
                  <a:solidFill>
                    <a:srgbClr val="7030A0"/>
                  </a:solidFill>
                  <a:latin typeface="Times New Roman Bold"/>
                  <a:ea typeface="Times New Roman Bold"/>
                  <a:cs typeface="Times New Roman Bold"/>
                  <a:sym typeface="Times New Roman Bold"/>
                </a:rPr>
                <a:t>SYSTEM DESIGN - FLOW CHART/DFD/ER </a:t>
              </a:r>
            </a:p>
          </p:txBody>
        </p:sp>
      </p:grpSp>
      <p:grpSp>
        <p:nvGrpSpPr>
          <p:cNvPr id="5" name="Group 5"/>
          <p:cNvGrpSpPr/>
          <p:nvPr/>
        </p:nvGrpSpPr>
        <p:grpSpPr>
          <a:xfrm>
            <a:off x="6888480" y="6780108"/>
            <a:ext cx="2194560" cy="389467"/>
            <a:chOff x="0" y="0"/>
            <a:chExt cx="2926080" cy="519289"/>
          </a:xfrm>
        </p:grpSpPr>
        <p:sp>
          <p:nvSpPr>
            <p:cNvPr id="6" name="Freeform 6"/>
            <p:cNvSpPr/>
            <p:nvPr/>
          </p:nvSpPr>
          <p:spPr>
            <a:xfrm>
              <a:off x="0" y="0"/>
              <a:ext cx="2926080" cy="519289"/>
            </a:xfrm>
            <a:custGeom>
              <a:avLst/>
              <a:gdLst/>
              <a:ahLst/>
              <a:cxnLst/>
              <a:rect l="l" t="t" r="r" b="b"/>
              <a:pathLst>
                <a:path w="2926080" h="519289">
                  <a:moveTo>
                    <a:pt x="0" y="0"/>
                  </a:moveTo>
                  <a:lnTo>
                    <a:pt x="2926080" y="0"/>
                  </a:lnTo>
                  <a:lnTo>
                    <a:pt x="2926080" y="519289"/>
                  </a:lnTo>
                  <a:lnTo>
                    <a:pt x="0" y="519289"/>
                  </a:lnTo>
                  <a:close/>
                </a:path>
              </a:pathLst>
            </a:custGeom>
            <a:solidFill>
              <a:srgbClr val="000000">
                <a:alpha val="0"/>
              </a:srgbClr>
            </a:solidFill>
          </p:spPr>
        </p:sp>
        <p:sp>
          <p:nvSpPr>
            <p:cNvPr id="7" name="TextBox 7"/>
            <p:cNvSpPr txBox="1"/>
            <p:nvPr/>
          </p:nvSpPr>
          <p:spPr>
            <a:xfrm>
              <a:off x="0" y="-28575"/>
              <a:ext cx="2926080" cy="547864"/>
            </a:xfrm>
            <a:prstGeom prst="rect">
              <a:avLst/>
            </a:prstGeom>
          </p:spPr>
          <p:txBody>
            <a:bodyPr lIns="0" tIns="0" rIns="0" bIns="0" rtlCol="0" anchor="ctr"/>
            <a:lstStyle/>
            <a:p>
              <a:pPr algn="r">
                <a:lnSpc>
                  <a:spcPts val="1791"/>
                </a:lnSpc>
              </a:pPr>
              <a:r>
                <a:rPr lang="en-US" sz="1493" b="1">
                  <a:solidFill>
                    <a:srgbClr val="000000"/>
                  </a:solidFill>
                  <a:latin typeface="Times New Roman Bold"/>
                  <a:ea typeface="Times New Roman Bold"/>
                  <a:cs typeface="Times New Roman Bold"/>
                  <a:sym typeface="Times New Roman Bold"/>
                </a:rPr>
                <a:t>15</a:t>
              </a:r>
            </a:p>
          </p:txBody>
        </p:sp>
      </p:grpSp>
      <p:grpSp>
        <p:nvGrpSpPr>
          <p:cNvPr id="8" name="Group 8"/>
          <p:cNvGrpSpPr/>
          <p:nvPr/>
        </p:nvGrpSpPr>
        <p:grpSpPr>
          <a:xfrm>
            <a:off x="1086511" y="6780134"/>
            <a:ext cx="7374737" cy="389440"/>
            <a:chOff x="0" y="0"/>
            <a:chExt cx="9832982" cy="519253"/>
          </a:xfrm>
        </p:grpSpPr>
        <p:sp>
          <p:nvSpPr>
            <p:cNvPr id="9" name="Freeform 9"/>
            <p:cNvSpPr/>
            <p:nvPr/>
          </p:nvSpPr>
          <p:spPr>
            <a:xfrm>
              <a:off x="0" y="0"/>
              <a:ext cx="9832983" cy="519253"/>
            </a:xfrm>
            <a:custGeom>
              <a:avLst/>
              <a:gdLst/>
              <a:ahLst/>
              <a:cxnLst/>
              <a:rect l="l" t="t" r="r" b="b"/>
              <a:pathLst>
                <a:path w="9832983" h="519253">
                  <a:moveTo>
                    <a:pt x="0" y="0"/>
                  </a:moveTo>
                  <a:lnTo>
                    <a:pt x="9832983" y="0"/>
                  </a:lnTo>
                  <a:lnTo>
                    <a:pt x="9832983" y="519253"/>
                  </a:lnTo>
                  <a:lnTo>
                    <a:pt x="0" y="519253"/>
                  </a:lnTo>
                  <a:close/>
                </a:path>
              </a:pathLst>
            </a:custGeom>
            <a:solidFill>
              <a:srgbClr val="000000">
                <a:alpha val="0"/>
              </a:srgbClr>
            </a:solidFill>
          </p:spPr>
        </p:sp>
        <p:sp>
          <p:nvSpPr>
            <p:cNvPr id="10" name="TextBox 10"/>
            <p:cNvSpPr txBox="1"/>
            <p:nvPr/>
          </p:nvSpPr>
          <p:spPr>
            <a:xfrm>
              <a:off x="0" y="-28575"/>
              <a:ext cx="9832982" cy="547828"/>
            </a:xfrm>
            <a:prstGeom prst="rect">
              <a:avLst/>
            </a:prstGeom>
          </p:spPr>
          <p:txBody>
            <a:bodyPr lIns="0" tIns="0" rIns="0" bIns="0" rtlCol="0" anchor="ctr"/>
            <a:lstStyle/>
            <a:p>
              <a:pPr algn="ctr">
                <a:lnSpc>
                  <a:spcPts val="1559"/>
                </a:lnSpc>
              </a:pPr>
              <a:r>
                <a:rPr lang="en-US" sz="1299">
                  <a:solidFill>
                    <a:srgbClr val="888888"/>
                  </a:solidFill>
                  <a:latin typeface="Times New Roman"/>
                  <a:ea typeface="Times New Roman"/>
                  <a:cs typeface="Times New Roman"/>
                  <a:sym typeface="Times New Roman"/>
                </a:rPr>
                <a:t>Integrated Anti-Spoofing and Deepfake Detection System Using MobileNet and ResNeXt</a:t>
              </a:r>
            </a:p>
          </p:txBody>
        </p:sp>
      </p:grpSp>
      <p:sp>
        <p:nvSpPr>
          <p:cNvPr id="11" name="Freeform 11"/>
          <p:cNvSpPr/>
          <p:nvPr/>
        </p:nvSpPr>
        <p:spPr>
          <a:xfrm>
            <a:off x="731520" y="3080943"/>
            <a:ext cx="8084719" cy="2564133"/>
          </a:xfrm>
          <a:custGeom>
            <a:avLst/>
            <a:gdLst/>
            <a:ahLst/>
            <a:cxnLst/>
            <a:rect l="l" t="t" r="r" b="b"/>
            <a:pathLst>
              <a:path w="8084719" h="2564133">
                <a:moveTo>
                  <a:pt x="0" y="0"/>
                </a:moveTo>
                <a:lnTo>
                  <a:pt x="8084719" y="0"/>
                </a:lnTo>
                <a:lnTo>
                  <a:pt x="8084719" y="2564133"/>
                </a:lnTo>
                <a:lnTo>
                  <a:pt x="0" y="2564133"/>
                </a:lnTo>
                <a:lnTo>
                  <a:pt x="0" y="0"/>
                </a:lnTo>
                <a:close/>
              </a:path>
            </a:pathLst>
          </a:custGeom>
          <a:blipFill>
            <a:blip r:embed="rId3"/>
            <a:stretch>
              <a:fillRect l="-286" r="-286"/>
            </a:stretch>
          </a:blipFill>
        </p:spPr>
      </p:sp>
      <p:grpSp>
        <p:nvGrpSpPr>
          <p:cNvPr id="12" name="Group 12"/>
          <p:cNvGrpSpPr/>
          <p:nvPr/>
        </p:nvGrpSpPr>
        <p:grpSpPr>
          <a:xfrm>
            <a:off x="670560" y="1631411"/>
            <a:ext cx="4341760" cy="389440"/>
            <a:chOff x="0" y="0"/>
            <a:chExt cx="5789013" cy="519253"/>
          </a:xfrm>
        </p:grpSpPr>
        <p:sp>
          <p:nvSpPr>
            <p:cNvPr id="13" name="Freeform 13"/>
            <p:cNvSpPr/>
            <p:nvPr/>
          </p:nvSpPr>
          <p:spPr>
            <a:xfrm>
              <a:off x="0" y="0"/>
              <a:ext cx="5789013" cy="519253"/>
            </a:xfrm>
            <a:custGeom>
              <a:avLst/>
              <a:gdLst/>
              <a:ahLst/>
              <a:cxnLst/>
              <a:rect l="l" t="t" r="r" b="b"/>
              <a:pathLst>
                <a:path w="5789013" h="519253">
                  <a:moveTo>
                    <a:pt x="0" y="0"/>
                  </a:moveTo>
                  <a:lnTo>
                    <a:pt x="5789013" y="0"/>
                  </a:lnTo>
                  <a:lnTo>
                    <a:pt x="5789013" y="519253"/>
                  </a:lnTo>
                  <a:lnTo>
                    <a:pt x="0" y="519253"/>
                  </a:lnTo>
                  <a:close/>
                </a:path>
              </a:pathLst>
            </a:custGeom>
            <a:solidFill>
              <a:srgbClr val="000000">
                <a:alpha val="0"/>
              </a:srgbClr>
            </a:solidFill>
          </p:spPr>
        </p:sp>
        <p:sp>
          <p:nvSpPr>
            <p:cNvPr id="14" name="TextBox 14"/>
            <p:cNvSpPr txBox="1"/>
            <p:nvPr/>
          </p:nvSpPr>
          <p:spPr>
            <a:xfrm>
              <a:off x="0" y="-38100"/>
              <a:ext cx="5789013" cy="557353"/>
            </a:xfrm>
            <a:prstGeom prst="rect">
              <a:avLst/>
            </a:prstGeom>
          </p:spPr>
          <p:txBody>
            <a:bodyPr lIns="0" tIns="0" rIns="0" bIns="0" rtlCol="0" anchor="ctr"/>
            <a:lstStyle/>
            <a:p>
              <a:pPr algn="just">
                <a:lnSpc>
                  <a:spcPts val="2279"/>
                </a:lnSpc>
              </a:pPr>
              <a:r>
                <a:rPr lang="en-US" sz="1899" b="1">
                  <a:solidFill>
                    <a:srgbClr val="000000"/>
                  </a:solidFill>
                  <a:latin typeface="Times New Roman Bold"/>
                  <a:ea typeface="Times New Roman Bold"/>
                  <a:cs typeface="Times New Roman Bold"/>
                  <a:sym typeface="Times New Roman Bold"/>
                </a:rPr>
                <a:t>DATA FLOW DIAGRAMS</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09600" y="-92842"/>
            <a:ext cx="8412480" cy="1248283"/>
            <a:chOff x="0" y="0"/>
            <a:chExt cx="11216640" cy="1664378"/>
          </a:xfrm>
        </p:grpSpPr>
        <p:sp>
          <p:nvSpPr>
            <p:cNvPr id="3" name="Freeform 3"/>
            <p:cNvSpPr/>
            <p:nvPr/>
          </p:nvSpPr>
          <p:spPr>
            <a:xfrm>
              <a:off x="0" y="0"/>
              <a:ext cx="11216640" cy="1664377"/>
            </a:xfrm>
            <a:custGeom>
              <a:avLst/>
              <a:gdLst/>
              <a:ahLst/>
              <a:cxnLst/>
              <a:rect l="l" t="t" r="r" b="b"/>
              <a:pathLst>
                <a:path w="11216640" h="1664377">
                  <a:moveTo>
                    <a:pt x="0" y="0"/>
                  </a:moveTo>
                  <a:lnTo>
                    <a:pt x="11216640" y="0"/>
                  </a:lnTo>
                  <a:lnTo>
                    <a:pt x="11216640" y="1664377"/>
                  </a:lnTo>
                  <a:lnTo>
                    <a:pt x="0" y="1664377"/>
                  </a:lnTo>
                  <a:close/>
                </a:path>
              </a:pathLst>
            </a:custGeom>
            <a:solidFill>
              <a:srgbClr val="000000">
                <a:alpha val="0"/>
              </a:srgbClr>
            </a:solidFill>
          </p:spPr>
        </p:sp>
        <p:sp>
          <p:nvSpPr>
            <p:cNvPr id="4" name="TextBox 4"/>
            <p:cNvSpPr txBox="1"/>
            <p:nvPr/>
          </p:nvSpPr>
          <p:spPr>
            <a:xfrm>
              <a:off x="0" y="-38100"/>
              <a:ext cx="11216640" cy="1702478"/>
            </a:xfrm>
            <a:prstGeom prst="rect">
              <a:avLst/>
            </a:prstGeom>
          </p:spPr>
          <p:txBody>
            <a:bodyPr lIns="0" tIns="0" rIns="0" bIns="0" rtlCol="0" anchor="ctr"/>
            <a:lstStyle/>
            <a:p>
              <a:pPr algn="ctr">
                <a:lnSpc>
                  <a:spcPts val="4104"/>
                </a:lnSpc>
              </a:pPr>
              <a:r>
                <a:rPr lang="en-US" sz="3800" b="1">
                  <a:solidFill>
                    <a:srgbClr val="7030A0"/>
                  </a:solidFill>
                  <a:latin typeface="Times New Roman Bold"/>
                  <a:ea typeface="Times New Roman Bold"/>
                  <a:cs typeface="Times New Roman Bold"/>
                  <a:sym typeface="Times New Roman Bold"/>
                </a:rPr>
                <a:t>SYSTEM DESIGN - FLOW CHART/DFD/ER </a:t>
              </a:r>
            </a:p>
          </p:txBody>
        </p:sp>
      </p:grpSp>
      <p:grpSp>
        <p:nvGrpSpPr>
          <p:cNvPr id="5" name="Group 5"/>
          <p:cNvGrpSpPr/>
          <p:nvPr/>
        </p:nvGrpSpPr>
        <p:grpSpPr>
          <a:xfrm>
            <a:off x="6888480" y="6780108"/>
            <a:ext cx="2194560" cy="389440"/>
            <a:chOff x="0" y="0"/>
            <a:chExt cx="2926080" cy="519253"/>
          </a:xfrm>
        </p:grpSpPr>
        <p:sp>
          <p:nvSpPr>
            <p:cNvPr id="6" name="Freeform 6"/>
            <p:cNvSpPr/>
            <p:nvPr/>
          </p:nvSpPr>
          <p:spPr>
            <a:xfrm>
              <a:off x="0" y="0"/>
              <a:ext cx="2926080" cy="519253"/>
            </a:xfrm>
            <a:custGeom>
              <a:avLst/>
              <a:gdLst/>
              <a:ahLst/>
              <a:cxnLst/>
              <a:rect l="l" t="t" r="r" b="b"/>
              <a:pathLst>
                <a:path w="2926080" h="519253">
                  <a:moveTo>
                    <a:pt x="0" y="0"/>
                  </a:moveTo>
                  <a:lnTo>
                    <a:pt x="2926080" y="0"/>
                  </a:lnTo>
                  <a:lnTo>
                    <a:pt x="2926080" y="519253"/>
                  </a:lnTo>
                  <a:lnTo>
                    <a:pt x="0" y="519253"/>
                  </a:lnTo>
                  <a:close/>
                </a:path>
              </a:pathLst>
            </a:custGeom>
            <a:solidFill>
              <a:srgbClr val="000000">
                <a:alpha val="0"/>
              </a:srgbClr>
            </a:solidFill>
          </p:spPr>
        </p:sp>
        <p:sp>
          <p:nvSpPr>
            <p:cNvPr id="7" name="TextBox 7"/>
            <p:cNvSpPr txBox="1"/>
            <p:nvPr/>
          </p:nvSpPr>
          <p:spPr>
            <a:xfrm>
              <a:off x="0" y="-28575"/>
              <a:ext cx="2926080" cy="547828"/>
            </a:xfrm>
            <a:prstGeom prst="rect">
              <a:avLst/>
            </a:prstGeom>
          </p:spPr>
          <p:txBody>
            <a:bodyPr lIns="0" tIns="0" rIns="0" bIns="0" rtlCol="0" anchor="ctr"/>
            <a:lstStyle/>
            <a:p>
              <a:pPr algn="r">
                <a:lnSpc>
                  <a:spcPts val="1791"/>
                </a:lnSpc>
              </a:pPr>
              <a:r>
                <a:rPr lang="en-US" sz="1493" b="1">
                  <a:solidFill>
                    <a:srgbClr val="000000"/>
                  </a:solidFill>
                  <a:latin typeface="Times New Roman Bold"/>
                  <a:ea typeface="Times New Roman Bold"/>
                  <a:cs typeface="Times New Roman Bold"/>
                  <a:sym typeface="Times New Roman Bold"/>
                </a:rPr>
                <a:t>16</a:t>
              </a:r>
            </a:p>
          </p:txBody>
        </p:sp>
      </p:grpSp>
      <p:grpSp>
        <p:nvGrpSpPr>
          <p:cNvPr id="8" name="Group 8"/>
          <p:cNvGrpSpPr/>
          <p:nvPr/>
        </p:nvGrpSpPr>
        <p:grpSpPr>
          <a:xfrm>
            <a:off x="1293440" y="6838791"/>
            <a:ext cx="7322733" cy="389440"/>
            <a:chOff x="0" y="0"/>
            <a:chExt cx="9763643" cy="519253"/>
          </a:xfrm>
        </p:grpSpPr>
        <p:sp>
          <p:nvSpPr>
            <p:cNvPr id="9" name="Freeform 9"/>
            <p:cNvSpPr/>
            <p:nvPr/>
          </p:nvSpPr>
          <p:spPr>
            <a:xfrm>
              <a:off x="0" y="0"/>
              <a:ext cx="9763644" cy="519253"/>
            </a:xfrm>
            <a:custGeom>
              <a:avLst/>
              <a:gdLst/>
              <a:ahLst/>
              <a:cxnLst/>
              <a:rect l="l" t="t" r="r" b="b"/>
              <a:pathLst>
                <a:path w="9763644" h="519253">
                  <a:moveTo>
                    <a:pt x="0" y="0"/>
                  </a:moveTo>
                  <a:lnTo>
                    <a:pt x="9763644" y="0"/>
                  </a:lnTo>
                  <a:lnTo>
                    <a:pt x="9763644" y="519253"/>
                  </a:lnTo>
                  <a:lnTo>
                    <a:pt x="0" y="519253"/>
                  </a:lnTo>
                  <a:close/>
                </a:path>
              </a:pathLst>
            </a:custGeom>
            <a:solidFill>
              <a:srgbClr val="000000">
                <a:alpha val="0"/>
              </a:srgbClr>
            </a:solidFill>
          </p:spPr>
        </p:sp>
        <p:sp>
          <p:nvSpPr>
            <p:cNvPr id="10" name="TextBox 10"/>
            <p:cNvSpPr txBox="1"/>
            <p:nvPr/>
          </p:nvSpPr>
          <p:spPr>
            <a:xfrm>
              <a:off x="0" y="-28575"/>
              <a:ext cx="9763643" cy="547828"/>
            </a:xfrm>
            <a:prstGeom prst="rect">
              <a:avLst/>
            </a:prstGeom>
          </p:spPr>
          <p:txBody>
            <a:bodyPr lIns="0" tIns="0" rIns="0" bIns="0" rtlCol="0" anchor="ctr"/>
            <a:lstStyle/>
            <a:p>
              <a:pPr algn="ctr">
                <a:lnSpc>
                  <a:spcPts val="1559"/>
                </a:lnSpc>
              </a:pPr>
              <a:r>
                <a:rPr lang="en-US" sz="1299">
                  <a:solidFill>
                    <a:srgbClr val="888888"/>
                  </a:solidFill>
                  <a:latin typeface="Times New Roman"/>
                  <a:ea typeface="Times New Roman"/>
                  <a:cs typeface="Times New Roman"/>
                  <a:sym typeface="Times New Roman"/>
                </a:rPr>
                <a:t>Integrated Anti-Spoofing and Deepfake Detection System Using MobileNet and ResNeXt</a:t>
              </a:r>
            </a:p>
          </p:txBody>
        </p:sp>
      </p:grpSp>
      <p:grpSp>
        <p:nvGrpSpPr>
          <p:cNvPr id="11" name="Group 11"/>
          <p:cNvGrpSpPr/>
          <p:nvPr/>
        </p:nvGrpSpPr>
        <p:grpSpPr>
          <a:xfrm>
            <a:off x="535040" y="1361512"/>
            <a:ext cx="4341760" cy="389440"/>
            <a:chOff x="0" y="0"/>
            <a:chExt cx="5789013" cy="519253"/>
          </a:xfrm>
        </p:grpSpPr>
        <p:sp>
          <p:nvSpPr>
            <p:cNvPr id="12" name="Freeform 12"/>
            <p:cNvSpPr/>
            <p:nvPr/>
          </p:nvSpPr>
          <p:spPr>
            <a:xfrm>
              <a:off x="0" y="0"/>
              <a:ext cx="5789013" cy="519253"/>
            </a:xfrm>
            <a:custGeom>
              <a:avLst/>
              <a:gdLst/>
              <a:ahLst/>
              <a:cxnLst/>
              <a:rect l="l" t="t" r="r" b="b"/>
              <a:pathLst>
                <a:path w="5789013" h="519253">
                  <a:moveTo>
                    <a:pt x="0" y="0"/>
                  </a:moveTo>
                  <a:lnTo>
                    <a:pt x="5789013" y="0"/>
                  </a:lnTo>
                  <a:lnTo>
                    <a:pt x="5789013" y="519253"/>
                  </a:lnTo>
                  <a:lnTo>
                    <a:pt x="0" y="519253"/>
                  </a:lnTo>
                  <a:close/>
                </a:path>
              </a:pathLst>
            </a:custGeom>
            <a:solidFill>
              <a:srgbClr val="000000">
                <a:alpha val="0"/>
              </a:srgbClr>
            </a:solidFill>
          </p:spPr>
        </p:sp>
        <p:sp>
          <p:nvSpPr>
            <p:cNvPr id="13" name="TextBox 13"/>
            <p:cNvSpPr txBox="1"/>
            <p:nvPr/>
          </p:nvSpPr>
          <p:spPr>
            <a:xfrm>
              <a:off x="0" y="-38100"/>
              <a:ext cx="5789013" cy="557353"/>
            </a:xfrm>
            <a:prstGeom prst="rect">
              <a:avLst/>
            </a:prstGeom>
          </p:spPr>
          <p:txBody>
            <a:bodyPr lIns="0" tIns="0" rIns="0" bIns="0" rtlCol="0" anchor="ctr"/>
            <a:lstStyle/>
            <a:p>
              <a:pPr algn="l">
                <a:lnSpc>
                  <a:spcPts val="2279"/>
                </a:lnSpc>
              </a:pPr>
              <a:r>
                <a:rPr lang="en-US" sz="1899" b="1">
                  <a:solidFill>
                    <a:srgbClr val="000000"/>
                  </a:solidFill>
                  <a:latin typeface="Times New Roman Bold"/>
                  <a:ea typeface="Times New Roman Bold"/>
                  <a:cs typeface="Times New Roman Bold"/>
                  <a:sym typeface="Times New Roman Bold"/>
                </a:rPr>
                <a:t>UML DIAGRAMS</a:t>
              </a:r>
            </a:p>
          </p:txBody>
        </p:sp>
      </p:grpSp>
      <p:sp>
        <p:nvSpPr>
          <p:cNvPr id="14" name="Freeform 14"/>
          <p:cNvSpPr/>
          <p:nvPr/>
        </p:nvSpPr>
        <p:spPr>
          <a:xfrm>
            <a:off x="1715973" y="1750952"/>
            <a:ext cx="6321653" cy="4832728"/>
          </a:xfrm>
          <a:custGeom>
            <a:avLst/>
            <a:gdLst/>
            <a:ahLst/>
            <a:cxnLst/>
            <a:rect l="l" t="t" r="r" b="b"/>
            <a:pathLst>
              <a:path w="6321653" h="4832728">
                <a:moveTo>
                  <a:pt x="0" y="0"/>
                </a:moveTo>
                <a:lnTo>
                  <a:pt x="6321654" y="0"/>
                </a:lnTo>
                <a:lnTo>
                  <a:pt x="6321654" y="4832728"/>
                </a:lnTo>
                <a:lnTo>
                  <a:pt x="0" y="4832728"/>
                </a:lnTo>
                <a:lnTo>
                  <a:pt x="0" y="0"/>
                </a:lnTo>
                <a:close/>
              </a:path>
            </a:pathLst>
          </a:custGeom>
          <a:blipFill>
            <a:blip r:embed="rId3"/>
            <a:stretch>
              <a:fillRect l="-7" r="-7"/>
            </a:stretch>
          </a:blipFill>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70560" y="177057"/>
            <a:ext cx="8412480" cy="1269644"/>
            <a:chOff x="0" y="0"/>
            <a:chExt cx="11216640" cy="1692859"/>
          </a:xfrm>
        </p:grpSpPr>
        <p:sp>
          <p:nvSpPr>
            <p:cNvPr id="3" name="Freeform 3"/>
            <p:cNvSpPr/>
            <p:nvPr/>
          </p:nvSpPr>
          <p:spPr>
            <a:xfrm>
              <a:off x="0" y="0"/>
              <a:ext cx="11216640" cy="1692859"/>
            </a:xfrm>
            <a:custGeom>
              <a:avLst/>
              <a:gdLst/>
              <a:ahLst/>
              <a:cxnLst/>
              <a:rect l="l" t="t" r="r" b="b"/>
              <a:pathLst>
                <a:path w="11216640" h="1692859">
                  <a:moveTo>
                    <a:pt x="0" y="0"/>
                  </a:moveTo>
                  <a:lnTo>
                    <a:pt x="11216640" y="0"/>
                  </a:lnTo>
                  <a:lnTo>
                    <a:pt x="11216640" y="1692859"/>
                  </a:lnTo>
                  <a:lnTo>
                    <a:pt x="0" y="1692859"/>
                  </a:lnTo>
                  <a:close/>
                </a:path>
              </a:pathLst>
            </a:custGeom>
            <a:solidFill>
              <a:srgbClr val="000000">
                <a:alpha val="0"/>
              </a:srgbClr>
            </a:solidFill>
          </p:spPr>
        </p:sp>
        <p:sp>
          <p:nvSpPr>
            <p:cNvPr id="4" name="TextBox 4"/>
            <p:cNvSpPr txBox="1"/>
            <p:nvPr/>
          </p:nvSpPr>
          <p:spPr>
            <a:xfrm>
              <a:off x="0" y="-28575"/>
              <a:ext cx="11216640" cy="1721434"/>
            </a:xfrm>
            <a:prstGeom prst="rect">
              <a:avLst/>
            </a:prstGeom>
          </p:spPr>
          <p:txBody>
            <a:bodyPr lIns="0" tIns="0" rIns="0" bIns="0" rtlCol="0" anchor="ctr"/>
            <a:lstStyle/>
            <a:p>
              <a:pPr algn="ctr">
                <a:lnSpc>
                  <a:spcPts val="4147"/>
                </a:lnSpc>
              </a:pPr>
              <a:r>
                <a:rPr lang="en-US" sz="3840" b="1">
                  <a:solidFill>
                    <a:srgbClr val="7030A0"/>
                  </a:solidFill>
                  <a:latin typeface="Times New Roman Bold"/>
                  <a:ea typeface="Times New Roman Bold"/>
                  <a:cs typeface="Times New Roman Bold"/>
                  <a:sym typeface="Times New Roman Bold"/>
                </a:rPr>
                <a:t>SYSTEM DESIGN - FLOW CHART/DFD/ER </a:t>
              </a:r>
            </a:p>
          </p:txBody>
        </p:sp>
      </p:grpSp>
      <p:grpSp>
        <p:nvGrpSpPr>
          <p:cNvPr id="5" name="Group 5"/>
          <p:cNvGrpSpPr/>
          <p:nvPr/>
        </p:nvGrpSpPr>
        <p:grpSpPr>
          <a:xfrm>
            <a:off x="6888480" y="6780108"/>
            <a:ext cx="2194560" cy="389440"/>
            <a:chOff x="0" y="0"/>
            <a:chExt cx="2926080" cy="519253"/>
          </a:xfrm>
        </p:grpSpPr>
        <p:sp>
          <p:nvSpPr>
            <p:cNvPr id="6" name="Freeform 6"/>
            <p:cNvSpPr/>
            <p:nvPr/>
          </p:nvSpPr>
          <p:spPr>
            <a:xfrm>
              <a:off x="0" y="0"/>
              <a:ext cx="2926080" cy="519253"/>
            </a:xfrm>
            <a:custGeom>
              <a:avLst/>
              <a:gdLst/>
              <a:ahLst/>
              <a:cxnLst/>
              <a:rect l="l" t="t" r="r" b="b"/>
              <a:pathLst>
                <a:path w="2926080" h="519253">
                  <a:moveTo>
                    <a:pt x="0" y="0"/>
                  </a:moveTo>
                  <a:lnTo>
                    <a:pt x="2926080" y="0"/>
                  </a:lnTo>
                  <a:lnTo>
                    <a:pt x="2926080" y="519253"/>
                  </a:lnTo>
                  <a:lnTo>
                    <a:pt x="0" y="519253"/>
                  </a:lnTo>
                  <a:close/>
                </a:path>
              </a:pathLst>
            </a:custGeom>
            <a:solidFill>
              <a:srgbClr val="000000">
                <a:alpha val="0"/>
              </a:srgbClr>
            </a:solidFill>
          </p:spPr>
        </p:sp>
        <p:sp>
          <p:nvSpPr>
            <p:cNvPr id="7" name="TextBox 7"/>
            <p:cNvSpPr txBox="1"/>
            <p:nvPr/>
          </p:nvSpPr>
          <p:spPr>
            <a:xfrm>
              <a:off x="0" y="-28575"/>
              <a:ext cx="2926080" cy="547828"/>
            </a:xfrm>
            <a:prstGeom prst="rect">
              <a:avLst/>
            </a:prstGeom>
          </p:spPr>
          <p:txBody>
            <a:bodyPr lIns="0" tIns="0" rIns="0" bIns="0" rtlCol="0" anchor="ctr"/>
            <a:lstStyle/>
            <a:p>
              <a:pPr algn="r">
                <a:lnSpc>
                  <a:spcPts val="1791"/>
                </a:lnSpc>
              </a:pPr>
              <a:r>
                <a:rPr lang="en-US" sz="1493" b="1">
                  <a:solidFill>
                    <a:srgbClr val="000000"/>
                  </a:solidFill>
                  <a:latin typeface="Times New Roman Bold"/>
                  <a:ea typeface="Times New Roman Bold"/>
                  <a:cs typeface="Times New Roman Bold"/>
                  <a:sym typeface="Times New Roman Bold"/>
                </a:rPr>
                <a:t>17</a:t>
              </a:r>
            </a:p>
          </p:txBody>
        </p:sp>
      </p:grpSp>
      <p:grpSp>
        <p:nvGrpSpPr>
          <p:cNvPr id="8" name="Group 8"/>
          <p:cNvGrpSpPr/>
          <p:nvPr/>
        </p:nvGrpSpPr>
        <p:grpSpPr>
          <a:xfrm>
            <a:off x="1293440" y="6838791"/>
            <a:ext cx="7288063" cy="389440"/>
            <a:chOff x="0" y="0"/>
            <a:chExt cx="9717417" cy="519253"/>
          </a:xfrm>
        </p:grpSpPr>
        <p:sp>
          <p:nvSpPr>
            <p:cNvPr id="9" name="Freeform 9"/>
            <p:cNvSpPr/>
            <p:nvPr/>
          </p:nvSpPr>
          <p:spPr>
            <a:xfrm>
              <a:off x="0" y="0"/>
              <a:ext cx="9717418" cy="519253"/>
            </a:xfrm>
            <a:custGeom>
              <a:avLst/>
              <a:gdLst/>
              <a:ahLst/>
              <a:cxnLst/>
              <a:rect l="l" t="t" r="r" b="b"/>
              <a:pathLst>
                <a:path w="9717418" h="519253">
                  <a:moveTo>
                    <a:pt x="0" y="0"/>
                  </a:moveTo>
                  <a:lnTo>
                    <a:pt x="9717418" y="0"/>
                  </a:lnTo>
                  <a:lnTo>
                    <a:pt x="9717418" y="519253"/>
                  </a:lnTo>
                  <a:lnTo>
                    <a:pt x="0" y="519253"/>
                  </a:lnTo>
                  <a:close/>
                </a:path>
              </a:pathLst>
            </a:custGeom>
            <a:solidFill>
              <a:srgbClr val="000000">
                <a:alpha val="0"/>
              </a:srgbClr>
            </a:solidFill>
          </p:spPr>
        </p:sp>
        <p:sp>
          <p:nvSpPr>
            <p:cNvPr id="10" name="TextBox 10"/>
            <p:cNvSpPr txBox="1"/>
            <p:nvPr/>
          </p:nvSpPr>
          <p:spPr>
            <a:xfrm>
              <a:off x="0" y="-28575"/>
              <a:ext cx="9717417" cy="547828"/>
            </a:xfrm>
            <a:prstGeom prst="rect">
              <a:avLst/>
            </a:prstGeom>
          </p:spPr>
          <p:txBody>
            <a:bodyPr lIns="0" tIns="0" rIns="0" bIns="0" rtlCol="0" anchor="ctr"/>
            <a:lstStyle/>
            <a:p>
              <a:pPr algn="ctr">
                <a:lnSpc>
                  <a:spcPts val="1559"/>
                </a:lnSpc>
              </a:pPr>
              <a:r>
                <a:rPr lang="en-US" sz="1299">
                  <a:solidFill>
                    <a:srgbClr val="888888"/>
                  </a:solidFill>
                  <a:latin typeface="Times New Roman"/>
                  <a:ea typeface="Times New Roman"/>
                  <a:cs typeface="Times New Roman"/>
                  <a:sym typeface="Times New Roman"/>
                </a:rPr>
                <a:t>Integrated Anti-Spoofing and Deepfake Detection System Using MobileNet and ResNeXt</a:t>
              </a:r>
            </a:p>
          </p:txBody>
        </p:sp>
      </p:grpSp>
      <p:grpSp>
        <p:nvGrpSpPr>
          <p:cNvPr id="11" name="Group 11"/>
          <p:cNvGrpSpPr/>
          <p:nvPr/>
        </p:nvGrpSpPr>
        <p:grpSpPr>
          <a:xfrm>
            <a:off x="535040" y="1460221"/>
            <a:ext cx="4341760" cy="391025"/>
            <a:chOff x="0" y="0"/>
            <a:chExt cx="5789013" cy="521366"/>
          </a:xfrm>
        </p:grpSpPr>
        <p:sp>
          <p:nvSpPr>
            <p:cNvPr id="12" name="Freeform 12"/>
            <p:cNvSpPr/>
            <p:nvPr/>
          </p:nvSpPr>
          <p:spPr>
            <a:xfrm>
              <a:off x="0" y="0"/>
              <a:ext cx="5789013" cy="521366"/>
            </a:xfrm>
            <a:custGeom>
              <a:avLst/>
              <a:gdLst/>
              <a:ahLst/>
              <a:cxnLst/>
              <a:rect l="l" t="t" r="r" b="b"/>
              <a:pathLst>
                <a:path w="5789013" h="521366">
                  <a:moveTo>
                    <a:pt x="0" y="0"/>
                  </a:moveTo>
                  <a:lnTo>
                    <a:pt x="5789013" y="0"/>
                  </a:lnTo>
                  <a:lnTo>
                    <a:pt x="5789013" y="521366"/>
                  </a:lnTo>
                  <a:lnTo>
                    <a:pt x="0" y="521366"/>
                  </a:lnTo>
                  <a:close/>
                </a:path>
              </a:pathLst>
            </a:custGeom>
            <a:solidFill>
              <a:srgbClr val="000000">
                <a:alpha val="0"/>
              </a:srgbClr>
            </a:solidFill>
          </p:spPr>
        </p:sp>
        <p:sp>
          <p:nvSpPr>
            <p:cNvPr id="13" name="TextBox 13"/>
            <p:cNvSpPr txBox="1"/>
            <p:nvPr/>
          </p:nvSpPr>
          <p:spPr>
            <a:xfrm>
              <a:off x="0" y="-47625"/>
              <a:ext cx="5789013" cy="568991"/>
            </a:xfrm>
            <a:prstGeom prst="rect">
              <a:avLst/>
            </a:prstGeom>
          </p:spPr>
          <p:txBody>
            <a:bodyPr lIns="0" tIns="0" rIns="0" bIns="0" rtlCol="0" anchor="ctr"/>
            <a:lstStyle/>
            <a:p>
              <a:pPr algn="l">
                <a:lnSpc>
                  <a:spcPts val="2431"/>
                </a:lnSpc>
              </a:pPr>
              <a:r>
                <a:rPr lang="en-US" sz="2026" b="1">
                  <a:solidFill>
                    <a:srgbClr val="000000"/>
                  </a:solidFill>
                  <a:latin typeface="Times New Roman Bold"/>
                  <a:ea typeface="Times New Roman Bold"/>
                  <a:cs typeface="Times New Roman Bold"/>
                  <a:sym typeface="Times New Roman Bold"/>
                </a:rPr>
                <a:t>USE CASE DIAGRAMS</a:t>
              </a:r>
            </a:p>
          </p:txBody>
        </p:sp>
      </p:grpSp>
      <p:sp>
        <p:nvSpPr>
          <p:cNvPr id="14" name="Freeform 14"/>
          <p:cNvSpPr/>
          <p:nvPr/>
        </p:nvSpPr>
        <p:spPr>
          <a:xfrm>
            <a:off x="2220421" y="1839580"/>
            <a:ext cx="4853659" cy="4661966"/>
          </a:xfrm>
          <a:custGeom>
            <a:avLst/>
            <a:gdLst/>
            <a:ahLst/>
            <a:cxnLst/>
            <a:rect l="l" t="t" r="r" b="b"/>
            <a:pathLst>
              <a:path w="4853659" h="4661966">
                <a:moveTo>
                  <a:pt x="0" y="0"/>
                </a:moveTo>
                <a:lnTo>
                  <a:pt x="4853659" y="0"/>
                </a:lnTo>
                <a:lnTo>
                  <a:pt x="4853659" y="4661967"/>
                </a:lnTo>
                <a:lnTo>
                  <a:pt x="0" y="4661967"/>
                </a:lnTo>
                <a:lnTo>
                  <a:pt x="0" y="0"/>
                </a:lnTo>
                <a:close/>
              </a:path>
            </a:pathLst>
          </a:custGeom>
          <a:blipFill>
            <a:blip r:embed="rId3"/>
            <a:stretch>
              <a:fillRect l="-5234" r="-5234"/>
            </a:stretch>
          </a:blipFill>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83839" y="107378"/>
            <a:ext cx="9083040" cy="1248283"/>
            <a:chOff x="0" y="0"/>
            <a:chExt cx="12110720" cy="1664378"/>
          </a:xfrm>
        </p:grpSpPr>
        <p:sp>
          <p:nvSpPr>
            <p:cNvPr id="3" name="Freeform 3"/>
            <p:cNvSpPr/>
            <p:nvPr/>
          </p:nvSpPr>
          <p:spPr>
            <a:xfrm>
              <a:off x="0" y="0"/>
              <a:ext cx="12110720" cy="1664377"/>
            </a:xfrm>
            <a:custGeom>
              <a:avLst/>
              <a:gdLst/>
              <a:ahLst/>
              <a:cxnLst/>
              <a:rect l="l" t="t" r="r" b="b"/>
              <a:pathLst>
                <a:path w="12110720" h="1664377">
                  <a:moveTo>
                    <a:pt x="0" y="0"/>
                  </a:moveTo>
                  <a:lnTo>
                    <a:pt x="12110720" y="0"/>
                  </a:lnTo>
                  <a:lnTo>
                    <a:pt x="12110720" y="1664377"/>
                  </a:lnTo>
                  <a:lnTo>
                    <a:pt x="0" y="1664377"/>
                  </a:lnTo>
                  <a:close/>
                </a:path>
              </a:pathLst>
            </a:custGeom>
            <a:solidFill>
              <a:srgbClr val="000000">
                <a:alpha val="0"/>
              </a:srgbClr>
            </a:solidFill>
          </p:spPr>
        </p:sp>
        <p:sp>
          <p:nvSpPr>
            <p:cNvPr id="4" name="TextBox 4"/>
            <p:cNvSpPr txBox="1"/>
            <p:nvPr/>
          </p:nvSpPr>
          <p:spPr>
            <a:xfrm>
              <a:off x="0" y="-38100"/>
              <a:ext cx="12110720" cy="1702478"/>
            </a:xfrm>
            <a:prstGeom prst="rect">
              <a:avLst/>
            </a:prstGeom>
          </p:spPr>
          <p:txBody>
            <a:bodyPr lIns="0" tIns="0" rIns="0" bIns="0" rtlCol="0" anchor="ctr"/>
            <a:lstStyle/>
            <a:p>
              <a:pPr algn="ctr">
                <a:lnSpc>
                  <a:spcPts val="4104"/>
                </a:lnSpc>
              </a:pPr>
              <a:r>
                <a:rPr lang="en-US" sz="3800" b="1">
                  <a:solidFill>
                    <a:srgbClr val="7030A0"/>
                  </a:solidFill>
                  <a:latin typeface="Times New Roman Bold"/>
                  <a:ea typeface="Times New Roman Bold"/>
                  <a:cs typeface="Times New Roman Bold"/>
                  <a:sym typeface="Times New Roman Bold"/>
                </a:rPr>
                <a:t>SYSTEM DESIGN - FLOW CHART/DFD/ER </a:t>
              </a:r>
            </a:p>
          </p:txBody>
        </p:sp>
      </p:grpSp>
      <p:grpSp>
        <p:nvGrpSpPr>
          <p:cNvPr id="5" name="Group 5"/>
          <p:cNvGrpSpPr/>
          <p:nvPr/>
        </p:nvGrpSpPr>
        <p:grpSpPr>
          <a:xfrm>
            <a:off x="6888480" y="6780108"/>
            <a:ext cx="2194560" cy="389440"/>
            <a:chOff x="0" y="0"/>
            <a:chExt cx="2926080" cy="519253"/>
          </a:xfrm>
        </p:grpSpPr>
        <p:sp>
          <p:nvSpPr>
            <p:cNvPr id="6" name="Freeform 6"/>
            <p:cNvSpPr/>
            <p:nvPr/>
          </p:nvSpPr>
          <p:spPr>
            <a:xfrm>
              <a:off x="0" y="0"/>
              <a:ext cx="2926080" cy="519253"/>
            </a:xfrm>
            <a:custGeom>
              <a:avLst/>
              <a:gdLst/>
              <a:ahLst/>
              <a:cxnLst/>
              <a:rect l="l" t="t" r="r" b="b"/>
              <a:pathLst>
                <a:path w="2926080" h="519253">
                  <a:moveTo>
                    <a:pt x="0" y="0"/>
                  </a:moveTo>
                  <a:lnTo>
                    <a:pt x="2926080" y="0"/>
                  </a:lnTo>
                  <a:lnTo>
                    <a:pt x="2926080" y="519253"/>
                  </a:lnTo>
                  <a:lnTo>
                    <a:pt x="0" y="519253"/>
                  </a:lnTo>
                  <a:close/>
                </a:path>
              </a:pathLst>
            </a:custGeom>
            <a:solidFill>
              <a:srgbClr val="000000">
                <a:alpha val="0"/>
              </a:srgbClr>
            </a:solidFill>
          </p:spPr>
        </p:sp>
        <p:sp>
          <p:nvSpPr>
            <p:cNvPr id="7" name="TextBox 7"/>
            <p:cNvSpPr txBox="1"/>
            <p:nvPr/>
          </p:nvSpPr>
          <p:spPr>
            <a:xfrm>
              <a:off x="0" y="-28575"/>
              <a:ext cx="2926080" cy="547828"/>
            </a:xfrm>
            <a:prstGeom prst="rect">
              <a:avLst/>
            </a:prstGeom>
          </p:spPr>
          <p:txBody>
            <a:bodyPr lIns="0" tIns="0" rIns="0" bIns="0" rtlCol="0" anchor="ctr"/>
            <a:lstStyle/>
            <a:p>
              <a:pPr algn="r">
                <a:lnSpc>
                  <a:spcPts val="1791"/>
                </a:lnSpc>
              </a:pPr>
              <a:r>
                <a:rPr lang="en-US" sz="1493" b="1">
                  <a:solidFill>
                    <a:srgbClr val="000000"/>
                  </a:solidFill>
                  <a:latin typeface="Times New Roman Bold"/>
                  <a:ea typeface="Times New Roman Bold"/>
                  <a:cs typeface="Times New Roman Bold"/>
                  <a:sym typeface="Times New Roman Bold"/>
                </a:rPr>
                <a:t>18</a:t>
              </a:r>
            </a:p>
          </p:txBody>
        </p:sp>
      </p:grpSp>
      <p:grpSp>
        <p:nvGrpSpPr>
          <p:cNvPr id="8" name="Group 8"/>
          <p:cNvGrpSpPr/>
          <p:nvPr/>
        </p:nvGrpSpPr>
        <p:grpSpPr>
          <a:xfrm>
            <a:off x="1094654" y="6837197"/>
            <a:ext cx="7461410" cy="389440"/>
            <a:chOff x="0" y="0"/>
            <a:chExt cx="9948547" cy="519253"/>
          </a:xfrm>
        </p:grpSpPr>
        <p:sp>
          <p:nvSpPr>
            <p:cNvPr id="9" name="Freeform 9"/>
            <p:cNvSpPr/>
            <p:nvPr/>
          </p:nvSpPr>
          <p:spPr>
            <a:xfrm>
              <a:off x="0" y="0"/>
              <a:ext cx="9948547" cy="519253"/>
            </a:xfrm>
            <a:custGeom>
              <a:avLst/>
              <a:gdLst/>
              <a:ahLst/>
              <a:cxnLst/>
              <a:rect l="l" t="t" r="r" b="b"/>
              <a:pathLst>
                <a:path w="9948547" h="519253">
                  <a:moveTo>
                    <a:pt x="0" y="0"/>
                  </a:moveTo>
                  <a:lnTo>
                    <a:pt x="9948547" y="0"/>
                  </a:lnTo>
                  <a:lnTo>
                    <a:pt x="9948547" y="519253"/>
                  </a:lnTo>
                  <a:lnTo>
                    <a:pt x="0" y="519253"/>
                  </a:lnTo>
                  <a:close/>
                </a:path>
              </a:pathLst>
            </a:custGeom>
            <a:solidFill>
              <a:srgbClr val="000000">
                <a:alpha val="0"/>
              </a:srgbClr>
            </a:solidFill>
          </p:spPr>
        </p:sp>
        <p:sp>
          <p:nvSpPr>
            <p:cNvPr id="10" name="TextBox 10"/>
            <p:cNvSpPr txBox="1"/>
            <p:nvPr/>
          </p:nvSpPr>
          <p:spPr>
            <a:xfrm>
              <a:off x="0" y="-28575"/>
              <a:ext cx="9948547" cy="547828"/>
            </a:xfrm>
            <a:prstGeom prst="rect">
              <a:avLst/>
            </a:prstGeom>
          </p:spPr>
          <p:txBody>
            <a:bodyPr lIns="0" tIns="0" rIns="0" bIns="0" rtlCol="0" anchor="ctr"/>
            <a:lstStyle/>
            <a:p>
              <a:pPr algn="ctr">
                <a:lnSpc>
                  <a:spcPts val="1559"/>
                </a:lnSpc>
              </a:pPr>
              <a:r>
                <a:rPr lang="en-US" sz="1299">
                  <a:solidFill>
                    <a:srgbClr val="888888"/>
                  </a:solidFill>
                  <a:latin typeface="Times New Roman"/>
                  <a:ea typeface="Times New Roman"/>
                  <a:cs typeface="Times New Roman"/>
                  <a:sym typeface="Times New Roman"/>
                </a:rPr>
                <a:t>Integrated Anti-Spoofing and Deepfake Detection System Using MobileNet and ResNeXt</a:t>
              </a:r>
            </a:p>
          </p:txBody>
        </p:sp>
      </p:grpSp>
      <p:grpSp>
        <p:nvGrpSpPr>
          <p:cNvPr id="11" name="Group 11"/>
          <p:cNvGrpSpPr/>
          <p:nvPr/>
        </p:nvGrpSpPr>
        <p:grpSpPr>
          <a:xfrm>
            <a:off x="379027" y="1293973"/>
            <a:ext cx="4341760" cy="391025"/>
            <a:chOff x="0" y="0"/>
            <a:chExt cx="5789013" cy="521366"/>
          </a:xfrm>
        </p:grpSpPr>
        <p:sp>
          <p:nvSpPr>
            <p:cNvPr id="12" name="Freeform 12"/>
            <p:cNvSpPr/>
            <p:nvPr/>
          </p:nvSpPr>
          <p:spPr>
            <a:xfrm>
              <a:off x="0" y="0"/>
              <a:ext cx="5789013" cy="521366"/>
            </a:xfrm>
            <a:custGeom>
              <a:avLst/>
              <a:gdLst/>
              <a:ahLst/>
              <a:cxnLst/>
              <a:rect l="l" t="t" r="r" b="b"/>
              <a:pathLst>
                <a:path w="5789013" h="521366">
                  <a:moveTo>
                    <a:pt x="0" y="0"/>
                  </a:moveTo>
                  <a:lnTo>
                    <a:pt x="5789013" y="0"/>
                  </a:lnTo>
                  <a:lnTo>
                    <a:pt x="5789013" y="521366"/>
                  </a:lnTo>
                  <a:lnTo>
                    <a:pt x="0" y="521366"/>
                  </a:lnTo>
                  <a:close/>
                </a:path>
              </a:pathLst>
            </a:custGeom>
            <a:solidFill>
              <a:srgbClr val="000000">
                <a:alpha val="0"/>
              </a:srgbClr>
            </a:solidFill>
          </p:spPr>
        </p:sp>
        <p:sp>
          <p:nvSpPr>
            <p:cNvPr id="13" name="TextBox 13"/>
            <p:cNvSpPr txBox="1"/>
            <p:nvPr/>
          </p:nvSpPr>
          <p:spPr>
            <a:xfrm>
              <a:off x="0" y="-47625"/>
              <a:ext cx="5789013" cy="568991"/>
            </a:xfrm>
            <a:prstGeom prst="rect">
              <a:avLst/>
            </a:prstGeom>
          </p:spPr>
          <p:txBody>
            <a:bodyPr lIns="0" tIns="0" rIns="0" bIns="0" rtlCol="0" anchor="ctr"/>
            <a:lstStyle/>
            <a:p>
              <a:pPr algn="l">
                <a:lnSpc>
                  <a:spcPts val="2431"/>
                </a:lnSpc>
              </a:pPr>
              <a:r>
                <a:rPr lang="en-US" sz="2026" b="1">
                  <a:solidFill>
                    <a:srgbClr val="000000"/>
                  </a:solidFill>
                  <a:latin typeface="Times New Roman Bold"/>
                  <a:ea typeface="Times New Roman Bold"/>
                  <a:cs typeface="Times New Roman Bold"/>
                  <a:sym typeface="Times New Roman Bold"/>
                </a:rPr>
                <a:t>ACTIVITY DIAGRAMS</a:t>
              </a:r>
            </a:p>
          </p:txBody>
        </p:sp>
      </p:grpSp>
      <p:sp>
        <p:nvSpPr>
          <p:cNvPr id="14" name="Freeform 14"/>
          <p:cNvSpPr/>
          <p:nvPr/>
        </p:nvSpPr>
        <p:spPr>
          <a:xfrm>
            <a:off x="3056928" y="1871286"/>
            <a:ext cx="3831552" cy="4526228"/>
          </a:xfrm>
          <a:custGeom>
            <a:avLst/>
            <a:gdLst/>
            <a:ahLst/>
            <a:cxnLst/>
            <a:rect l="l" t="t" r="r" b="b"/>
            <a:pathLst>
              <a:path w="3831552" h="4526228">
                <a:moveTo>
                  <a:pt x="0" y="0"/>
                </a:moveTo>
                <a:lnTo>
                  <a:pt x="3831552" y="0"/>
                </a:lnTo>
                <a:lnTo>
                  <a:pt x="3831552" y="4526228"/>
                </a:lnTo>
                <a:lnTo>
                  <a:pt x="0" y="4526228"/>
                </a:lnTo>
                <a:lnTo>
                  <a:pt x="0" y="0"/>
                </a:lnTo>
                <a:close/>
              </a:path>
            </a:pathLst>
          </a:custGeom>
          <a:blipFill>
            <a:blip r:embed="rId3"/>
            <a:stretch>
              <a:fillRect t="-462" r="-8058" b="-462"/>
            </a:stretch>
          </a:blipFill>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70560" y="4343"/>
            <a:ext cx="8412480" cy="1248283"/>
            <a:chOff x="0" y="0"/>
            <a:chExt cx="11216640" cy="1664378"/>
          </a:xfrm>
        </p:grpSpPr>
        <p:sp>
          <p:nvSpPr>
            <p:cNvPr id="3" name="Freeform 3"/>
            <p:cNvSpPr/>
            <p:nvPr/>
          </p:nvSpPr>
          <p:spPr>
            <a:xfrm>
              <a:off x="0" y="0"/>
              <a:ext cx="11216640" cy="1664377"/>
            </a:xfrm>
            <a:custGeom>
              <a:avLst/>
              <a:gdLst/>
              <a:ahLst/>
              <a:cxnLst/>
              <a:rect l="l" t="t" r="r" b="b"/>
              <a:pathLst>
                <a:path w="11216640" h="1664377">
                  <a:moveTo>
                    <a:pt x="0" y="0"/>
                  </a:moveTo>
                  <a:lnTo>
                    <a:pt x="11216640" y="0"/>
                  </a:lnTo>
                  <a:lnTo>
                    <a:pt x="11216640" y="1664377"/>
                  </a:lnTo>
                  <a:lnTo>
                    <a:pt x="0" y="1664377"/>
                  </a:lnTo>
                  <a:close/>
                </a:path>
              </a:pathLst>
            </a:custGeom>
            <a:solidFill>
              <a:srgbClr val="000000">
                <a:alpha val="0"/>
              </a:srgbClr>
            </a:solidFill>
          </p:spPr>
        </p:sp>
        <p:sp>
          <p:nvSpPr>
            <p:cNvPr id="4" name="TextBox 4"/>
            <p:cNvSpPr txBox="1"/>
            <p:nvPr/>
          </p:nvSpPr>
          <p:spPr>
            <a:xfrm>
              <a:off x="0" y="-38100"/>
              <a:ext cx="11216640" cy="1702478"/>
            </a:xfrm>
            <a:prstGeom prst="rect">
              <a:avLst/>
            </a:prstGeom>
          </p:spPr>
          <p:txBody>
            <a:bodyPr lIns="0" tIns="0" rIns="0" bIns="0" rtlCol="0" anchor="ctr"/>
            <a:lstStyle/>
            <a:p>
              <a:pPr algn="ctr">
                <a:lnSpc>
                  <a:spcPts val="4104"/>
                </a:lnSpc>
              </a:pPr>
              <a:r>
                <a:rPr lang="en-US" sz="3800" b="1">
                  <a:solidFill>
                    <a:srgbClr val="7030A0"/>
                  </a:solidFill>
                  <a:latin typeface="Times New Roman Bold"/>
                  <a:ea typeface="Times New Roman Bold"/>
                  <a:cs typeface="Times New Roman Bold"/>
                  <a:sym typeface="Times New Roman Bold"/>
                </a:rPr>
                <a:t>SYSTEM DESIGN - FLOW CHART/DFD/ER </a:t>
              </a:r>
            </a:p>
          </p:txBody>
        </p:sp>
      </p:grpSp>
      <p:grpSp>
        <p:nvGrpSpPr>
          <p:cNvPr id="5" name="Group 5"/>
          <p:cNvGrpSpPr/>
          <p:nvPr/>
        </p:nvGrpSpPr>
        <p:grpSpPr>
          <a:xfrm>
            <a:off x="6888480" y="6780108"/>
            <a:ext cx="2194560" cy="389440"/>
            <a:chOff x="0" y="0"/>
            <a:chExt cx="2926080" cy="519253"/>
          </a:xfrm>
        </p:grpSpPr>
        <p:sp>
          <p:nvSpPr>
            <p:cNvPr id="6" name="Freeform 6"/>
            <p:cNvSpPr/>
            <p:nvPr/>
          </p:nvSpPr>
          <p:spPr>
            <a:xfrm>
              <a:off x="0" y="0"/>
              <a:ext cx="2926080" cy="519253"/>
            </a:xfrm>
            <a:custGeom>
              <a:avLst/>
              <a:gdLst/>
              <a:ahLst/>
              <a:cxnLst/>
              <a:rect l="l" t="t" r="r" b="b"/>
              <a:pathLst>
                <a:path w="2926080" h="519253">
                  <a:moveTo>
                    <a:pt x="0" y="0"/>
                  </a:moveTo>
                  <a:lnTo>
                    <a:pt x="2926080" y="0"/>
                  </a:lnTo>
                  <a:lnTo>
                    <a:pt x="2926080" y="519253"/>
                  </a:lnTo>
                  <a:lnTo>
                    <a:pt x="0" y="519253"/>
                  </a:lnTo>
                  <a:close/>
                </a:path>
              </a:pathLst>
            </a:custGeom>
            <a:solidFill>
              <a:srgbClr val="000000">
                <a:alpha val="0"/>
              </a:srgbClr>
            </a:solidFill>
          </p:spPr>
        </p:sp>
        <p:sp>
          <p:nvSpPr>
            <p:cNvPr id="7" name="TextBox 7"/>
            <p:cNvSpPr txBox="1"/>
            <p:nvPr/>
          </p:nvSpPr>
          <p:spPr>
            <a:xfrm>
              <a:off x="0" y="-28575"/>
              <a:ext cx="2926080" cy="547828"/>
            </a:xfrm>
            <a:prstGeom prst="rect">
              <a:avLst/>
            </a:prstGeom>
          </p:spPr>
          <p:txBody>
            <a:bodyPr lIns="0" tIns="0" rIns="0" bIns="0" rtlCol="0" anchor="ctr"/>
            <a:lstStyle/>
            <a:p>
              <a:pPr algn="r">
                <a:lnSpc>
                  <a:spcPts val="1791"/>
                </a:lnSpc>
              </a:pPr>
              <a:r>
                <a:rPr lang="en-US" sz="1493" b="1">
                  <a:solidFill>
                    <a:srgbClr val="000000"/>
                  </a:solidFill>
                  <a:latin typeface="Times New Roman Bold"/>
                  <a:ea typeface="Times New Roman Bold"/>
                  <a:cs typeface="Times New Roman Bold"/>
                  <a:sym typeface="Times New Roman Bold"/>
                </a:rPr>
                <a:t>19</a:t>
              </a:r>
            </a:p>
          </p:txBody>
        </p:sp>
      </p:grpSp>
      <p:grpSp>
        <p:nvGrpSpPr>
          <p:cNvPr id="8" name="Group 8"/>
          <p:cNvGrpSpPr/>
          <p:nvPr/>
        </p:nvGrpSpPr>
        <p:grpSpPr>
          <a:xfrm>
            <a:off x="1096860" y="6780108"/>
            <a:ext cx="7340067" cy="316306"/>
            <a:chOff x="0" y="0"/>
            <a:chExt cx="9786756" cy="421741"/>
          </a:xfrm>
        </p:grpSpPr>
        <p:sp>
          <p:nvSpPr>
            <p:cNvPr id="9" name="Freeform 9"/>
            <p:cNvSpPr/>
            <p:nvPr/>
          </p:nvSpPr>
          <p:spPr>
            <a:xfrm>
              <a:off x="0" y="0"/>
              <a:ext cx="9786756" cy="421741"/>
            </a:xfrm>
            <a:custGeom>
              <a:avLst/>
              <a:gdLst/>
              <a:ahLst/>
              <a:cxnLst/>
              <a:rect l="l" t="t" r="r" b="b"/>
              <a:pathLst>
                <a:path w="9786756" h="421741">
                  <a:moveTo>
                    <a:pt x="0" y="0"/>
                  </a:moveTo>
                  <a:lnTo>
                    <a:pt x="9786756" y="0"/>
                  </a:lnTo>
                  <a:lnTo>
                    <a:pt x="9786756" y="421741"/>
                  </a:lnTo>
                  <a:lnTo>
                    <a:pt x="0" y="421741"/>
                  </a:lnTo>
                  <a:close/>
                </a:path>
              </a:pathLst>
            </a:custGeom>
            <a:solidFill>
              <a:srgbClr val="000000">
                <a:alpha val="0"/>
              </a:srgbClr>
            </a:solidFill>
          </p:spPr>
        </p:sp>
        <p:sp>
          <p:nvSpPr>
            <p:cNvPr id="10" name="TextBox 10"/>
            <p:cNvSpPr txBox="1"/>
            <p:nvPr/>
          </p:nvSpPr>
          <p:spPr>
            <a:xfrm>
              <a:off x="0" y="-28575"/>
              <a:ext cx="9786756" cy="450316"/>
            </a:xfrm>
            <a:prstGeom prst="rect">
              <a:avLst/>
            </a:prstGeom>
          </p:spPr>
          <p:txBody>
            <a:bodyPr lIns="0" tIns="0" rIns="0" bIns="0" rtlCol="0" anchor="ctr"/>
            <a:lstStyle/>
            <a:p>
              <a:pPr algn="ctr">
                <a:lnSpc>
                  <a:spcPts val="1559"/>
                </a:lnSpc>
              </a:pPr>
              <a:r>
                <a:rPr lang="en-US" sz="1299">
                  <a:solidFill>
                    <a:srgbClr val="888888"/>
                  </a:solidFill>
                  <a:latin typeface="Times New Roman"/>
                  <a:ea typeface="Times New Roman"/>
                  <a:cs typeface="Times New Roman"/>
                  <a:sym typeface="Times New Roman"/>
                </a:rPr>
                <a:t>Integrated Anti-Spoofing and Deepfake Detection System Using MobileNet and ResNeXt</a:t>
              </a:r>
            </a:p>
          </p:txBody>
        </p:sp>
      </p:grpSp>
      <p:grpSp>
        <p:nvGrpSpPr>
          <p:cNvPr id="11" name="Group 11"/>
          <p:cNvGrpSpPr/>
          <p:nvPr/>
        </p:nvGrpSpPr>
        <p:grpSpPr>
          <a:xfrm>
            <a:off x="425134" y="1425340"/>
            <a:ext cx="4341760" cy="389440"/>
            <a:chOff x="0" y="0"/>
            <a:chExt cx="5789013" cy="519253"/>
          </a:xfrm>
        </p:grpSpPr>
        <p:sp>
          <p:nvSpPr>
            <p:cNvPr id="12" name="Freeform 12"/>
            <p:cNvSpPr/>
            <p:nvPr/>
          </p:nvSpPr>
          <p:spPr>
            <a:xfrm>
              <a:off x="0" y="0"/>
              <a:ext cx="5789013" cy="519253"/>
            </a:xfrm>
            <a:custGeom>
              <a:avLst/>
              <a:gdLst/>
              <a:ahLst/>
              <a:cxnLst/>
              <a:rect l="l" t="t" r="r" b="b"/>
              <a:pathLst>
                <a:path w="5789013" h="519253">
                  <a:moveTo>
                    <a:pt x="0" y="0"/>
                  </a:moveTo>
                  <a:lnTo>
                    <a:pt x="5789013" y="0"/>
                  </a:lnTo>
                  <a:lnTo>
                    <a:pt x="5789013" y="519253"/>
                  </a:lnTo>
                  <a:lnTo>
                    <a:pt x="0" y="519253"/>
                  </a:lnTo>
                  <a:close/>
                </a:path>
              </a:pathLst>
            </a:custGeom>
            <a:solidFill>
              <a:srgbClr val="000000">
                <a:alpha val="0"/>
              </a:srgbClr>
            </a:solidFill>
          </p:spPr>
        </p:sp>
        <p:sp>
          <p:nvSpPr>
            <p:cNvPr id="13" name="TextBox 13"/>
            <p:cNvSpPr txBox="1"/>
            <p:nvPr/>
          </p:nvSpPr>
          <p:spPr>
            <a:xfrm>
              <a:off x="0" y="-38100"/>
              <a:ext cx="5789013" cy="557353"/>
            </a:xfrm>
            <a:prstGeom prst="rect">
              <a:avLst/>
            </a:prstGeom>
          </p:spPr>
          <p:txBody>
            <a:bodyPr lIns="0" tIns="0" rIns="0" bIns="0" rtlCol="0" anchor="ctr"/>
            <a:lstStyle/>
            <a:p>
              <a:pPr algn="l">
                <a:lnSpc>
                  <a:spcPts val="2279"/>
                </a:lnSpc>
              </a:pPr>
              <a:r>
                <a:rPr lang="en-US" sz="1899" b="1">
                  <a:solidFill>
                    <a:srgbClr val="000000"/>
                  </a:solidFill>
                  <a:latin typeface="Times New Roman Bold"/>
                  <a:ea typeface="Times New Roman Bold"/>
                  <a:cs typeface="Times New Roman Bold"/>
                  <a:sym typeface="Times New Roman Bold"/>
                </a:rPr>
                <a:t>SEQUENCE DIAGRAMS</a:t>
              </a:r>
            </a:p>
          </p:txBody>
        </p:sp>
      </p:grpSp>
      <p:sp>
        <p:nvSpPr>
          <p:cNvPr id="14" name="Freeform 14"/>
          <p:cNvSpPr/>
          <p:nvPr/>
        </p:nvSpPr>
        <p:spPr>
          <a:xfrm>
            <a:off x="1548028" y="1958960"/>
            <a:ext cx="6437732" cy="4156160"/>
          </a:xfrm>
          <a:custGeom>
            <a:avLst/>
            <a:gdLst/>
            <a:ahLst/>
            <a:cxnLst/>
            <a:rect l="l" t="t" r="r" b="b"/>
            <a:pathLst>
              <a:path w="6437732" h="4156160">
                <a:moveTo>
                  <a:pt x="0" y="0"/>
                </a:moveTo>
                <a:lnTo>
                  <a:pt x="6437732" y="0"/>
                </a:lnTo>
                <a:lnTo>
                  <a:pt x="6437732" y="4156160"/>
                </a:lnTo>
                <a:lnTo>
                  <a:pt x="0" y="4156160"/>
                </a:lnTo>
                <a:lnTo>
                  <a:pt x="0" y="0"/>
                </a:lnTo>
                <a:close/>
              </a:path>
            </a:pathLst>
          </a:custGeom>
          <a:blipFill>
            <a:blip r:embed="rId3"/>
            <a:stretch>
              <a:fillRect t="-65" b="-65"/>
            </a:stretch>
          </a:blipFill>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70560" y="177057"/>
            <a:ext cx="8412480" cy="733933"/>
            <a:chOff x="0" y="0"/>
            <a:chExt cx="11216640" cy="978578"/>
          </a:xfrm>
        </p:grpSpPr>
        <p:sp>
          <p:nvSpPr>
            <p:cNvPr id="3" name="Freeform 3"/>
            <p:cNvSpPr/>
            <p:nvPr/>
          </p:nvSpPr>
          <p:spPr>
            <a:xfrm>
              <a:off x="0" y="0"/>
              <a:ext cx="11216640" cy="978578"/>
            </a:xfrm>
            <a:custGeom>
              <a:avLst/>
              <a:gdLst/>
              <a:ahLst/>
              <a:cxnLst/>
              <a:rect l="l" t="t" r="r" b="b"/>
              <a:pathLst>
                <a:path w="11216640" h="978578">
                  <a:moveTo>
                    <a:pt x="0" y="0"/>
                  </a:moveTo>
                  <a:lnTo>
                    <a:pt x="11216640" y="0"/>
                  </a:lnTo>
                  <a:lnTo>
                    <a:pt x="11216640" y="978578"/>
                  </a:lnTo>
                  <a:lnTo>
                    <a:pt x="0" y="978578"/>
                  </a:lnTo>
                  <a:close/>
                </a:path>
              </a:pathLst>
            </a:custGeom>
            <a:solidFill>
              <a:srgbClr val="000000">
                <a:alpha val="0"/>
              </a:srgbClr>
            </a:solidFill>
          </p:spPr>
        </p:sp>
        <p:sp>
          <p:nvSpPr>
            <p:cNvPr id="4" name="TextBox 4"/>
            <p:cNvSpPr txBox="1"/>
            <p:nvPr/>
          </p:nvSpPr>
          <p:spPr>
            <a:xfrm>
              <a:off x="0" y="-38100"/>
              <a:ext cx="11216640" cy="1016678"/>
            </a:xfrm>
            <a:prstGeom prst="rect">
              <a:avLst/>
            </a:prstGeom>
          </p:spPr>
          <p:txBody>
            <a:bodyPr lIns="0" tIns="0" rIns="0" bIns="0" rtlCol="0" anchor="ctr"/>
            <a:lstStyle/>
            <a:p>
              <a:pPr algn="ctr">
                <a:lnSpc>
                  <a:spcPts val="4104"/>
                </a:lnSpc>
              </a:pPr>
              <a:r>
                <a:rPr lang="en-US" sz="3800" b="1">
                  <a:solidFill>
                    <a:srgbClr val="7030A0"/>
                  </a:solidFill>
                  <a:latin typeface="Times New Roman Bold"/>
                  <a:ea typeface="Times New Roman Bold"/>
                  <a:cs typeface="Times New Roman Bold"/>
                  <a:sym typeface="Times New Roman Bold"/>
                </a:rPr>
                <a:t>MODULE DESCRIPTION</a:t>
              </a:r>
            </a:p>
          </p:txBody>
        </p:sp>
      </p:grpSp>
      <p:grpSp>
        <p:nvGrpSpPr>
          <p:cNvPr id="5" name="Group 5"/>
          <p:cNvGrpSpPr/>
          <p:nvPr/>
        </p:nvGrpSpPr>
        <p:grpSpPr>
          <a:xfrm>
            <a:off x="6888480" y="6780108"/>
            <a:ext cx="2194560" cy="389467"/>
            <a:chOff x="0" y="0"/>
            <a:chExt cx="2926080" cy="519289"/>
          </a:xfrm>
        </p:grpSpPr>
        <p:sp>
          <p:nvSpPr>
            <p:cNvPr id="6" name="Freeform 6"/>
            <p:cNvSpPr/>
            <p:nvPr/>
          </p:nvSpPr>
          <p:spPr>
            <a:xfrm>
              <a:off x="0" y="0"/>
              <a:ext cx="2926080" cy="519289"/>
            </a:xfrm>
            <a:custGeom>
              <a:avLst/>
              <a:gdLst/>
              <a:ahLst/>
              <a:cxnLst/>
              <a:rect l="l" t="t" r="r" b="b"/>
              <a:pathLst>
                <a:path w="2926080" h="519289">
                  <a:moveTo>
                    <a:pt x="0" y="0"/>
                  </a:moveTo>
                  <a:lnTo>
                    <a:pt x="2926080" y="0"/>
                  </a:lnTo>
                  <a:lnTo>
                    <a:pt x="2926080" y="519289"/>
                  </a:lnTo>
                  <a:lnTo>
                    <a:pt x="0" y="519289"/>
                  </a:lnTo>
                  <a:close/>
                </a:path>
              </a:pathLst>
            </a:custGeom>
            <a:solidFill>
              <a:srgbClr val="000000">
                <a:alpha val="0"/>
              </a:srgbClr>
            </a:solidFill>
          </p:spPr>
        </p:sp>
        <p:sp>
          <p:nvSpPr>
            <p:cNvPr id="7" name="TextBox 7"/>
            <p:cNvSpPr txBox="1"/>
            <p:nvPr/>
          </p:nvSpPr>
          <p:spPr>
            <a:xfrm>
              <a:off x="0" y="-28575"/>
              <a:ext cx="2926080" cy="547864"/>
            </a:xfrm>
            <a:prstGeom prst="rect">
              <a:avLst/>
            </a:prstGeom>
          </p:spPr>
          <p:txBody>
            <a:bodyPr lIns="0" tIns="0" rIns="0" bIns="0" rtlCol="0" anchor="ctr"/>
            <a:lstStyle/>
            <a:p>
              <a:pPr algn="r">
                <a:lnSpc>
                  <a:spcPts val="1535"/>
                </a:lnSpc>
              </a:pPr>
              <a:r>
                <a:rPr lang="en-US" sz="1279">
                  <a:solidFill>
                    <a:srgbClr val="888888"/>
                  </a:solidFill>
                  <a:latin typeface="Times New Roman"/>
                  <a:ea typeface="Times New Roman"/>
                  <a:cs typeface="Times New Roman"/>
                  <a:sym typeface="Times New Roman"/>
                </a:rPr>
                <a:t>20</a:t>
              </a:r>
            </a:p>
          </p:txBody>
        </p:sp>
      </p:grpSp>
      <p:grpSp>
        <p:nvGrpSpPr>
          <p:cNvPr id="8" name="Group 8"/>
          <p:cNvGrpSpPr/>
          <p:nvPr/>
        </p:nvGrpSpPr>
        <p:grpSpPr>
          <a:xfrm>
            <a:off x="956871" y="6782007"/>
            <a:ext cx="7540579" cy="476409"/>
            <a:chOff x="0" y="0"/>
            <a:chExt cx="10054105" cy="635212"/>
          </a:xfrm>
        </p:grpSpPr>
        <p:sp>
          <p:nvSpPr>
            <p:cNvPr id="9" name="Freeform 9"/>
            <p:cNvSpPr/>
            <p:nvPr/>
          </p:nvSpPr>
          <p:spPr>
            <a:xfrm>
              <a:off x="0" y="0"/>
              <a:ext cx="10054105" cy="635212"/>
            </a:xfrm>
            <a:custGeom>
              <a:avLst/>
              <a:gdLst/>
              <a:ahLst/>
              <a:cxnLst/>
              <a:rect l="l" t="t" r="r" b="b"/>
              <a:pathLst>
                <a:path w="10054105" h="635212">
                  <a:moveTo>
                    <a:pt x="0" y="0"/>
                  </a:moveTo>
                  <a:lnTo>
                    <a:pt x="10054105" y="0"/>
                  </a:lnTo>
                  <a:lnTo>
                    <a:pt x="10054105" y="635212"/>
                  </a:lnTo>
                  <a:lnTo>
                    <a:pt x="0" y="635212"/>
                  </a:lnTo>
                  <a:close/>
                </a:path>
              </a:pathLst>
            </a:custGeom>
            <a:solidFill>
              <a:srgbClr val="000000">
                <a:alpha val="0"/>
              </a:srgbClr>
            </a:solidFill>
          </p:spPr>
        </p:sp>
        <p:sp>
          <p:nvSpPr>
            <p:cNvPr id="10" name="TextBox 10"/>
            <p:cNvSpPr txBox="1"/>
            <p:nvPr/>
          </p:nvSpPr>
          <p:spPr>
            <a:xfrm>
              <a:off x="0" y="-28575"/>
              <a:ext cx="10054105" cy="663787"/>
            </a:xfrm>
            <a:prstGeom prst="rect">
              <a:avLst/>
            </a:prstGeom>
          </p:spPr>
          <p:txBody>
            <a:bodyPr lIns="0" tIns="0" rIns="0" bIns="0" rtlCol="0" anchor="ctr"/>
            <a:lstStyle/>
            <a:p>
              <a:pPr algn="ctr">
                <a:lnSpc>
                  <a:spcPts val="1559"/>
                </a:lnSpc>
              </a:pPr>
              <a:r>
                <a:rPr lang="en-US" sz="1299">
                  <a:solidFill>
                    <a:srgbClr val="888888"/>
                  </a:solidFill>
                  <a:latin typeface="Times New Roman"/>
                  <a:ea typeface="Times New Roman"/>
                  <a:cs typeface="Times New Roman"/>
                  <a:sym typeface="Times New Roman"/>
                </a:rPr>
                <a:t>Integrated Anti-Spoofing and Deepfake Detection System Using MobileNet and ResNeXt</a:t>
              </a:r>
            </a:p>
          </p:txBody>
        </p:sp>
      </p:grpSp>
      <p:grpSp>
        <p:nvGrpSpPr>
          <p:cNvPr id="11" name="Group 11"/>
          <p:cNvGrpSpPr/>
          <p:nvPr/>
        </p:nvGrpSpPr>
        <p:grpSpPr>
          <a:xfrm>
            <a:off x="471840" y="731520"/>
            <a:ext cx="8809920" cy="5812480"/>
            <a:chOff x="0" y="0"/>
            <a:chExt cx="11746560" cy="7749973"/>
          </a:xfrm>
        </p:grpSpPr>
        <p:sp>
          <p:nvSpPr>
            <p:cNvPr id="12" name="Freeform 12"/>
            <p:cNvSpPr/>
            <p:nvPr/>
          </p:nvSpPr>
          <p:spPr>
            <a:xfrm>
              <a:off x="0" y="0"/>
              <a:ext cx="11746560" cy="7749973"/>
            </a:xfrm>
            <a:custGeom>
              <a:avLst/>
              <a:gdLst/>
              <a:ahLst/>
              <a:cxnLst/>
              <a:rect l="l" t="t" r="r" b="b"/>
              <a:pathLst>
                <a:path w="11746560" h="7749973">
                  <a:moveTo>
                    <a:pt x="0" y="0"/>
                  </a:moveTo>
                  <a:lnTo>
                    <a:pt x="11746560" y="0"/>
                  </a:lnTo>
                  <a:lnTo>
                    <a:pt x="11746560" y="7749973"/>
                  </a:lnTo>
                  <a:lnTo>
                    <a:pt x="0" y="7749973"/>
                  </a:lnTo>
                  <a:close/>
                </a:path>
              </a:pathLst>
            </a:custGeom>
            <a:solidFill>
              <a:srgbClr val="000000">
                <a:alpha val="0"/>
              </a:srgbClr>
            </a:solidFill>
          </p:spPr>
        </p:sp>
        <p:sp>
          <p:nvSpPr>
            <p:cNvPr id="13" name="TextBox 13"/>
            <p:cNvSpPr txBox="1"/>
            <p:nvPr/>
          </p:nvSpPr>
          <p:spPr>
            <a:xfrm>
              <a:off x="0" y="-85725"/>
              <a:ext cx="11746560" cy="7835698"/>
            </a:xfrm>
            <a:prstGeom prst="rect">
              <a:avLst/>
            </a:prstGeom>
          </p:spPr>
          <p:txBody>
            <a:bodyPr lIns="0" tIns="0" rIns="0" bIns="0" rtlCol="0" anchor="ctr"/>
            <a:lstStyle/>
            <a:p>
              <a:pPr algn="just">
                <a:lnSpc>
                  <a:spcPts val="3035"/>
                </a:lnSpc>
              </a:pPr>
              <a:r>
                <a:rPr lang="en-US" sz="2199" b="1">
                  <a:solidFill>
                    <a:srgbClr val="000000"/>
                  </a:solidFill>
                  <a:latin typeface="Times New Roman Bold"/>
                  <a:ea typeface="Times New Roman Bold"/>
                  <a:cs typeface="Times New Roman Bold"/>
                  <a:sym typeface="Times New Roman Bold"/>
                </a:rPr>
                <a:t>Preprocessing Module</a:t>
              </a:r>
            </a:p>
            <a:p>
              <a:pPr marL="352975" lvl="1" indent="-176487" algn="just">
                <a:lnSpc>
                  <a:spcPts val="3035"/>
                </a:lnSpc>
                <a:buFont typeface="Arial"/>
                <a:buChar char="•"/>
              </a:pPr>
              <a:r>
                <a:rPr lang="en-US" sz="2199" b="1">
                  <a:solidFill>
                    <a:srgbClr val="000000"/>
                  </a:solidFill>
                  <a:latin typeface="Times New Roman Bold"/>
                  <a:ea typeface="Times New Roman Bold"/>
                  <a:cs typeface="Times New Roman Bold"/>
                  <a:sym typeface="Times New Roman Bold"/>
                </a:rPr>
                <a:t>Media Format Conversion</a:t>
              </a:r>
              <a:r>
                <a:rPr lang="en-US" sz="2199">
                  <a:solidFill>
                    <a:srgbClr val="000000"/>
                  </a:solidFill>
                  <a:latin typeface="Times New Roman"/>
                  <a:ea typeface="Times New Roman"/>
                  <a:cs typeface="Times New Roman"/>
                  <a:sym typeface="Times New Roman"/>
                </a:rPr>
                <a:t>: Supports JPEG, PNG, MP4, AVI. Converts images to RGB format, extracts frames from videos at 30 FPS.</a:t>
              </a:r>
            </a:p>
            <a:p>
              <a:pPr marL="352975" lvl="1" indent="-176487" algn="just">
                <a:lnSpc>
                  <a:spcPts val="3035"/>
                </a:lnSpc>
                <a:buFont typeface="Arial"/>
                <a:buChar char="•"/>
              </a:pPr>
              <a:r>
                <a:rPr lang="en-US" sz="2199" b="1">
                  <a:solidFill>
                    <a:srgbClr val="000000"/>
                  </a:solidFill>
                  <a:latin typeface="Times New Roman Bold"/>
                  <a:ea typeface="Times New Roman Bold"/>
                  <a:cs typeface="Times New Roman Bold"/>
                  <a:sym typeface="Times New Roman Bold"/>
                </a:rPr>
                <a:t>Noise Reduction &amp; Image Enhancement</a:t>
              </a:r>
              <a:r>
                <a:rPr lang="en-US" sz="2199">
                  <a:solidFill>
                    <a:srgbClr val="000000"/>
                  </a:solidFill>
                  <a:latin typeface="Times New Roman"/>
                  <a:ea typeface="Times New Roman"/>
                  <a:cs typeface="Times New Roman"/>
                  <a:sym typeface="Times New Roman"/>
                </a:rPr>
                <a:t>: Applies Gaussian Blur and Bilateral Filtering. Enhances contrast using histogram equalization.</a:t>
              </a:r>
            </a:p>
            <a:p>
              <a:pPr marL="352975" lvl="1" indent="-176487" algn="just">
                <a:lnSpc>
                  <a:spcPts val="3035"/>
                </a:lnSpc>
                <a:buFont typeface="Arial"/>
                <a:buChar char="•"/>
              </a:pPr>
              <a:r>
                <a:rPr lang="en-US" sz="2199" b="1">
                  <a:solidFill>
                    <a:srgbClr val="000000"/>
                  </a:solidFill>
                  <a:latin typeface="Times New Roman Bold"/>
                  <a:ea typeface="Times New Roman Bold"/>
                  <a:cs typeface="Times New Roman Bold"/>
                  <a:sym typeface="Times New Roman Bold"/>
                </a:rPr>
                <a:t>Resizing &amp; Normalization</a:t>
              </a:r>
              <a:r>
                <a:rPr lang="en-US" sz="2199">
                  <a:solidFill>
                    <a:srgbClr val="000000"/>
                  </a:solidFill>
                  <a:latin typeface="Times New Roman"/>
                  <a:ea typeface="Times New Roman"/>
                  <a:cs typeface="Times New Roman"/>
                  <a:sym typeface="Times New Roman"/>
                </a:rPr>
                <a:t>: Resizes images/frames to 224x224 pixels, normalizes pixel values between 0 and 1.</a:t>
              </a:r>
            </a:p>
            <a:p>
              <a:pPr marL="352975" lvl="1" indent="-176487" algn="just">
                <a:lnSpc>
                  <a:spcPts val="3035"/>
                </a:lnSpc>
                <a:buFont typeface="Arial"/>
                <a:buChar char="•"/>
              </a:pPr>
              <a:r>
                <a:rPr lang="en-US" sz="2199" b="1">
                  <a:solidFill>
                    <a:srgbClr val="000000"/>
                  </a:solidFill>
                  <a:latin typeface="Times New Roman Bold"/>
                  <a:ea typeface="Times New Roman Bold"/>
                  <a:cs typeface="Times New Roman Bold"/>
                  <a:sym typeface="Times New Roman Bold"/>
                </a:rPr>
                <a:t>Frame Selection</a:t>
              </a:r>
              <a:r>
                <a:rPr lang="en-US" sz="2199">
                  <a:solidFill>
                    <a:srgbClr val="000000"/>
                  </a:solidFill>
                  <a:latin typeface="Times New Roman"/>
                  <a:ea typeface="Times New Roman"/>
                  <a:cs typeface="Times New Roman"/>
                  <a:sym typeface="Times New Roman"/>
                </a:rPr>
                <a:t>: Extracts keyframes using scene change detection to reduce computational cost.</a:t>
              </a: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70560" y="177057"/>
            <a:ext cx="8412480" cy="733933"/>
            <a:chOff x="0" y="0"/>
            <a:chExt cx="11216640" cy="978578"/>
          </a:xfrm>
        </p:grpSpPr>
        <p:sp>
          <p:nvSpPr>
            <p:cNvPr id="3" name="Freeform 3"/>
            <p:cNvSpPr/>
            <p:nvPr/>
          </p:nvSpPr>
          <p:spPr>
            <a:xfrm>
              <a:off x="0" y="0"/>
              <a:ext cx="11216640" cy="978577"/>
            </a:xfrm>
            <a:custGeom>
              <a:avLst/>
              <a:gdLst/>
              <a:ahLst/>
              <a:cxnLst/>
              <a:rect l="l" t="t" r="r" b="b"/>
              <a:pathLst>
                <a:path w="11216640" h="978577">
                  <a:moveTo>
                    <a:pt x="0" y="0"/>
                  </a:moveTo>
                  <a:lnTo>
                    <a:pt x="11216640" y="0"/>
                  </a:lnTo>
                  <a:lnTo>
                    <a:pt x="11216640" y="978577"/>
                  </a:lnTo>
                  <a:lnTo>
                    <a:pt x="0" y="978577"/>
                  </a:lnTo>
                  <a:close/>
                </a:path>
              </a:pathLst>
            </a:custGeom>
            <a:solidFill>
              <a:srgbClr val="000000">
                <a:alpha val="0"/>
              </a:srgbClr>
            </a:solidFill>
          </p:spPr>
        </p:sp>
        <p:sp>
          <p:nvSpPr>
            <p:cNvPr id="4" name="TextBox 4"/>
            <p:cNvSpPr txBox="1"/>
            <p:nvPr/>
          </p:nvSpPr>
          <p:spPr>
            <a:xfrm>
              <a:off x="0" y="-38100"/>
              <a:ext cx="11216640" cy="1016678"/>
            </a:xfrm>
            <a:prstGeom prst="rect">
              <a:avLst/>
            </a:prstGeom>
          </p:spPr>
          <p:txBody>
            <a:bodyPr lIns="0" tIns="0" rIns="0" bIns="0" rtlCol="0" anchor="ctr"/>
            <a:lstStyle/>
            <a:p>
              <a:pPr algn="ctr">
                <a:lnSpc>
                  <a:spcPts val="4104"/>
                </a:lnSpc>
              </a:pPr>
              <a:r>
                <a:rPr lang="en-US" sz="3800" b="1">
                  <a:solidFill>
                    <a:srgbClr val="7030A0"/>
                  </a:solidFill>
                  <a:latin typeface="Times New Roman Bold"/>
                  <a:ea typeface="Times New Roman Bold"/>
                  <a:cs typeface="Times New Roman Bold"/>
                  <a:sym typeface="Times New Roman Bold"/>
                </a:rPr>
                <a:t>MODULE DESCRIPTION</a:t>
              </a:r>
            </a:p>
          </p:txBody>
        </p:sp>
      </p:grpSp>
      <p:grpSp>
        <p:nvGrpSpPr>
          <p:cNvPr id="5" name="Group 5"/>
          <p:cNvGrpSpPr/>
          <p:nvPr/>
        </p:nvGrpSpPr>
        <p:grpSpPr>
          <a:xfrm>
            <a:off x="6888480" y="6780108"/>
            <a:ext cx="2194560" cy="389440"/>
            <a:chOff x="0" y="0"/>
            <a:chExt cx="2926080" cy="519253"/>
          </a:xfrm>
        </p:grpSpPr>
        <p:sp>
          <p:nvSpPr>
            <p:cNvPr id="6" name="Freeform 6"/>
            <p:cNvSpPr/>
            <p:nvPr/>
          </p:nvSpPr>
          <p:spPr>
            <a:xfrm>
              <a:off x="0" y="0"/>
              <a:ext cx="2926080" cy="519253"/>
            </a:xfrm>
            <a:custGeom>
              <a:avLst/>
              <a:gdLst/>
              <a:ahLst/>
              <a:cxnLst/>
              <a:rect l="l" t="t" r="r" b="b"/>
              <a:pathLst>
                <a:path w="2926080" h="519253">
                  <a:moveTo>
                    <a:pt x="0" y="0"/>
                  </a:moveTo>
                  <a:lnTo>
                    <a:pt x="2926080" y="0"/>
                  </a:lnTo>
                  <a:lnTo>
                    <a:pt x="2926080" y="519253"/>
                  </a:lnTo>
                  <a:lnTo>
                    <a:pt x="0" y="519253"/>
                  </a:lnTo>
                  <a:close/>
                </a:path>
              </a:pathLst>
            </a:custGeom>
            <a:solidFill>
              <a:srgbClr val="000000">
                <a:alpha val="0"/>
              </a:srgbClr>
            </a:solidFill>
          </p:spPr>
        </p:sp>
        <p:sp>
          <p:nvSpPr>
            <p:cNvPr id="7" name="TextBox 7"/>
            <p:cNvSpPr txBox="1"/>
            <p:nvPr/>
          </p:nvSpPr>
          <p:spPr>
            <a:xfrm>
              <a:off x="0" y="-28575"/>
              <a:ext cx="2926080" cy="547828"/>
            </a:xfrm>
            <a:prstGeom prst="rect">
              <a:avLst/>
            </a:prstGeom>
          </p:spPr>
          <p:txBody>
            <a:bodyPr lIns="0" tIns="0" rIns="0" bIns="0" rtlCol="0" anchor="ctr"/>
            <a:lstStyle/>
            <a:p>
              <a:pPr algn="r">
                <a:lnSpc>
                  <a:spcPts val="1535"/>
                </a:lnSpc>
              </a:pPr>
              <a:r>
                <a:rPr lang="en-US" sz="1279">
                  <a:solidFill>
                    <a:srgbClr val="888888"/>
                  </a:solidFill>
                  <a:latin typeface="Times New Roman"/>
                  <a:ea typeface="Times New Roman"/>
                  <a:cs typeface="Times New Roman"/>
                  <a:sym typeface="Times New Roman"/>
                </a:rPr>
                <a:t>21</a:t>
              </a:r>
            </a:p>
          </p:txBody>
        </p:sp>
      </p:grpSp>
      <p:grpSp>
        <p:nvGrpSpPr>
          <p:cNvPr id="8" name="Group 8"/>
          <p:cNvGrpSpPr/>
          <p:nvPr/>
        </p:nvGrpSpPr>
        <p:grpSpPr>
          <a:xfrm>
            <a:off x="1250103" y="6780108"/>
            <a:ext cx="7253394" cy="389440"/>
            <a:chOff x="0" y="0"/>
            <a:chExt cx="9671191" cy="519253"/>
          </a:xfrm>
        </p:grpSpPr>
        <p:sp>
          <p:nvSpPr>
            <p:cNvPr id="9" name="Freeform 9"/>
            <p:cNvSpPr/>
            <p:nvPr/>
          </p:nvSpPr>
          <p:spPr>
            <a:xfrm>
              <a:off x="0" y="0"/>
              <a:ext cx="9671192" cy="519253"/>
            </a:xfrm>
            <a:custGeom>
              <a:avLst/>
              <a:gdLst/>
              <a:ahLst/>
              <a:cxnLst/>
              <a:rect l="l" t="t" r="r" b="b"/>
              <a:pathLst>
                <a:path w="9671192" h="519253">
                  <a:moveTo>
                    <a:pt x="0" y="0"/>
                  </a:moveTo>
                  <a:lnTo>
                    <a:pt x="9671192" y="0"/>
                  </a:lnTo>
                  <a:lnTo>
                    <a:pt x="9671192" y="519253"/>
                  </a:lnTo>
                  <a:lnTo>
                    <a:pt x="0" y="519253"/>
                  </a:lnTo>
                  <a:close/>
                </a:path>
              </a:pathLst>
            </a:custGeom>
            <a:solidFill>
              <a:srgbClr val="000000">
                <a:alpha val="0"/>
              </a:srgbClr>
            </a:solidFill>
          </p:spPr>
        </p:sp>
        <p:sp>
          <p:nvSpPr>
            <p:cNvPr id="10" name="TextBox 10"/>
            <p:cNvSpPr txBox="1"/>
            <p:nvPr/>
          </p:nvSpPr>
          <p:spPr>
            <a:xfrm>
              <a:off x="0" y="-28575"/>
              <a:ext cx="9671191" cy="547828"/>
            </a:xfrm>
            <a:prstGeom prst="rect">
              <a:avLst/>
            </a:prstGeom>
          </p:spPr>
          <p:txBody>
            <a:bodyPr lIns="0" tIns="0" rIns="0" bIns="0" rtlCol="0" anchor="ctr"/>
            <a:lstStyle/>
            <a:p>
              <a:pPr algn="ctr">
                <a:lnSpc>
                  <a:spcPts val="1559"/>
                </a:lnSpc>
              </a:pPr>
              <a:r>
                <a:rPr lang="en-US" sz="1299">
                  <a:solidFill>
                    <a:srgbClr val="888888"/>
                  </a:solidFill>
                  <a:latin typeface="Times New Roman"/>
                  <a:ea typeface="Times New Roman"/>
                  <a:cs typeface="Times New Roman"/>
                  <a:sym typeface="Times New Roman"/>
                </a:rPr>
                <a:t>Integrated Anti-Spoofing and Deepfake Detection System Using MobileNet and ResNeXt</a:t>
              </a:r>
            </a:p>
          </p:txBody>
        </p:sp>
      </p:grpSp>
      <p:grpSp>
        <p:nvGrpSpPr>
          <p:cNvPr id="11" name="Group 11"/>
          <p:cNvGrpSpPr/>
          <p:nvPr/>
        </p:nvGrpSpPr>
        <p:grpSpPr>
          <a:xfrm>
            <a:off x="471840" y="855227"/>
            <a:ext cx="8809920" cy="5812480"/>
            <a:chOff x="0" y="0"/>
            <a:chExt cx="11746560" cy="7749973"/>
          </a:xfrm>
        </p:grpSpPr>
        <p:sp>
          <p:nvSpPr>
            <p:cNvPr id="12" name="Freeform 12"/>
            <p:cNvSpPr/>
            <p:nvPr/>
          </p:nvSpPr>
          <p:spPr>
            <a:xfrm>
              <a:off x="0" y="0"/>
              <a:ext cx="11746560" cy="7749973"/>
            </a:xfrm>
            <a:custGeom>
              <a:avLst/>
              <a:gdLst/>
              <a:ahLst/>
              <a:cxnLst/>
              <a:rect l="l" t="t" r="r" b="b"/>
              <a:pathLst>
                <a:path w="11746560" h="7749973">
                  <a:moveTo>
                    <a:pt x="0" y="0"/>
                  </a:moveTo>
                  <a:lnTo>
                    <a:pt x="11746560" y="0"/>
                  </a:lnTo>
                  <a:lnTo>
                    <a:pt x="11746560" y="7749973"/>
                  </a:lnTo>
                  <a:lnTo>
                    <a:pt x="0" y="7749973"/>
                  </a:lnTo>
                  <a:close/>
                </a:path>
              </a:pathLst>
            </a:custGeom>
            <a:solidFill>
              <a:srgbClr val="000000">
                <a:alpha val="0"/>
              </a:srgbClr>
            </a:solidFill>
          </p:spPr>
        </p:sp>
        <p:sp>
          <p:nvSpPr>
            <p:cNvPr id="13" name="TextBox 13"/>
            <p:cNvSpPr txBox="1"/>
            <p:nvPr/>
          </p:nvSpPr>
          <p:spPr>
            <a:xfrm>
              <a:off x="0" y="-85725"/>
              <a:ext cx="11746560" cy="7835698"/>
            </a:xfrm>
            <a:prstGeom prst="rect">
              <a:avLst/>
            </a:prstGeom>
          </p:spPr>
          <p:txBody>
            <a:bodyPr lIns="0" tIns="0" rIns="0" bIns="0" rtlCol="0" anchor="ctr"/>
            <a:lstStyle/>
            <a:p>
              <a:pPr algn="just">
                <a:lnSpc>
                  <a:spcPts val="3035"/>
                </a:lnSpc>
              </a:pPr>
              <a:r>
                <a:rPr lang="en-US" sz="2199" b="1">
                  <a:solidFill>
                    <a:srgbClr val="000000"/>
                  </a:solidFill>
                  <a:latin typeface="Times New Roman Bold"/>
                  <a:ea typeface="Times New Roman Bold"/>
                  <a:cs typeface="Times New Roman Bold"/>
                  <a:sym typeface="Times New Roman Bold"/>
                </a:rPr>
                <a:t>Feature Extraction Module</a:t>
              </a:r>
            </a:p>
            <a:p>
              <a:pPr marL="352975" lvl="1" indent="-176487" algn="just">
                <a:lnSpc>
                  <a:spcPts val="3035"/>
                </a:lnSpc>
                <a:buFont typeface="Arial"/>
                <a:buChar char="•"/>
              </a:pPr>
              <a:r>
                <a:rPr lang="en-US" sz="2199" b="1">
                  <a:solidFill>
                    <a:srgbClr val="000000"/>
                  </a:solidFill>
                  <a:latin typeface="Times New Roman Bold"/>
                  <a:ea typeface="Times New Roman Bold"/>
                  <a:cs typeface="Times New Roman Bold"/>
                  <a:sym typeface="Times New Roman Bold"/>
                </a:rPr>
                <a:t>Facial Landmark Detection</a:t>
              </a:r>
              <a:r>
                <a:rPr lang="en-US" sz="2199">
                  <a:solidFill>
                    <a:srgbClr val="000000"/>
                  </a:solidFill>
                  <a:latin typeface="Times New Roman"/>
                  <a:ea typeface="Times New Roman"/>
                  <a:cs typeface="Times New Roman"/>
                  <a:sym typeface="Times New Roman"/>
                </a:rPr>
                <a:t>: Detects facial features (eyes, nose, mouth) using Dlib’s Facial Landmark Predictor.</a:t>
              </a:r>
            </a:p>
            <a:p>
              <a:pPr marL="352975" lvl="1" indent="-176487" algn="just">
                <a:lnSpc>
                  <a:spcPts val="3035"/>
                </a:lnSpc>
                <a:buFont typeface="Arial"/>
                <a:buChar char="•"/>
              </a:pPr>
              <a:r>
                <a:rPr lang="en-US" sz="2199" b="1">
                  <a:solidFill>
                    <a:srgbClr val="000000"/>
                  </a:solidFill>
                  <a:latin typeface="Times New Roman Bold"/>
                  <a:ea typeface="Times New Roman Bold"/>
                  <a:cs typeface="Times New Roman Bold"/>
                  <a:sym typeface="Times New Roman Bold"/>
                </a:rPr>
                <a:t>Texture Analysis (LBP)</a:t>
              </a:r>
              <a:r>
                <a:rPr lang="en-US" sz="2199">
                  <a:solidFill>
                    <a:srgbClr val="000000"/>
                  </a:solidFill>
                  <a:latin typeface="Times New Roman"/>
                  <a:ea typeface="Times New Roman"/>
                  <a:cs typeface="Times New Roman"/>
                  <a:sym typeface="Times New Roman"/>
                </a:rPr>
                <a:t>: Identifies synthetic textures through Local Binary Patterns.</a:t>
              </a:r>
            </a:p>
            <a:p>
              <a:pPr marL="352975" lvl="1" indent="-176487" algn="just">
                <a:lnSpc>
                  <a:spcPts val="3035"/>
                </a:lnSpc>
                <a:buFont typeface="Arial"/>
                <a:buChar char="•"/>
              </a:pPr>
              <a:r>
                <a:rPr lang="en-US" sz="2199" b="1">
                  <a:solidFill>
                    <a:srgbClr val="000000"/>
                  </a:solidFill>
                  <a:latin typeface="Times New Roman Bold"/>
                  <a:ea typeface="Times New Roman Bold"/>
                  <a:cs typeface="Times New Roman Bold"/>
                  <a:sym typeface="Times New Roman Bold"/>
                </a:rPr>
                <a:t>Frequency Domain Analysis</a:t>
              </a:r>
              <a:r>
                <a:rPr lang="en-US" sz="2199">
                  <a:solidFill>
                    <a:srgbClr val="000000"/>
                  </a:solidFill>
                  <a:latin typeface="Times New Roman"/>
                  <a:ea typeface="Times New Roman"/>
                  <a:cs typeface="Times New Roman"/>
                  <a:sym typeface="Times New Roman"/>
                </a:rPr>
                <a:t>: Uses Fourier and Wavelet Transforms to detect high-frequency artifacts.</a:t>
              </a:r>
            </a:p>
            <a:p>
              <a:pPr marL="352975" lvl="1" indent="-176487" algn="just">
                <a:lnSpc>
                  <a:spcPts val="3035"/>
                </a:lnSpc>
                <a:buFont typeface="Arial"/>
                <a:buChar char="•"/>
              </a:pPr>
              <a:r>
                <a:rPr lang="en-US" sz="2199" b="1">
                  <a:solidFill>
                    <a:srgbClr val="000000"/>
                  </a:solidFill>
                  <a:latin typeface="Times New Roman Bold"/>
                  <a:ea typeface="Times New Roman Bold"/>
                  <a:cs typeface="Times New Roman Bold"/>
                  <a:sym typeface="Times New Roman Bold"/>
                </a:rPr>
                <a:t>Blink Detection</a:t>
              </a:r>
              <a:r>
                <a:rPr lang="en-US" sz="2199">
                  <a:solidFill>
                    <a:srgbClr val="000000"/>
                  </a:solidFill>
                  <a:latin typeface="Times New Roman"/>
                  <a:ea typeface="Times New Roman"/>
                  <a:cs typeface="Times New Roman"/>
                  <a:sym typeface="Times New Roman"/>
                </a:rPr>
                <a:t>: Tracks unnatural blinking patterns to analyze liveness.</a:t>
              </a: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70560" y="177057"/>
            <a:ext cx="8412480" cy="733933"/>
            <a:chOff x="0" y="0"/>
            <a:chExt cx="11216640" cy="978578"/>
          </a:xfrm>
        </p:grpSpPr>
        <p:sp>
          <p:nvSpPr>
            <p:cNvPr id="3" name="Freeform 3"/>
            <p:cNvSpPr/>
            <p:nvPr/>
          </p:nvSpPr>
          <p:spPr>
            <a:xfrm>
              <a:off x="0" y="0"/>
              <a:ext cx="11216640" cy="978577"/>
            </a:xfrm>
            <a:custGeom>
              <a:avLst/>
              <a:gdLst/>
              <a:ahLst/>
              <a:cxnLst/>
              <a:rect l="l" t="t" r="r" b="b"/>
              <a:pathLst>
                <a:path w="11216640" h="978577">
                  <a:moveTo>
                    <a:pt x="0" y="0"/>
                  </a:moveTo>
                  <a:lnTo>
                    <a:pt x="11216640" y="0"/>
                  </a:lnTo>
                  <a:lnTo>
                    <a:pt x="11216640" y="978577"/>
                  </a:lnTo>
                  <a:lnTo>
                    <a:pt x="0" y="978577"/>
                  </a:lnTo>
                  <a:close/>
                </a:path>
              </a:pathLst>
            </a:custGeom>
            <a:solidFill>
              <a:srgbClr val="000000">
                <a:alpha val="0"/>
              </a:srgbClr>
            </a:solidFill>
          </p:spPr>
        </p:sp>
        <p:sp>
          <p:nvSpPr>
            <p:cNvPr id="4" name="TextBox 4"/>
            <p:cNvSpPr txBox="1"/>
            <p:nvPr/>
          </p:nvSpPr>
          <p:spPr>
            <a:xfrm>
              <a:off x="0" y="-38100"/>
              <a:ext cx="11216640" cy="1016678"/>
            </a:xfrm>
            <a:prstGeom prst="rect">
              <a:avLst/>
            </a:prstGeom>
          </p:spPr>
          <p:txBody>
            <a:bodyPr lIns="0" tIns="0" rIns="0" bIns="0" rtlCol="0" anchor="ctr"/>
            <a:lstStyle/>
            <a:p>
              <a:pPr algn="ctr">
                <a:lnSpc>
                  <a:spcPts val="4104"/>
                </a:lnSpc>
              </a:pPr>
              <a:r>
                <a:rPr lang="en-US" sz="3800" b="1">
                  <a:solidFill>
                    <a:srgbClr val="7030A0"/>
                  </a:solidFill>
                  <a:latin typeface="Times New Roman Bold"/>
                  <a:ea typeface="Times New Roman Bold"/>
                  <a:cs typeface="Times New Roman Bold"/>
                  <a:sym typeface="Times New Roman Bold"/>
                </a:rPr>
                <a:t>MODULE DESCRIPTION</a:t>
              </a:r>
            </a:p>
          </p:txBody>
        </p:sp>
      </p:grpSp>
      <p:grpSp>
        <p:nvGrpSpPr>
          <p:cNvPr id="5" name="Group 5"/>
          <p:cNvGrpSpPr/>
          <p:nvPr/>
        </p:nvGrpSpPr>
        <p:grpSpPr>
          <a:xfrm>
            <a:off x="6888480" y="6780108"/>
            <a:ext cx="2194560" cy="389440"/>
            <a:chOff x="0" y="0"/>
            <a:chExt cx="2926080" cy="519253"/>
          </a:xfrm>
        </p:grpSpPr>
        <p:sp>
          <p:nvSpPr>
            <p:cNvPr id="6" name="Freeform 6"/>
            <p:cNvSpPr/>
            <p:nvPr/>
          </p:nvSpPr>
          <p:spPr>
            <a:xfrm>
              <a:off x="0" y="0"/>
              <a:ext cx="2926080" cy="519253"/>
            </a:xfrm>
            <a:custGeom>
              <a:avLst/>
              <a:gdLst/>
              <a:ahLst/>
              <a:cxnLst/>
              <a:rect l="l" t="t" r="r" b="b"/>
              <a:pathLst>
                <a:path w="2926080" h="519253">
                  <a:moveTo>
                    <a:pt x="0" y="0"/>
                  </a:moveTo>
                  <a:lnTo>
                    <a:pt x="2926080" y="0"/>
                  </a:lnTo>
                  <a:lnTo>
                    <a:pt x="2926080" y="519253"/>
                  </a:lnTo>
                  <a:lnTo>
                    <a:pt x="0" y="519253"/>
                  </a:lnTo>
                  <a:close/>
                </a:path>
              </a:pathLst>
            </a:custGeom>
            <a:solidFill>
              <a:srgbClr val="000000">
                <a:alpha val="0"/>
              </a:srgbClr>
            </a:solidFill>
          </p:spPr>
        </p:sp>
        <p:sp>
          <p:nvSpPr>
            <p:cNvPr id="7" name="TextBox 7"/>
            <p:cNvSpPr txBox="1"/>
            <p:nvPr/>
          </p:nvSpPr>
          <p:spPr>
            <a:xfrm>
              <a:off x="0" y="-28575"/>
              <a:ext cx="2926080" cy="547828"/>
            </a:xfrm>
            <a:prstGeom prst="rect">
              <a:avLst/>
            </a:prstGeom>
          </p:spPr>
          <p:txBody>
            <a:bodyPr lIns="0" tIns="0" rIns="0" bIns="0" rtlCol="0" anchor="ctr"/>
            <a:lstStyle/>
            <a:p>
              <a:pPr algn="r">
                <a:lnSpc>
                  <a:spcPts val="1535"/>
                </a:lnSpc>
              </a:pPr>
              <a:r>
                <a:rPr lang="en-US" sz="1279">
                  <a:solidFill>
                    <a:srgbClr val="888888"/>
                  </a:solidFill>
                  <a:latin typeface="Times New Roman"/>
                  <a:ea typeface="Times New Roman"/>
                  <a:cs typeface="Times New Roman"/>
                  <a:sym typeface="Times New Roman"/>
                </a:rPr>
                <a:t>22</a:t>
              </a:r>
            </a:p>
          </p:txBody>
        </p:sp>
      </p:grpSp>
      <p:grpSp>
        <p:nvGrpSpPr>
          <p:cNvPr id="8" name="Group 8"/>
          <p:cNvGrpSpPr/>
          <p:nvPr/>
        </p:nvGrpSpPr>
        <p:grpSpPr>
          <a:xfrm>
            <a:off x="1241436" y="6780108"/>
            <a:ext cx="7270728" cy="389440"/>
            <a:chOff x="0" y="0"/>
            <a:chExt cx="9694304" cy="519253"/>
          </a:xfrm>
        </p:grpSpPr>
        <p:sp>
          <p:nvSpPr>
            <p:cNvPr id="9" name="Freeform 9"/>
            <p:cNvSpPr/>
            <p:nvPr/>
          </p:nvSpPr>
          <p:spPr>
            <a:xfrm>
              <a:off x="0" y="0"/>
              <a:ext cx="9694304" cy="519253"/>
            </a:xfrm>
            <a:custGeom>
              <a:avLst/>
              <a:gdLst/>
              <a:ahLst/>
              <a:cxnLst/>
              <a:rect l="l" t="t" r="r" b="b"/>
              <a:pathLst>
                <a:path w="9694304" h="519253">
                  <a:moveTo>
                    <a:pt x="0" y="0"/>
                  </a:moveTo>
                  <a:lnTo>
                    <a:pt x="9694304" y="0"/>
                  </a:lnTo>
                  <a:lnTo>
                    <a:pt x="9694304" y="519253"/>
                  </a:lnTo>
                  <a:lnTo>
                    <a:pt x="0" y="519253"/>
                  </a:lnTo>
                  <a:close/>
                </a:path>
              </a:pathLst>
            </a:custGeom>
            <a:solidFill>
              <a:srgbClr val="000000">
                <a:alpha val="0"/>
              </a:srgbClr>
            </a:solidFill>
          </p:spPr>
        </p:sp>
        <p:sp>
          <p:nvSpPr>
            <p:cNvPr id="10" name="TextBox 10"/>
            <p:cNvSpPr txBox="1"/>
            <p:nvPr/>
          </p:nvSpPr>
          <p:spPr>
            <a:xfrm>
              <a:off x="0" y="-28575"/>
              <a:ext cx="9694304" cy="547828"/>
            </a:xfrm>
            <a:prstGeom prst="rect">
              <a:avLst/>
            </a:prstGeom>
          </p:spPr>
          <p:txBody>
            <a:bodyPr lIns="0" tIns="0" rIns="0" bIns="0" rtlCol="0" anchor="ctr"/>
            <a:lstStyle/>
            <a:p>
              <a:pPr algn="ctr">
                <a:lnSpc>
                  <a:spcPts val="1559"/>
                </a:lnSpc>
              </a:pPr>
              <a:r>
                <a:rPr lang="en-US" sz="1299">
                  <a:solidFill>
                    <a:srgbClr val="888888"/>
                  </a:solidFill>
                  <a:latin typeface="Times New Roman"/>
                  <a:ea typeface="Times New Roman"/>
                  <a:cs typeface="Times New Roman"/>
                  <a:sym typeface="Times New Roman"/>
                </a:rPr>
                <a:t>Integrated Anti-Spoofing and Deepfake Detection System Using MobileNet and ResNeXt</a:t>
              </a:r>
            </a:p>
          </p:txBody>
        </p:sp>
      </p:grpSp>
      <p:grpSp>
        <p:nvGrpSpPr>
          <p:cNvPr id="11" name="Group 11"/>
          <p:cNvGrpSpPr/>
          <p:nvPr/>
        </p:nvGrpSpPr>
        <p:grpSpPr>
          <a:xfrm>
            <a:off x="471840" y="855227"/>
            <a:ext cx="8809920" cy="5812480"/>
            <a:chOff x="0" y="0"/>
            <a:chExt cx="11746560" cy="7749973"/>
          </a:xfrm>
        </p:grpSpPr>
        <p:sp>
          <p:nvSpPr>
            <p:cNvPr id="12" name="Freeform 12"/>
            <p:cNvSpPr/>
            <p:nvPr/>
          </p:nvSpPr>
          <p:spPr>
            <a:xfrm>
              <a:off x="0" y="0"/>
              <a:ext cx="11746560" cy="7749973"/>
            </a:xfrm>
            <a:custGeom>
              <a:avLst/>
              <a:gdLst/>
              <a:ahLst/>
              <a:cxnLst/>
              <a:rect l="l" t="t" r="r" b="b"/>
              <a:pathLst>
                <a:path w="11746560" h="7749973">
                  <a:moveTo>
                    <a:pt x="0" y="0"/>
                  </a:moveTo>
                  <a:lnTo>
                    <a:pt x="11746560" y="0"/>
                  </a:lnTo>
                  <a:lnTo>
                    <a:pt x="11746560" y="7749973"/>
                  </a:lnTo>
                  <a:lnTo>
                    <a:pt x="0" y="7749973"/>
                  </a:lnTo>
                  <a:close/>
                </a:path>
              </a:pathLst>
            </a:custGeom>
            <a:solidFill>
              <a:srgbClr val="000000">
                <a:alpha val="0"/>
              </a:srgbClr>
            </a:solidFill>
          </p:spPr>
        </p:sp>
        <p:sp>
          <p:nvSpPr>
            <p:cNvPr id="13" name="TextBox 13"/>
            <p:cNvSpPr txBox="1"/>
            <p:nvPr/>
          </p:nvSpPr>
          <p:spPr>
            <a:xfrm>
              <a:off x="0" y="-85725"/>
              <a:ext cx="11746560" cy="7835698"/>
            </a:xfrm>
            <a:prstGeom prst="rect">
              <a:avLst/>
            </a:prstGeom>
          </p:spPr>
          <p:txBody>
            <a:bodyPr lIns="0" tIns="0" rIns="0" bIns="0" rtlCol="0" anchor="ctr"/>
            <a:lstStyle/>
            <a:p>
              <a:pPr algn="just">
                <a:lnSpc>
                  <a:spcPts val="3035"/>
                </a:lnSpc>
              </a:pPr>
              <a:r>
                <a:rPr lang="en-US" sz="2199" b="1">
                  <a:solidFill>
                    <a:srgbClr val="000000"/>
                  </a:solidFill>
                  <a:latin typeface="Times New Roman Bold"/>
                  <a:ea typeface="Times New Roman Bold"/>
                  <a:cs typeface="Times New Roman Bold"/>
                  <a:sym typeface="Times New Roman Bold"/>
                </a:rPr>
                <a:t>Classification Module</a:t>
              </a:r>
            </a:p>
            <a:p>
              <a:pPr marL="352975" lvl="1" indent="-176487" algn="just">
                <a:lnSpc>
                  <a:spcPts val="3035"/>
                </a:lnSpc>
                <a:buFont typeface="Arial"/>
                <a:buChar char="•"/>
              </a:pPr>
              <a:r>
                <a:rPr lang="en-US" sz="2199" b="1">
                  <a:solidFill>
                    <a:srgbClr val="000000"/>
                  </a:solidFill>
                  <a:latin typeface="Times New Roman Bold"/>
                  <a:ea typeface="Times New Roman Bold"/>
                  <a:cs typeface="Times New Roman Bold"/>
                  <a:sym typeface="Times New Roman Bold"/>
                </a:rPr>
                <a:t>Deep Learning Models</a:t>
              </a:r>
              <a:r>
                <a:rPr lang="en-US" sz="2199">
                  <a:solidFill>
                    <a:srgbClr val="000000"/>
                  </a:solidFill>
                  <a:latin typeface="Times New Roman"/>
                  <a:ea typeface="Times New Roman"/>
                  <a:cs typeface="Times New Roman"/>
                  <a:sym typeface="Times New Roman"/>
                </a:rPr>
                <a:t>: ResNeXt for face manipulation detection, MobileNet for real-time anti-spoofing.</a:t>
              </a:r>
            </a:p>
            <a:p>
              <a:pPr marL="352975" lvl="1" indent="-176487" algn="just">
                <a:lnSpc>
                  <a:spcPts val="3035"/>
                </a:lnSpc>
                <a:buFont typeface="Arial"/>
                <a:buChar char="•"/>
              </a:pPr>
              <a:r>
                <a:rPr lang="en-US" sz="2199" b="1">
                  <a:solidFill>
                    <a:srgbClr val="000000"/>
                  </a:solidFill>
                  <a:latin typeface="Times New Roman Bold"/>
                  <a:ea typeface="Times New Roman Bold"/>
                  <a:cs typeface="Times New Roman Bold"/>
                  <a:sym typeface="Times New Roman Bold"/>
                </a:rPr>
                <a:t>Classification Workflow</a:t>
              </a:r>
              <a:r>
                <a:rPr lang="en-US" sz="2199">
                  <a:solidFill>
                    <a:srgbClr val="000000"/>
                  </a:solidFill>
                  <a:latin typeface="Times New Roman"/>
                  <a:ea typeface="Times New Roman"/>
                  <a:cs typeface="Times New Roman"/>
                  <a:sym typeface="Times New Roman"/>
                </a:rPr>
                <a:t>:</a:t>
              </a:r>
            </a:p>
            <a:p>
              <a:pPr marL="772074" lvl="2" indent="-257358" algn="just">
                <a:lnSpc>
                  <a:spcPts val="3035"/>
                </a:lnSpc>
                <a:buFont typeface="Arial"/>
                <a:buChar char="⚬"/>
              </a:pPr>
              <a:r>
                <a:rPr lang="en-US" sz="2199">
                  <a:solidFill>
                    <a:srgbClr val="000000"/>
                  </a:solidFill>
                  <a:latin typeface="Times New Roman"/>
                  <a:ea typeface="Times New Roman"/>
                  <a:cs typeface="Times New Roman"/>
                  <a:sym typeface="Times New Roman"/>
                </a:rPr>
                <a:t>Input features into CNN for hierarchical pattern extraction.</a:t>
              </a:r>
            </a:p>
            <a:p>
              <a:pPr marL="772074" lvl="2" indent="-257358" algn="just">
                <a:lnSpc>
                  <a:spcPts val="3035"/>
                </a:lnSpc>
                <a:buFont typeface="Arial"/>
                <a:buChar char="⚬"/>
              </a:pPr>
              <a:r>
                <a:rPr lang="en-US" sz="2199">
                  <a:solidFill>
                    <a:srgbClr val="000000"/>
                  </a:solidFill>
                  <a:latin typeface="Times New Roman"/>
                  <a:ea typeface="Times New Roman"/>
                  <a:cs typeface="Times New Roman"/>
                  <a:sym typeface="Times New Roman"/>
                </a:rPr>
                <a:t>Softmax activation for binary classification (Real vs Fake).</a:t>
              </a:r>
            </a:p>
            <a:p>
              <a:pPr marL="352975" lvl="1" indent="-176487" algn="just">
                <a:lnSpc>
                  <a:spcPts val="3035"/>
                </a:lnSpc>
                <a:buFont typeface="Arial"/>
                <a:buChar char="•"/>
              </a:pPr>
              <a:r>
                <a:rPr lang="en-US" sz="2199" b="1">
                  <a:solidFill>
                    <a:srgbClr val="000000"/>
                  </a:solidFill>
                  <a:latin typeface="Times New Roman Bold"/>
                  <a:ea typeface="Times New Roman Bold"/>
                  <a:cs typeface="Times New Roman Bold"/>
                  <a:sym typeface="Times New Roman Bold"/>
                </a:rPr>
                <a:t>Confidence Scoring &amp; Reporting</a:t>
              </a:r>
              <a:r>
                <a:rPr lang="en-US" sz="2199">
                  <a:solidFill>
                    <a:srgbClr val="000000"/>
                  </a:solidFill>
                  <a:latin typeface="Times New Roman"/>
                  <a:ea typeface="Times New Roman"/>
                  <a:cs typeface="Times New Roman"/>
                  <a:sym typeface="Times New Roman"/>
                </a:rPr>
                <a:t>: Calculates confidence score, flags media for review if below threshold, generates detailed report with detected artifacts.</a:t>
              </a: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70560" y="177057"/>
            <a:ext cx="8412480" cy="733933"/>
            <a:chOff x="0" y="0"/>
            <a:chExt cx="11216640" cy="978578"/>
          </a:xfrm>
        </p:grpSpPr>
        <p:sp>
          <p:nvSpPr>
            <p:cNvPr id="3" name="Freeform 3"/>
            <p:cNvSpPr/>
            <p:nvPr/>
          </p:nvSpPr>
          <p:spPr>
            <a:xfrm>
              <a:off x="0" y="0"/>
              <a:ext cx="11216640" cy="978578"/>
            </a:xfrm>
            <a:custGeom>
              <a:avLst/>
              <a:gdLst/>
              <a:ahLst/>
              <a:cxnLst/>
              <a:rect l="l" t="t" r="r" b="b"/>
              <a:pathLst>
                <a:path w="11216640" h="978578">
                  <a:moveTo>
                    <a:pt x="0" y="0"/>
                  </a:moveTo>
                  <a:lnTo>
                    <a:pt x="11216640" y="0"/>
                  </a:lnTo>
                  <a:lnTo>
                    <a:pt x="11216640" y="978578"/>
                  </a:lnTo>
                  <a:lnTo>
                    <a:pt x="0" y="978578"/>
                  </a:lnTo>
                  <a:close/>
                </a:path>
              </a:pathLst>
            </a:custGeom>
            <a:solidFill>
              <a:srgbClr val="000000">
                <a:alpha val="0"/>
              </a:srgbClr>
            </a:solidFill>
          </p:spPr>
        </p:sp>
        <p:sp>
          <p:nvSpPr>
            <p:cNvPr id="4" name="TextBox 4"/>
            <p:cNvSpPr txBox="1"/>
            <p:nvPr/>
          </p:nvSpPr>
          <p:spPr>
            <a:xfrm>
              <a:off x="0" y="-38100"/>
              <a:ext cx="11216640" cy="1016678"/>
            </a:xfrm>
            <a:prstGeom prst="rect">
              <a:avLst/>
            </a:prstGeom>
          </p:spPr>
          <p:txBody>
            <a:bodyPr lIns="0" tIns="0" rIns="0" bIns="0" rtlCol="0" anchor="ctr"/>
            <a:lstStyle/>
            <a:p>
              <a:pPr algn="ctr">
                <a:lnSpc>
                  <a:spcPts val="4104"/>
                </a:lnSpc>
              </a:pPr>
              <a:r>
                <a:rPr lang="en-US" sz="3800" b="1">
                  <a:solidFill>
                    <a:srgbClr val="7030A0"/>
                  </a:solidFill>
                  <a:latin typeface="Times New Roman Bold"/>
                  <a:ea typeface="Times New Roman Bold"/>
                  <a:cs typeface="Times New Roman Bold"/>
                  <a:sym typeface="Times New Roman Bold"/>
                </a:rPr>
                <a:t>TEST CASES</a:t>
              </a:r>
            </a:p>
          </p:txBody>
        </p:sp>
      </p:grpSp>
      <p:grpSp>
        <p:nvGrpSpPr>
          <p:cNvPr id="5" name="Group 5"/>
          <p:cNvGrpSpPr/>
          <p:nvPr/>
        </p:nvGrpSpPr>
        <p:grpSpPr>
          <a:xfrm>
            <a:off x="7244158" y="6925733"/>
            <a:ext cx="2194560" cy="389467"/>
            <a:chOff x="0" y="0"/>
            <a:chExt cx="2926080" cy="519289"/>
          </a:xfrm>
        </p:grpSpPr>
        <p:sp>
          <p:nvSpPr>
            <p:cNvPr id="6" name="Freeform 6"/>
            <p:cNvSpPr/>
            <p:nvPr/>
          </p:nvSpPr>
          <p:spPr>
            <a:xfrm>
              <a:off x="0" y="0"/>
              <a:ext cx="2926080" cy="519289"/>
            </a:xfrm>
            <a:custGeom>
              <a:avLst/>
              <a:gdLst/>
              <a:ahLst/>
              <a:cxnLst/>
              <a:rect l="l" t="t" r="r" b="b"/>
              <a:pathLst>
                <a:path w="2926080" h="519289">
                  <a:moveTo>
                    <a:pt x="0" y="0"/>
                  </a:moveTo>
                  <a:lnTo>
                    <a:pt x="2926080" y="0"/>
                  </a:lnTo>
                  <a:lnTo>
                    <a:pt x="2926080" y="519289"/>
                  </a:lnTo>
                  <a:lnTo>
                    <a:pt x="0" y="519289"/>
                  </a:lnTo>
                  <a:close/>
                </a:path>
              </a:pathLst>
            </a:custGeom>
            <a:solidFill>
              <a:srgbClr val="000000">
                <a:alpha val="0"/>
              </a:srgbClr>
            </a:solidFill>
          </p:spPr>
        </p:sp>
        <p:sp>
          <p:nvSpPr>
            <p:cNvPr id="7" name="TextBox 7"/>
            <p:cNvSpPr txBox="1"/>
            <p:nvPr/>
          </p:nvSpPr>
          <p:spPr>
            <a:xfrm>
              <a:off x="0" y="-28575"/>
              <a:ext cx="2926080" cy="547864"/>
            </a:xfrm>
            <a:prstGeom prst="rect">
              <a:avLst/>
            </a:prstGeom>
          </p:spPr>
          <p:txBody>
            <a:bodyPr lIns="0" tIns="0" rIns="0" bIns="0" rtlCol="0" anchor="ctr"/>
            <a:lstStyle/>
            <a:p>
              <a:pPr algn="r">
                <a:lnSpc>
                  <a:spcPts val="1535"/>
                </a:lnSpc>
              </a:pPr>
              <a:r>
                <a:rPr lang="en-US" sz="1279">
                  <a:solidFill>
                    <a:srgbClr val="888888"/>
                  </a:solidFill>
                  <a:latin typeface="Times New Roman"/>
                  <a:ea typeface="Times New Roman"/>
                  <a:cs typeface="Times New Roman"/>
                  <a:sym typeface="Times New Roman"/>
                </a:rPr>
                <a:t>23</a:t>
              </a:r>
            </a:p>
          </p:txBody>
        </p:sp>
      </p:grpSp>
      <p:grpSp>
        <p:nvGrpSpPr>
          <p:cNvPr id="8" name="Group 8"/>
          <p:cNvGrpSpPr/>
          <p:nvPr/>
        </p:nvGrpSpPr>
        <p:grpSpPr>
          <a:xfrm>
            <a:off x="949366" y="6797573"/>
            <a:ext cx="7392071" cy="744753"/>
            <a:chOff x="0" y="0"/>
            <a:chExt cx="9856095" cy="993004"/>
          </a:xfrm>
        </p:grpSpPr>
        <p:sp>
          <p:nvSpPr>
            <p:cNvPr id="9" name="Freeform 9"/>
            <p:cNvSpPr/>
            <p:nvPr/>
          </p:nvSpPr>
          <p:spPr>
            <a:xfrm>
              <a:off x="0" y="0"/>
              <a:ext cx="9856095" cy="993004"/>
            </a:xfrm>
            <a:custGeom>
              <a:avLst/>
              <a:gdLst/>
              <a:ahLst/>
              <a:cxnLst/>
              <a:rect l="l" t="t" r="r" b="b"/>
              <a:pathLst>
                <a:path w="9856095" h="993004">
                  <a:moveTo>
                    <a:pt x="0" y="0"/>
                  </a:moveTo>
                  <a:lnTo>
                    <a:pt x="9856095" y="0"/>
                  </a:lnTo>
                  <a:lnTo>
                    <a:pt x="9856095" y="993004"/>
                  </a:lnTo>
                  <a:lnTo>
                    <a:pt x="0" y="993004"/>
                  </a:lnTo>
                  <a:close/>
                </a:path>
              </a:pathLst>
            </a:custGeom>
            <a:solidFill>
              <a:srgbClr val="000000">
                <a:alpha val="0"/>
              </a:srgbClr>
            </a:solidFill>
          </p:spPr>
        </p:sp>
        <p:sp>
          <p:nvSpPr>
            <p:cNvPr id="10" name="TextBox 10"/>
            <p:cNvSpPr txBox="1"/>
            <p:nvPr/>
          </p:nvSpPr>
          <p:spPr>
            <a:xfrm>
              <a:off x="0" y="-28575"/>
              <a:ext cx="9856095" cy="1021579"/>
            </a:xfrm>
            <a:prstGeom prst="rect">
              <a:avLst/>
            </a:prstGeom>
          </p:spPr>
          <p:txBody>
            <a:bodyPr lIns="0" tIns="0" rIns="0" bIns="0" rtlCol="0" anchor="ctr"/>
            <a:lstStyle/>
            <a:p>
              <a:pPr algn="ctr">
                <a:lnSpc>
                  <a:spcPts val="1559"/>
                </a:lnSpc>
              </a:pPr>
              <a:r>
                <a:rPr lang="en-US" sz="1299">
                  <a:solidFill>
                    <a:srgbClr val="888888"/>
                  </a:solidFill>
                  <a:latin typeface="Times New Roman"/>
                  <a:ea typeface="Times New Roman"/>
                  <a:cs typeface="Times New Roman"/>
                  <a:sym typeface="Times New Roman"/>
                </a:rPr>
                <a:t>Integrated Anti-Spoofing and Deepfake Detection System Using MobileNet and ResNeXt</a:t>
              </a:r>
            </a:p>
          </p:txBody>
        </p:sp>
      </p:grpSp>
      <p:graphicFrame>
        <p:nvGraphicFramePr>
          <p:cNvPr id="11" name="Table 11"/>
          <p:cNvGraphicFramePr>
            <a:graphicFrameLocks noGrp="1"/>
          </p:cNvGraphicFramePr>
          <p:nvPr/>
        </p:nvGraphicFramePr>
        <p:xfrm>
          <a:off x="731520" y="867418"/>
          <a:ext cx="8458360" cy="6058316"/>
        </p:xfrm>
        <a:graphic>
          <a:graphicData uri="http://schemas.openxmlformats.org/drawingml/2006/table">
            <a:tbl>
              <a:tblPr/>
              <a:tblGrid>
                <a:gridCol w="1277774">
                  <a:extLst>
                    <a:ext uri="{9D8B030D-6E8A-4147-A177-3AD203B41FA5}">
                      <a16:colId xmlns:a16="http://schemas.microsoft.com/office/drawing/2014/main" val="20000"/>
                    </a:ext>
                  </a:extLst>
                </a:gridCol>
                <a:gridCol w="1277774">
                  <a:extLst>
                    <a:ext uri="{9D8B030D-6E8A-4147-A177-3AD203B41FA5}">
                      <a16:colId xmlns:a16="http://schemas.microsoft.com/office/drawing/2014/main" val="20001"/>
                    </a:ext>
                  </a:extLst>
                </a:gridCol>
                <a:gridCol w="1277774">
                  <a:extLst>
                    <a:ext uri="{9D8B030D-6E8A-4147-A177-3AD203B41FA5}">
                      <a16:colId xmlns:a16="http://schemas.microsoft.com/office/drawing/2014/main" val="20002"/>
                    </a:ext>
                  </a:extLst>
                </a:gridCol>
                <a:gridCol w="1277774">
                  <a:extLst>
                    <a:ext uri="{9D8B030D-6E8A-4147-A177-3AD203B41FA5}">
                      <a16:colId xmlns:a16="http://schemas.microsoft.com/office/drawing/2014/main" val="20003"/>
                    </a:ext>
                  </a:extLst>
                </a:gridCol>
                <a:gridCol w="1612941">
                  <a:extLst>
                    <a:ext uri="{9D8B030D-6E8A-4147-A177-3AD203B41FA5}">
                      <a16:colId xmlns:a16="http://schemas.microsoft.com/office/drawing/2014/main" val="20004"/>
                    </a:ext>
                  </a:extLst>
                </a:gridCol>
                <a:gridCol w="1734324">
                  <a:extLst>
                    <a:ext uri="{9D8B030D-6E8A-4147-A177-3AD203B41FA5}">
                      <a16:colId xmlns:a16="http://schemas.microsoft.com/office/drawing/2014/main" val="20005"/>
                    </a:ext>
                  </a:extLst>
                </a:gridCol>
              </a:tblGrid>
              <a:tr h="1339554">
                <a:tc>
                  <a:txBody>
                    <a:bodyPr/>
                    <a:lstStyle/>
                    <a:p>
                      <a:pPr algn="l">
                        <a:lnSpc>
                          <a:spcPts val="2100"/>
                        </a:lnSpc>
                        <a:defRPr/>
                      </a:pPr>
                      <a:endParaRPr lang="en-US" sz="1100"/>
                    </a:p>
                    <a:p>
                      <a:pPr algn="l">
                        <a:lnSpc>
                          <a:spcPts val="2100"/>
                        </a:lnSpc>
                      </a:pPr>
                      <a:r>
                        <a:rPr lang="en-US" sz="1500" b="1">
                          <a:solidFill>
                            <a:srgbClr val="000000"/>
                          </a:solidFill>
                          <a:latin typeface="Times New Roman Bold"/>
                          <a:ea typeface="Times New Roman Bold"/>
                          <a:cs typeface="Times New Roman Bold"/>
                          <a:sym typeface="Times New Roman Bold"/>
                        </a:rPr>
                        <a:t>  S.NO</a:t>
                      </a:r>
                    </a:p>
                    <a:p>
                      <a:pPr algn="l">
                        <a:lnSpc>
                          <a:spcPts val="2100"/>
                        </a:lnSpc>
                      </a:pPr>
                      <a:r>
                        <a:rPr lang="en-US" sz="1500" b="1">
                          <a:solidFill>
                            <a:srgbClr val="000000"/>
                          </a:solidFill>
                          <a:latin typeface="Times New Roman Bold"/>
                          <a:ea typeface="Times New Roman Bold"/>
                          <a:cs typeface="Times New Roman Bold"/>
                          <a:sym typeface="Times New Roman Bold"/>
                        </a:rPr>
                        <a:t>  </a:t>
                      </a: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100"/>
                        </a:lnSpc>
                        <a:defRPr/>
                      </a:pPr>
                      <a:endParaRPr lang="en-US" sz="1100"/>
                    </a:p>
                    <a:p>
                      <a:pPr algn="l">
                        <a:lnSpc>
                          <a:spcPts val="2100"/>
                        </a:lnSpc>
                      </a:pPr>
                      <a:r>
                        <a:rPr lang="en-US" sz="1500" b="1">
                          <a:solidFill>
                            <a:srgbClr val="000000"/>
                          </a:solidFill>
                          <a:latin typeface="Times New Roman Bold"/>
                          <a:ea typeface="Times New Roman Bold"/>
                          <a:cs typeface="Times New Roman Bold"/>
                          <a:sym typeface="Times New Roman Bold"/>
                        </a:rPr>
                        <a:t>  Test Cases</a:t>
                      </a:r>
                    </a:p>
                    <a:p>
                      <a:pPr algn="l">
                        <a:lnSpc>
                          <a:spcPts val="2100"/>
                        </a:lnSpc>
                      </a:pPr>
                      <a:r>
                        <a:rPr lang="en-US" sz="1500" b="1">
                          <a:solidFill>
                            <a:srgbClr val="000000"/>
                          </a:solidFill>
                          <a:latin typeface="Times New Roman Bold"/>
                          <a:ea typeface="Times New Roman Bold"/>
                          <a:cs typeface="Times New Roman Bold"/>
                          <a:sym typeface="Times New Roman Bold"/>
                        </a:rPr>
                        <a:t>  </a:t>
                      </a: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100"/>
                        </a:lnSpc>
                        <a:defRPr/>
                      </a:pPr>
                      <a:endParaRPr lang="en-US" sz="1100"/>
                    </a:p>
                    <a:p>
                      <a:pPr algn="l">
                        <a:lnSpc>
                          <a:spcPts val="2100"/>
                        </a:lnSpc>
                      </a:pPr>
                      <a:r>
                        <a:rPr lang="en-US" sz="1500" b="1">
                          <a:solidFill>
                            <a:srgbClr val="000000"/>
                          </a:solidFill>
                          <a:latin typeface="Times New Roman Bold"/>
                          <a:ea typeface="Times New Roman Bold"/>
                          <a:cs typeface="Times New Roman Bold"/>
                          <a:sym typeface="Times New Roman Bold"/>
                        </a:rPr>
                        <a:t>  Test Procedure</a:t>
                      </a:r>
                    </a:p>
                    <a:p>
                      <a:pPr algn="l">
                        <a:lnSpc>
                          <a:spcPts val="2100"/>
                        </a:lnSpc>
                      </a:pPr>
                      <a:r>
                        <a:rPr lang="en-US" sz="1500" b="1">
                          <a:solidFill>
                            <a:srgbClr val="000000"/>
                          </a:solidFill>
                          <a:latin typeface="Times New Roman Bold"/>
                          <a:ea typeface="Times New Roman Bold"/>
                          <a:cs typeface="Times New Roman Bold"/>
                          <a:sym typeface="Times New Roman Bold"/>
                        </a:rPr>
                        <a:t>  </a:t>
                      </a: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100"/>
                        </a:lnSpc>
                        <a:defRPr/>
                      </a:pPr>
                      <a:endParaRPr lang="en-US" sz="1100"/>
                    </a:p>
                    <a:p>
                      <a:pPr algn="l">
                        <a:lnSpc>
                          <a:spcPts val="2100"/>
                        </a:lnSpc>
                      </a:pPr>
                      <a:r>
                        <a:rPr lang="en-US" sz="1500" b="1">
                          <a:solidFill>
                            <a:srgbClr val="000000"/>
                          </a:solidFill>
                          <a:latin typeface="Times New Roman Bold"/>
                          <a:ea typeface="Times New Roman Bold"/>
                          <a:cs typeface="Times New Roman Bold"/>
                          <a:sym typeface="Times New Roman Bold"/>
                        </a:rPr>
                        <a:t>  Test Input</a:t>
                      </a:r>
                    </a:p>
                    <a:p>
                      <a:pPr algn="l">
                        <a:lnSpc>
                          <a:spcPts val="2100"/>
                        </a:lnSpc>
                      </a:pPr>
                      <a:r>
                        <a:rPr lang="en-US" sz="1500" b="1">
                          <a:solidFill>
                            <a:srgbClr val="000000"/>
                          </a:solidFill>
                          <a:latin typeface="Times New Roman Bold"/>
                          <a:ea typeface="Times New Roman Bold"/>
                          <a:cs typeface="Times New Roman Bold"/>
                          <a:sym typeface="Times New Roman Bold"/>
                        </a:rPr>
                        <a:t>  </a:t>
                      </a: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100"/>
                        </a:lnSpc>
                        <a:defRPr/>
                      </a:pPr>
                      <a:endParaRPr lang="en-US" sz="1100"/>
                    </a:p>
                    <a:p>
                      <a:pPr algn="l">
                        <a:lnSpc>
                          <a:spcPts val="2100"/>
                        </a:lnSpc>
                      </a:pPr>
                      <a:r>
                        <a:rPr lang="en-US" sz="1500" b="1">
                          <a:solidFill>
                            <a:srgbClr val="000000"/>
                          </a:solidFill>
                          <a:latin typeface="Times New Roman Bold"/>
                          <a:ea typeface="Times New Roman Bold"/>
                          <a:cs typeface="Times New Roman Bold"/>
                          <a:sym typeface="Times New Roman Bold"/>
                        </a:rPr>
                        <a:t>  Expected Result</a:t>
                      </a:r>
                    </a:p>
                    <a:p>
                      <a:pPr algn="l">
                        <a:lnSpc>
                          <a:spcPts val="2100"/>
                        </a:lnSpc>
                      </a:pPr>
                      <a:r>
                        <a:rPr lang="en-US" sz="1500" b="1">
                          <a:solidFill>
                            <a:srgbClr val="000000"/>
                          </a:solidFill>
                          <a:latin typeface="Times New Roman Bold"/>
                          <a:ea typeface="Times New Roman Bold"/>
                          <a:cs typeface="Times New Roman Bold"/>
                          <a:sym typeface="Times New Roman Bold"/>
                        </a:rPr>
                        <a:t>  </a:t>
                      </a: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100"/>
                        </a:lnSpc>
                        <a:defRPr/>
                      </a:pPr>
                      <a:endParaRPr lang="en-US" sz="1100"/>
                    </a:p>
                    <a:p>
                      <a:pPr algn="l">
                        <a:lnSpc>
                          <a:spcPts val="2100"/>
                        </a:lnSpc>
                      </a:pPr>
                      <a:r>
                        <a:rPr lang="en-US" sz="1500" b="1">
                          <a:solidFill>
                            <a:srgbClr val="000000"/>
                          </a:solidFill>
                          <a:latin typeface="Times New Roman Bold"/>
                          <a:ea typeface="Times New Roman Bold"/>
                          <a:cs typeface="Times New Roman Bold"/>
                          <a:sym typeface="Times New Roman Bold"/>
                        </a:rPr>
                        <a:t>  Actual Result</a:t>
                      </a:r>
                    </a:p>
                    <a:p>
                      <a:pPr algn="l">
                        <a:lnSpc>
                          <a:spcPts val="2100"/>
                        </a:lnSpc>
                      </a:pPr>
                      <a:r>
                        <a:rPr lang="en-US" sz="1500" b="1">
                          <a:solidFill>
                            <a:srgbClr val="000000"/>
                          </a:solidFill>
                          <a:latin typeface="Times New Roman Bold"/>
                          <a:ea typeface="Times New Roman Bold"/>
                          <a:cs typeface="Times New Roman Bold"/>
                          <a:sym typeface="Times New Roman Bold"/>
                        </a:rPr>
                        <a:t>  </a:t>
                      </a: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860367">
                <a:tc>
                  <a:txBody>
                    <a:bodyPr/>
                    <a:lstStyle/>
                    <a:p>
                      <a:pPr algn="l">
                        <a:lnSpc>
                          <a:spcPts val="2100"/>
                        </a:lnSpc>
                        <a:defRPr/>
                      </a:pPr>
                      <a:r>
                        <a:rPr lang="en-US" sz="1500">
                          <a:solidFill>
                            <a:srgbClr val="000000"/>
                          </a:solidFill>
                          <a:latin typeface="Times New Roman"/>
                          <a:ea typeface="Times New Roman"/>
                          <a:cs typeface="Times New Roman"/>
                          <a:sym typeface="Times New Roman"/>
                        </a:rPr>
                        <a:t>1</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Times New Roman"/>
                          <a:ea typeface="Times New Roman"/>
                          <a:cs typeface="Times New Roman"/>
                          <a:sym typeface="Times New Roman"/>
                        </a:rPr>
                        <a:t>Video Upload Validation</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1679"/>
                        </a:lnSpc>
                        <a:defRPr/>
                      </a:pPr>
                      <a:r>
                        <a:rPr lang="en-US" sz="1200">
                          <a:solidFill>
                            <a:srgbClr val="000000"/>
                          </a:solidFill>
                          <a:latin typeface="Times New Roman"/>
                          <a:ea typeface="Times New Roman"/>
                          <a:cs typeface="Times New Roman"/>
                          <a:sym typeface="Times New Roman"/>
                        </a:rPr>
                        <a:t>Upload a valid video file</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Times New Roman"/>
                          <a:ea typeface="Times New Roman"/>
                          <a:cs typeface="Times New Roman"/>
                          <a:sym typeface="Times New Roman"/>
                        </a:rPr>
                        <a:t>Deepfake Video (.mp4)</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Times New Roman"/>
                          <a:ea typeface="Times New Roman"/>
                          <a:cs typeface="Times New Roman"/>
                          <a:sym typeface="Times New Roman"/>
                        </a:rPr>
                        <a:t>Video should be accepted</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1679"/>
                        </a:lnSpc>
                        <a:defRPr/>
                      </a:pPr>
                      <a:r>
                        <a:rPr lang="en-US" sz="1200">
                          <a:solidFill>
                            <a:srgbClr val="000000"/>
                          </a:solidFill>
                          <a:latin typeface="Times New Roman"/>
                          <a:ea typeface="Times New Roman"/>
                          <a:cs typeface="Times New Roman"/>
                          <a:sym typeface="Times New Roman"/>
                        </a:rPr>
                        <a:t>Video successfully uploaded</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223965">
                <a:tc>
                  <a:txBody>
                    <a:bodyPr/>
                    <a:lstStyle/>
                    <a:p>
                      <a:pPr algn="l">
                        <a:lnSpc>
                          <a:spcPts val="2100"/>
                        </a:lnSpc>
                        <a:defRPr/>
                      </a:pPr>
                      <a:r>
                        <a:rPr lang="en-US" sz="1500">
                          <a:solidFill>
                            <a:srgbClr val="000000"/>
                          </a:solidFill>
                          <a:latin typeface="Times New Roman"/>
                          <a:ea typeface="Times New Roman"/>
                          <a:cs typeface="Times New Roman"/>
                          <a:sym typeface="Times New Roman"/>
                        </a:rPr>
                        <a:t>2</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1679"/>
                        </a:lnSpc>
                        <a:defRPr/>
                      </a:pPr>
                      <a:r>
                        <a:rPr lang="en-US" sz="1200">
                          <a:solidFill>
                            <a:srgbClr val="000000"/>
                          </a:solidFill>
                          <a:latin typeface="Times New Roman"/>
                          <a:ea typeface="Times New Roman"/>
                          <a:cs typeface="Times New Roman"/>
                          <a:sym typeface="Times New Roman"/>
                        </a:rPr>
                        <a:t>Deepfake Detection Accuracy</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1679"/>
                        </a:lnSpc>
                        <a:defRPr/>
                      </a:pPr>
                      <a:r>
                        <a:rPr lang="en-US" sz="1200">
                          <a:solidFill>
                            <a:srgbClr val="000000"/>
                          </a:solidFill>
                          <a:latin typeface="Times New Roman"/>
                          <a:ea typeface="Times New Roman"/>
                          <a:cs typeface="Times New Roman"/>
                          <a:sym typeface="Times New Roman"/>
                        </a:rPr>
                        <a:t>Run deepfake detection on manipulated video</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1679"/>
                        </a:lnSpc>
                        <a:defRPr/>
                      </a:pPr>
                      <a:r>
                        <a:rPr lang="en-US" sz="1200">
                          <a:solidFill>
                            <a:srgbClr val="000000"/>
                          </a:solidFill>
                          <a:latin typeface="Times New Roman"/>
                          <a:ea typeface="Times New Roman"/>
                          <a:cs typeface="Times New Roman"/>
                          <a:sym typeface="Times New Roman"/>
                        </a:rPr>
                        <a:t>AI-</a:t>
                      </a:r>
                      <a:endParaRPr lang="en-US" sz="1100"/>
                    </a:p>
                    <a:p>
                      <a:pPr algn="l">
                        <a:lnSpc>
                          <a:spcPts val="1679"/>
                        </a:lnSpc>
                      </a:pPr>
                      <a:r>
                        <a:rPr lang="en-US" sz="1200">
                          <a:solidFill>
                            <a:srgbClr val="000000"/>
                          </a:solidFill>
                          <a:latin typeface="Times New Roman"/>
                          <a:ea typeface="Times New Roman"/>
                          <a:cs typeface="Times New Roman"/>
                          <a:sym typeface="Times New Roman"/>
                        </a:rPr>
                        <a:t>Generated Deepfake Video</a:t>
                      </a: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1679"/>
                        </a:lnSpc>
                        <a:defRPr/>
                      </a:pPr>
                      <a:r>
                        <a:rPr lang="en-US" sz="1200">
                          <a:solidFill>
                            <a:srgbClr val="000000"/>
                          </a:solidFill>
                          <a:latin typeface="Times New Roman"/>
                          <a:ea typeface="Times New Roman"/>
                          <a:cs typeface="Times New Roman"/>
                          <a:sym typeface="Times New Roman"/>
                        </a:rPr>
                        <a:t>System detects as "Fake"</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Times New Roman"/>
                          <a:ea typeface="Times New Roman"/>
                          <a:cs typeface="Times New Roman"/>
                          <a:sym typeface="Times New Roman"/>
                        </a:rPr>
                        <a:t>System detects as "Fake"</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634429">
                <a:tc>
                  <a:txBody>
                    <a:bodyPr/>
                    <a:lstStyle/>
                    <a:p>
                      <a:pPr algn="l">
                        <a:lnSpc>
                          <a:spcPts val="2100"/>
                        </a:lnSpc>
                        <a:defRPr/>
                      </a:pPr>
                      <a:r>
                        <a:rPr lang="en-US" sz="1500">
                          <a:solidFill>
                            <a:srgbClr val="000000"/>
                          </a:solidFill>
                          <a:latin typeface="Times New Roman"/>
                          <a:ea typeface="Times New Roman"/>
                          <a:cs typeface="Times New Roman"/>
                          <a:sym typeface="Times New Roman"/>
                        </a:rPr>
                        <a:t>3</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1679"/>
                        </a:lnSpc>
                        <a:defRPr/>
                      </a:pPr>
                      <a:r>
                        <a:rPr lang="en-US" sz="1200">
                          <a:solidFill>
                            <a:srgbClr val="000000"/>
                          </a:solidFill>
                          <a:latin typeface="Times New Roman"/>
                          <a:ea typeface="Times New Roman"/>
                          <a:cs typeface="Times New Roman"/>
                          <a:sym typeface="Times New Roman"/>
                        </a:rPr>
                        <a:t>Real Face Detection Accuracy</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1679"/>
                        </a:lnSpc>
                        <a:defRPr/>
                      </a:pPr>
                      <a:r>
                        <a:rPr lang="en-US" sz="1200">
                          <a:solidFill>
                            <a:srgbClr val="000000"/>
                          </a:solidFill>
                          <a:latin typeface="Times New Roman"/>
                          <a:ea typeface="Times New Roman"/>
                          <a:cs typeface="Times New Roman"/>
                          <a:sym typeface="Times New Roman"/>
                        </a:rPr>
                        <a:t>Run deepfake detection on real image</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1679"/>
                        </a:lnSpc>
                        <a:defRPr/>
                      </a:pPr>
                      <a:r>
                        <a:rPr lang="en-US" sz="1200">
                          <a:solidFill>
                            <a:srgbClr val="000000"/>
                          </a:solidFill>
                          <a:latin typeface="Times New Roman"/>
                          <a:ea typeface="Times New Roman"/>
                          <a:cs typeface="Times New Roman"/>
                          <a:sym typeface="Times New Roman"/>
                        </a:rPr>
                        <a:t>Real Face Image</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Times New Roman"/>
                          <a:ea typeface="Times New Roman"/>
                          <a:cs typeface="Times New Roman"/>
                          <a:sym typeface="Times New Roman"/>
                        </a:rPr>
                        <a:t>System detects as "Real"</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Times New Roman"/>
                          <a:ea typeface="Times New Roman"/>
                          <a:cs typeface="Times New Roman"/>
                          <a:sym typeface="Times New Roman"/>
                        </a:rPr>
                        <a:t>System detects as "Real"</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70560" y="177057"/>
            <a:ext cx="8412480" cy="733933"/>
            <a:chOff x="0" y="0"/>
            <a:chExt cx="11216640" cy="978578"/>
          </a:xfrm>
        </p:grpSpPr>
        <p:sp>
          <p:nvSpPr>
            <p:cNvPr id="3" name="Freeform 3"/>
            <p:cNvSpPr/>
            <p:nvPr/>
          </p:nvSpPr>
          <p:spPr>
            <a:xfrm>
              <a:off x="0" y="0"/>
              <a:ext cx="11216640" cy="978578"/>
            </a:xfrm>
            <a:custGeom>
              <a:avLst/>
              <a:gdLst/>
              <a:ahLst/>
              <a:cxnLst/>
              <a:rect l="l" t="t" r="r" b="b"/>
              <a:pathLst>
                <a:path w="11216640" h="978578">
                  <a:moveTo>
                    <a:pt x="0" y="0"/>
                  </a:moveTo>
                  <a:lnTo>
                    <a:pt x="11216640" y="0"/>
                  </a:lnTo>
                  <a:lnTo>
                    <a:pt x="11216640" y="978578"/>
                  </a:lnTo>
                  <a:lnTo>
                    <a:pt x="0" y="978578"/>
                  </a:lnTo>
                  <a:close/>
                </a:path>
              </a:pathLst>
            </a:custGeom>
            <a:solidFill>
              <a:srgbClr val="000000">
                <a:alpha val="0"/>
              </a:srgbClr>
            </a:solidFill>
          </p:spPr>
        </p:sp>
        <p:sp>
          <p:nvSpPr>
            <p:cNvPr id="4" name="TextBox 4"/>
            <p:cNvSpPr txBox="1"/>
            <p:nvPr/>
          </p:nvSpPr>
          <p:spPr>
            <a:xfrm>
              <a:off x="0" y="-38100"/>
              <a:ext cx="11216640" cy="1016678"/>
            </a:xfrm>
            <a:prstGeom prst="rect">
              <a:avLst/>
            </a:prstGeom>
          </p:spPr>
          <p:txBody>
            <a:bodyPr lIns="0" tIns="0" rIns="0" bIns="0" rtlCol="0" anchor="ctr"/>
            <a:lstStyle/>
            <a:p>
              <a:pPr algn="ctr">
                <a:lnSpc>
                  <a:spcPts val="4104"/>
                </a:lnSpc>
              </a:pPr>
              <a:r>
                <a:rPr lang="en-US" sz="3800" b="1">
                  <a:solidFill>
                    <a:srgbClr val="7030A0"/>
                  </a:solidFill>
                  <a:latin typeface="Times New Roman Bold"/>
                  <a:ea typeface="Times New Roman Bold"/>
                  <a:cs typeface="Times New Roman Bold"/>
                  <a:sym typeface="Times New Roman Bold"/>
                </a:rPr>
                <a:t>TEST CASES</a:t>
              </a:r>
            </a:p>
          </p:txBody>
        </p:sp>
      </p:grpSp>
      <p:grpSp>
        <p:nvGrpSpPr>
          <p:cNvPr id="5" name="Group 5"/>
          <p:cNvGrpSpPr/>
          <p:nvPr/>
        </p:nvGrpSpPr>
        <p:grpSpPr>
          <a:xfrm>
            <a:off x="7244158" y="6925733"/>
            <a:ext cx="2194560" cy="435458"/>
            <a:chOff x="0" y="0"/>
            <a:chExt cx="2926080" cy="580610"/>
          </a:xfrm>
        </p:grpSpPr>
        <p:sp>
          <p:nvSpPr>
            <p:cNvPr id="6" name="Freeform 6"/>
            <p:cNvSpPr/>
            <p:nvPr/>
          </p:nvSpPr>
          <p:spPr>
            <a:xfrm>
              <a:off x="0" y="0"/>
              <a:ext cx="2926080" cy="580610"/>
            </a:xfrm>
            <a:custGeom>
              <a:avLst/>
              <a:gdLst/>
              <a:ahLst/>
              <a:cxnLst/>
              <a:rect l="l" t="t" r="r" b="b"/>
              <a:pathLst>
                <a:path w="2926080" h="580610">
                  <a:moveTo>
                    <a:pt x="0" y="0"/>
                  </a:moveTo>
                  <a:lnTo>
                    <a:pt x="2926080" y="0"/>
                  </a:lnTo>
                  <a:lnTo>
                    <a:pt x="2926080" y="580610"/>
                  </a:lnTo>
                  <a:lnTo>
                    <a:pt x="0" y="580610"/>
                  </a:lnTo>
                  <a:close/>
                </a:path>
              </a:pathLst>
            </a:custGeom>
            <a:solidFill>
              <a:srgbClr val="000000">
                <a:alpha val="0"/>
              </a:srgbClr>
            </a:solidFill>
          </p:spPr>
        </p:sp>
        <p:sp>
          <p:nvSpPr>
            <p:cNvPr id="7" name="TextBox 7"/>
            <p:cNvSpPr txBox="1"/>
            <p:nvPr/>
          </p:nvSpPr>
          <p:spPr>
            <a:xfrm>
              <a:off x="0" y="-28575"/>
              <a:ext cx="2926080" cy="609185"/>
            </a:xfrm>
            <a:prstGeom prst="rect">
              <a:avLst/>
            </a:prstGeom>
          </p:spPr>
          <p:txBody>
            <a:bodyPr lIns="0" tIns="0" rIns="0" bIns="0" rtlCol="0" anchor="ctr"/>
            <a:lstStyle/>
            <a:p>
              <a:pPr algn="r">
                <a:lnSpc>
                  <a:spcPts val="1535"/>
                </a:lnSpc>
              </a:pPr>
              <a:r>
                <a:rPr lang="en-US" sz="1279">
                  <a:solidFill>
                    <a:srgbClr val="888888"/>
                  </a:solidFill>
                  <a:latin typeface="Times New Roman"/>
                  <a:ea typeface="Times New Roman"/>
                  <a:cs typeface="Times New Roman"/>
                  <a:sym typeface="Times New Roman"/>
                </a:rPr>
                <a:t>24</a:t>
              </a:r>
            </a:p>
            <a:p>
              <a:pPr algn="r">
                <a:lnSpc>
                  <a:spcPts val="1536"/>
                </a:lnSpc>
              </a:pPr>
              <a:endParaRPr lang="en-US" sz="1279">
                <a:solidFill>
                  <a:srgbClr val="888888"/>
                </a:solidFill>
                <a:latin typeface="Times New Roman"/>
                <a:ea typeface="Times New Roman"/>
                <a:cs typeface="Times New Roman"/>
                <a:sym typeface="Times New Roman"/>
              </a:endParaRPr>
            </a:p>
          </p:txBody>
        </p:sp>
      </p:grpSp>
      <p:grpSp>
        <p:nvGrpSpPr>
          <p:cNvPr id="8" name="Group 8"/>
          <p:cNvGrpSpPr/>
          <p:nvPr/>
        </p:nvGrpSpPr>
        <p:grpSpPr>
          <a:xfrm>
            <a:off x="949366" y="6797573"/>
            <a:ext cx="7392071" cy="744753"/>
            <a:chOff x="0" y="0"/>
            <a:chExt cx="9856095" cy="993004"/>
          </a:xfrm>
        </p:grpSpPr>
        <p:sp>
          <p:nvSpPr>
            <p:cNvPr id="9" name="Freeform 9"/>
            <p:cNvSpPr/>
            <p:nvPr/>
          </p:nvSpPr>
          <p:spPr>
            <a:xfrm>
              <a:off x="0" y="0"/>
              <a:ext cx="9856095" cy="993004"/>
            </a:xfrm>
            <a:custGeom>
              <a:avLst/>
              <a:gdLst/>
              <a:ahLst/>
              <a:cxnLst/>
              <a:rect l="l" t="t" r="r" b="b"/>
              <a:pathLst>
                <a:path w="9856095" h="993004">
                  <a:moveTo>
                    <a:pt x="0" y="0"/>
                  </a:moveTo>
                  <a:lnTo>
                    <a:pt x="9856095" y="0"/>
                  </a:lnTo>
                  <a:lnTo>
                    <a:pt x="9856095" y="993004"/>
                  </a:lnTo>
                  <a:lnTo>
                    <a:pt x="0" y="993004"/>
                  </a:lnTo>
                  <a:close/>
                </a:path>
              </a:pathLst>
            </a:custGeom>
            <a:solidFill>
              <a:srgbClr val="000000">
                <a:alpha val="0"/>
              </a:srgbClr>
            </a:solidFill>
          </p:spPr>
        </p:sp>
        <p:sp>
          <p:nvSpPr>
            <p:cNvPr id="10" name="TextBox 10"/>
            <p:cNvSpPr txBox="1"/>
            <p:nvPr/>
          </p:nvSpPr>
          <p:spPr>
            <a:xfrm>
              <a:off x="0" y="-28575"/>
              <a:ext cx="9856095" cy="1021579"/>
            </a:xfrm>
            <a:prstGeom prst="rect">
              <a:avLst/>
            </a:prstGeom>
          </p:spPr>
          <p:txBody>
            <a:bodyPr lIns="0" tIns="0" rIns="0" bIns="0" rtlCol="0" anchor="ctr"/>
            <a:lstStyle/>
            <a:p>
              <a:pPr algn="ctr">
                <a:lnSpc>
                  <a:spcPts val="1559"/>
                </a:lnSpc>
              </a:pPr>
              <a:r>
                <a:rPr lang="en-US" sz="1299">
                  <a:solidFill>
                    <a:srgbClr val="888888"/>
                  </a:solidFill>
                  <a:latin typeface="Times New Roman"/>
                  <a:ea typeface="Times New Roman"/>
                  <a:cs typeface="Times New Roman"/>
                  <a:sym typeface="Times New Roman"/>
                </a:rPr>
                <a:t>Integrated Anti-Spoofing and Deepfake Detection System Using MobileNet and ResNeXt</a:t>
              </a:r>
            </a:p>
          </p:txBody>
        </p:sp>
      </p:grpSp>
      <p:graphicFrame>
        <p:nvGraphicFramePr>
          <p:cNvPr id="11" name="Table 11"/>
          <p:cNvGraphicFramePr>
            <a:graphicFrameLocks noGrp="1"/>
          </p:cNvGraphicFramePr>
          <p:nvPr/>
        </p:nvGraphicFramePr>
        <p:xfrm>
          <a:off x="731520" y="867418"/>
          <a:ext cx="8458360" cy="6061173"/>
        </p:xfrm>
        <a:graphic>
          <a:graphicData uri="http://schemas.openxmlformats.org/drawingml/2006/table">
            <a:tbl>
              <a:tblPr/>
              <a:tblGrid>
                <a:gridCol w="1277774">
                  <a:extLst>
                    <a:ext uri="{9D8B030D-6E8A-4147-A177-3AD203B41FA5}">
                      <a16:colId xmlns:a16="http://schemas.microsoft.com/office/drawing/2014/main" val="20000"/>
                    </a:ext>
                  </a:extLst>
                </a:gridCol>
                <a:gridCol w="1277774">
                  <a:extLst>
                    <a:ext uri="{9D8B030D-6E8A-4147-A177-3AD203B41FA5}">
                      <a16:colId xmlns:a16="http://schemas.microsoft.com/office/drawing/2014/main" val="20001"/>
                    </a:ext>
                  </a:extLst>
                </a:gridCol>
                <a:gridCol w="1277774">
                  <a:extLst>
                    <a:ext uri="{9D8B030D-6E8A-4147-A177-3AD203B41FA5}">
                      <a16:colId xmlns:a16="http://schemas.microsoft.com/office/drawing/2014/main" val="20002"/>
                    </a:ext>
                  </a:extLst>
                </a:gridCol>
                <a:gridCol w="1277774">
                  <a:extLst>
                    <a:ext uri="{9D8B030D-6E8A-4147-A177-3AD203B41FA5}">
                      <a16:colId xmlns:a16="http://schemas.microsoft.com/office/drawing/2014/main" val="20003"/>
                    </a:ext>
                  </a:extLst>
                </a:gridCol>
                <a:gridCol w="1612941">
                  <a:extLst>
                    <a:ext uri="{9D8B030D-6E8A-4147-A177-3AD203B41FA5}">
                      <a16:colId xmlns:a16="http://schemas.microsoft.com/office/drawing/2014/main" val="20004"/>
                    </a:ext>
                  </a:extLst>
                </a:gridCol>
                <a:gridCol w="1734324">
                  <a:extLst>
                    <a:ext uri="{9D8B030D-6E8A-4147-A177-3AD203B41FA5}">
                      <a16:colId xmlns:a16="http://schemas.microsoft.com/office/drawing/2014/main" val="20005"/>
                    </a:ext>
                  </a:extLst>
                </a:gridCol>
              </a:tblGrid>
              <a:tr h="1339552">
                <a:tc>
                  <a:txBody>
                    <a:bodyPr/>
                    <a:lstStyle/>
                    <a:p>
                      <a:pPr algn="l">
                        <a:lnSpc>
                          <a:spcPts val="2100"/>
                        </a:lnSpc>
                        <a:defRPr/>
                      </a:pPr>
                      <a:endParaRPr lang="en-US" sz="1100"/>
                    </a:p>
                    <a:p>
                      <a:pPr algn="l">
                        <a:lnSpc>
                          <a:spcPts val="2100"/>
                        </a:lnSpc>
                      </a:pPr>
                      <a:r>
                        <a:rPr lang="en-US" sz="1500" b="1">
                          <a:solidFill>
                            <a:srgbClr val="000000"/>
                          </a:solidFill>
                          <a:latin typeface="Times New Roman Bold"/>
                          <a:ea typeface="Times New Roman Bold"/>
                          <a:cs typeface="Times New Roman Bold"/>
                          <a:sym typeface="Times New Roman Bold"/>
                        </a:rPr>
                        <a:t>  S.NO</a:t>
                      </a:r>
                    </a:p>
                    <a:p>
                      <a:pPr algn="l">
                        <a:lnSpc>
                          <a:spcPts val="2100"/>
                        </a:lnSpc>
                      </a:pPr>
                      <a:r>
                        <a:rPr lang="en-US" sz="1500" b="1">
                          <a:solidFill>
                            <a:srgbClr val="000000"/>
                          </a:solidFill>
                          <a:latin typeface="Times New Roman Bold"/>
                          <a:ea typeface="Times New Roman Bold"/>
                          <a:cs typeface="Times New Roman Bold"/>
                          <a:sym typeface="Times New Roman Bold"/>
                        </a:rPr>
                        <a:t>  </a:t>
                      </a: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100"/>
                        </a:lnSpc>
                        <a:defRPr/>
                      </a:pPr>
                      <a:endParaRPr lang="en-US" sz="1100"/>
                    </a:p>
                    <a:p>
                      <a:pPr algn="l">
                        <a:lnSpc>
                          <a:spcPts val="2100"/>
                        </a:lnSpc>
                      </a:pPr>
                      <a:r>
                        <a:rPr lang="en-US" sz="1500" b="1">
                          <a:solidFill>
                            <a:srgbClr val="000000"/>
                          </a:solidFill>
                          <a:latin typeface="Times New Roman Bold"/>
                          <a:ea typeface="Times New Roman Bold"/>
                          <a:cs typeface="Times New Roman Bold"/>
                          <a:sym typeface="Times New Roman Bold"/>
                        </a:rPr>
                        <a:t>  Test Cases</a:t>
                      </a:r>
                    </a:p>
                    <a:p>
                      <a:pPr algn="l">
                        <a:lnSpc>
                          <a:spcPts val="2100"/>
                        </a:lnSpc>
                      </a:pPr>
                      <a:r>
                        <a:rPr lang="en-US" sz="1500" b="1">
                          <a:solidFill>
                            <a:srgbClr val="000000"/>
                          </a:solidFill>
                          <a:latin typeface="Times New Roman Bold"/>
                          <a:ea typeface="Times New Roman Bold"/>
                          <a:cs typeface="Times New Roman Bold"/>
                          <a:sym typeface="Times New Roman Bold"/>
                        </a:rPr>
                        <a:t>  </a:t>
                      </a: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100"/>
                        </a:lnSpc>
                        <a:defRPr/>
                      </a:pPr>
                      <a:endParaRPr lang="en-US" sz="1100"/>
                    </a:p>
                    <a:p>
                      <a:pPr algn="l">
                        <a:lnSpc>
                          <a:spcPts val="2100"/>
                        </a:lnSpc>
                      </a:pPr>
                      <a:r>
                        <a:rPr lang="en-US" sz="1500" b="1">
                          <a:solidFill>
                            <a:srgbClr val="000000"/>
                          </a:solidFill>
                          <a:latin typeface="Times New Roman Bold"/>
                          <a:ea typeface="Times New Roman Bold"/>
                          <a:cs typeface="Times New Roman Bold"/>
                          <a:sym typeface="Times New Roman Bold"/>
                        </a:rPr>
                        <a:t>  Test Procedure</a:t>
                      </a:r>
                    </a:p>
                    <a:p>
                      <a:pPr algn="l">
                        <a:lnSpc>
                          <a:spcPts val="2100"/>
                        </a:lnSpc>
                      </a:pPr>
                      <a:r>
                        <a:rPr lang="en-US" sz="1500" b="1">
                          <a:solidFill>
                            <a:srgbClr val="000000"/>
                          </a:solidFill>
                          <a:latin typeface="Times New Roman Bold"/>
                          <a:ea typeface="Times New Roman Bold"/>
                          <a:cs typeface="Times New Roman Bold"/>
                          <a:sym typeface="Times New Roman Bold"/>
                        </a:rPr>
                        <a:t>  </a:t>
                      </a: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100"/>
                        </a:lnSpc>
                        <a:defRPr/>
                      </a:pPr>
                      <a:endParaRPr lang="en-US" sz="1100"/>
                    </a:p>
                    <a:p>
                      <a:pPr algn="l">
                        <a:lnSpc>
                          <a:spcPts val="2100"/>
                        </a:lnSpc>
                      </a:pPr>
                      <a:r>
                        <a:rPr lang="en-US" sz="1500" b="1">
                          <a:solidFill>
                            <a:srgbClr val="000000"/>
                          </a:solidFill>
                          <a:latin typeface="Times New Roman Bold"/>
                          <a:ea typeface="Times New Roman Bold"/>
                          <a:cs typeface="Times New Roman Bold"/>
                          <a:sym typeface="Times New Roman Bold"/>
                        </a:rPr>
                        <a:t>  Test Input</a:t>
                      </a:r>
                    </a:p>
                    <a:p>
                      <a:pPr algn="l">
                        <a:lnSpc>
                          <a:spcPts val="2100"/>
                        </a:lnSpc>
                      </a:pPr>
                      <a:r>
                        <a:rPr lang="en-US" sz="1500" b="1">
                          <a:solidFill>
                            <a:srgbClr val="000000"/>
                          </a:solidFill>
                          <a:latin typeface="Times New Roman Bold"/>
                          <a:ea typeface="Times New Roman Bold"/>
                          <a:cs typeface="Times New Roman Bold"/>
                          <a:sym typeface="Times New Roman Bold"/>
                        </a:rPr>
                        <a:t>  </a:t>
                      </a: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100"/>
                        </a:lnSpc>
                        <a:defRPr/>
                      </a:pPr>
                      <a:endParaRPr lang="en-US" sz="1100"/>
                    </a:p>
                    <a:p>
                      <a:pPr algn="l">
                        <a:lnSpc>
                          <a:spcPts val="2100"/>
                        </a:lnSpc>
                      </a:pPr>
                      <a:r>
                        <a:rPr lang="en-US" sz="1500" b="1">
                          <a:solidFill>
                            <a:srgbClr val="000000"/>
                          </a:solidFill>
                          <a:latin typeface="Times New Roman Bold"/>
                          <a:ea typeface="Times New Roman Bold"/>
                          <a:cs typeface="Times New Roman Bold"/>
                          <a:sym typeface="Times New Roman Bold"/>
                        </a:rPr>
                        <a:t>  Expected Result</a:t>
                      </a:r>
                    </a:p>
                    <a:p>
                      <a:pPr algn="l">
                        <a:lnSpc>
                          <a:spcPts val="2100"/>
                        </a:lnSpc>
                      </a:pPr>
                      <a:r>
                        <a:rPr lang="en-US" sz="1500" b="1">
                          <a:solidFill>
                            <a:srgbClr val="000000"/>
                          </a:solidFill>
                          <a:latin typeface="Times New Roman Bold"/>
                          <a:ea typeface="Times New Roman Bold"/>
                          <a:cs typeface="Times New Roman Bold"/>
                          <a:sym typeface="Times New Roman Bold"/>
                        </a:rPr>
                        <a:t>  </a:t>
                      </a: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100"/>
                        </a:lnSpc>
                        <a:defRPr/>
                      </a:pPr>
                      <a:endParaRPr lang="en-US" sz="1100"/>
                    </a:p>
                    <a:p>
                      <a:pPr algn="l">
                        <a:lnSpc>
                          <a:spcPts val="2100"/>
                        </a:lnSpc>
                      </a:pPr>
                      <a:r>
                        <a:rPr lang="en-US" sz="1500" b="1">
                          <a:solidFill>
                            <a:srgbClr val="000000"/>
                          </a:solidFill>
                          <a:latin typeface="Times New Roman Bold"/>
                          <a:ea typeface="Times New Roman Bold"/>
                          <a:cs typeface="Times New Roman Bold"/>
                          <a:sym typeface="Times New Roman Bold"/>
                        </a:rPr>
                        <a:t>  Actual Result</a:t>
                      </a:r>
                    </a:p>
                    <a:p>
                      <a:pPr algn="l">
                        <a:lnSpc>
                          <a:spcPts val="2100"/>
                        </a:lnSpc>
                      </a:pPr>
                      <a:r>
                        <a:rPr lang="en-US" sz="1500" b="1">
                          <a:solidFill>
                            <a:srgbClr val="000000"/>
                          </a:solidFill>
                          <a:latin typeface="Times New Roman Bold"/>
                          <a:ea typeface="Times New Roman Bold"/>
                          <a:cs typeface="Times New Roman Bold"/>
                          <a:sym typeface="Times New Roman Bold"/>
                        </a:rPr>
                        <a:t>  </a:t>
                      </a: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863231">
                <a:tc>
                  <a:txBody>
                    <a:bodyPr/>
                    <a:lstStyle/>
                    <a:p>
                      <a:pPr algn="l">
                        <a:lnSpc>
                          <a:spcPts val="2100"/>
                        </a:lnSpc>
                        <a:defRPr/>
                      </a:pPr>
                      <a:r>
                        <a:rPr lang="en-US" sz="1500">
                          <a:solidFill>
                            <a:srgbClr val="000000"/>
                          </a:solidFill>
                          <a:latin typeface="Times New Roman"/>
                          <a:ea typeface="Times New Roman"/>
                          <a:cs typeface="Times New Roman"/>
                          <a:sym typeface="Times New Roman"/>
                        </a:rPr>
                        <a:t>4</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Times New Roman"/>
                          <a:ea typeface="Times New Roman"/>
                          <a:cs typeface="Times New Roman"/>
                          <a:sym typeface="Times New Roman"/>
                        </a:rPr>
                        <a:t>Biometric Anti- Spoofing</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Times New Roman"/>
                          <a:ea typeface="Times New Roman"/>
                          <a:cs typeface="Times New Roman"/>
                          <a:sym typeface="Times New Roman"/>
                        </a:rPr>
                        <a:t>Analyze liveness cues</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Times New Roman"/>
                          <a:ea typeface="Times New Roman"/>
                          <a:cs typeface="Times New Roman"/>
                          <a:sym typeface="Times New Roman"/>
                        </a:rPr>
                        <a:t>Static Image Attack</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100"/>
                        </a:lnSpc>
                        <a:defRPr/>
                      </a:pPr>
                      <a:endParaRPr lang="en-US" sz="1100"/>
                    </a:p>
                    <a:p>
                      <a:pPr algn="l">
                        <a:lnSpc>
                          <a:spcPts val="2100"/>
                        </a:lnSpc>
                      </a:pPr>
                      <a:r>
                        <a:rPr lang="en-US" sz="1500">
                          <a:solidFill>
                            <a:srgbClr val="000000"/>
                          </a:solidFill>
                          <a:latin typeface="Times New Roman"/>
                          <a:ea typeface="Times New Roman"/>
                          <a:cs typeface="Times New Roman"/>
                          <a:sym typeface="Times New Roman"/>
                        </a:rPr>
                        <a:t>  System</a:t>
                      </a:r>
                    </a:p>
                    <a:p>
                      <a:pPr algn="l">
                        <a:lnSpc>
                          <a:spcPts val="2100"/>
                        </a:lnSpc>
                      </a:pPr>
                      <a:r>
                        <a:rPr lang="en-US" sz="1500">
                          <a:solidFill>
                            <a:srgbClr val="000000"/>
                          </a:solidFill>
                          <a:latin typeface="Times New Roman"/>
                          <a:ea typeface="Times New Roman"/>
                          <a:cs typeface="Times New Roman"/>
                          <a:sym typeface="Times New Roman"/>
                        </a:rPr>
                        <a:t>  detects as "Spoof"</a:t>
                      </a:r>
                    </a:p>
                    <a:p>
                      <a:pPr algn="l">
                        <a:lnSpc>
                          <a:spcPts val="2100"/>
                        </a:lnSpc>
                      </a:pPr>
                      <a:r>
                        <a:rPr lang="en-US" sz="1500">
                          <a:solidFill>
                            <a:srgbClr val="000000"/>
                          </a:solidFill>
                          <a:latin typeface="Times New Roman"/>
                          <a:ea typeface="Times New Roman"/>
                          <a:cs typeface="Times New Roman"/>
                          <a:sym typeface="Times New Roman"/>
                        </a:rPr>
                        <a:t>  </a:t>
                      </a: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100"/>
                        </a:lnSpc>
                        <a:defRPr/>
                      </a:pPr>
                      <a:endParaRPr lang="en-US" sz="1100"/>
                    </a:p>
                    <a:p>
                      <a:pPr algn="l">
                        <a:lnSpc>
                          <a:spcPts val="2100"/>
                        </a:lnSpc>
                      </a:pPr>
                      <a:r>
                        <a:rPr lang="en-US" sz="1500">
                          <a:solidFill>
                            <a:srgbClr val="000000"/>
                          </a:solidFill>
                          <a:latin typeface="Times New Roman"/>
                          <a:ea typeface="Times New Roman"/>
                          <a:cs typeface="Times New Roman"/>
                          <a:sym typeface="Times New Roman"/>
                        </a:rPr>
                        <a:t> System</a:t>
                      </a:r>
                    </a:p>
                    <a:p>
                      <a:pPr algn="l">
                        <a:lnSpc>
                          <a:spcPts val="2100"/>
                        </a:lnSpc>
                      </a:pPr>
                      <a:r>
                        <a:rPr lang="en-US" sz="1500">
                          <a:solidFill>
                            <a:srgbClr val="000000"/>
                          </a:solidFill>
                          <a:latin typeface="Times New Roman"/>
                          <a:ea typeface="Times New Roman"/>
                          <a:cs typeface="Times New Roman"/>
                          <a:sym typeface="Times New Roman"/>
                        </a:rPr>
                        <a:t> detects as "Spoof"</a:t>
                      </a:r>
                    </a:p>
                    <a:p>
                      <a:pPr algn="l">
                        <a:lnSpc>
                          <a:spcPts val="2100"/>
                        </a:lnSpc>
                      </a:pPr>
                      <a:r>
                        <a:rPr lang="en-US" sz="1500">
                          <a:solidFill>
                            <a:srgbClr val="000000"/>
                          </a:solidFill>
                          <a:latin typeface="Times New Roman"/>
                          <a:ea typeface="Times New Roman"/>
                          <a:cs typeface="Times New Roman"/>
                          <a:sym typeface="Times New Roman"/>
                        </a:rPr>
                        <a:t> </a:t>
                      </a:r>
                    </a:p>
                    <a:p>
                      <a:pPr algn="l">
                        <a:lnSpc>
                          <a:spcPts val="2100"/>
                        </a:lnSpc>
                      </a:pPr>
                      <a:endParaRPr lang="en-US" sz="1500">
                        <a:solidFill>
                          <a:srgbClr val="000000"/>
                        </a:solidFill>
                        <a:latin typeface="Times New Roman"/>
                        <a:ea typeface="Times New Roman"/>
                        <a:cs typeface="Times New Roman"/>
                        <a:sym typeface="Times New Roman"/>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223963">
                <a:tc>
                  <a:txBody>
                    <a:bodyPr/>
                    <a:lstStyle/>
                    <a:p>
                      <a:pPr algn="l">
                        <a:lnSpc>
                          <a:spcPts val="2100"/>
                        </a:lnSpc>
                        <a:defRPr/>
                      </a:pPr>
                      <a:r>
                        <a:rPr lang="en-US" sz="1500">
                          <a:solidFill>
                            <a:srgbClr val="000000"/>
                          </a:solidFill>
                          <a:latin typeface="Times New Roman"/>
                          <a:ea typeface="Times New Roman"/>
                          <a:cs typeface="Times New Roman"/>
                          <a:sym typeface="Times New Roman"/>
                        </a:rPr>
                        <a:t>5</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Times New Roman"/>
                          <a:ea typeface="Times New Roman"/>
                          <a:cs typeface="Times New Roman"/>
                          <a:sym typeface="Times New Roman"/>
                        </a:rPr>
                        <a:t>System Performance</a:t>
                      </a:r>
                      <a:endParaRPr lang="en-US" sz="1100"/>
                    </a:p>
                    <a:p>
                      <a:pPr algn="l">
                        <a:lnSpc>
                          <a:spcPts val="2100"/>
                        </a:lnSpc>
                      </a:pP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Times New Roman"/>
                          <a:ea typeface="Times New Roman"/>
                          <a:cs typeface="Times New Roman"/>
                          <a:sym typeface="Times New Roman"/>
                        </a:rPr>
                        <a:t>Measure response time</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Times New Roman"/>
                          <a:ea typeface="Times New Roman"/>
                          <a:cs typeface="Times New Roman"/>
                          <a:sym typeface="Times New Roman"/>
                        </a:rPr>
                        <a:t>High- resolution video</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Times New Roman"/>
                          <a:ea typeface="Times New Roman"/>
                          <a:cs typeface="Times New Roman"/>
                          <a:sym typeface="Times New Roman"/>
                        </a:rPr>
                        <a:t>Detection &lt; 5 seconds</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Times New Roman"/>
                          <a:ea typeface="Times New Roman"/>
                          <a:cs typeface="Times New Roman"/>
                          <a:sym typeface="Times New Roman"/>
                        </a:rPr>
                        <a:t>Detection took 4.8 seconds</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634427">
                <a:tc>
                  <a:txBody>
                    <a:bodyPr/>
                    <a:lstStyle/>
                    <a:p>
                      <a:pPr algn="l">
                        <a:lnSpc>
                          <a:spcPts val="2100"/>
                        </a:lnSpc>
                        <a:defRPr/>
                      </a:pPr>
                      <a:r>
                        <a:rPr lang="en-US" sz="1500">
                          <a:solidFill>
                            <a:srgbClr val="000000"/>
                          </a:solidFill>
                          <a:latin typeface="Times New Roman"/>
                          <a:ea typeface="Times New Roman"/>
                          <a:cs typeface="Times New Roman"/>
                          <a:sym typeface="Times New Roman"/>
                        </a:rPr>
                        <a:t>6</a:t>
                      </a:r>
                      <a:endParaRPr lang="en-US" sz="1100"/>
                    </a:p>
                    <a:p>
                      <a:pPr algn="l">
                        <a:lnSpc>
                          <a:spcPts val="2100"/>
                        </a:lnSpc>
                      </a:pPr>
                      <a:r>
                        <a:rPr lang="en-US" sz="1500">
                          <a:solidFill>
                            <a:srgbClr val="000000"/>
                          </a:solidFill>
                          <a:latin typeface="Times New Roman"/>
                          <a:ea typeface="Times New Roman"/>
                          <a:cs typeface="Times New Roman"/>
                          <a:sym typeface="Times New Roman"/>
                        </a:rPr>
                        <a:t>  </a:t>
                      </a: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Times New Roman"/>
                          <a:ea typeface="Times New Roman"/>
                          <a:cs typeface="Times New Roman"/>
                          <a:sym typeface="Times New Roman"/>
                        </a:rPr>
                        <a:t>Invalid File Type Handling</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Times New Roman"/>
                          <a:ea typeface="Times New Roman"/>
                          <a:cs typeface="Times New Roman"/>
                          <a:sym typeface="Times New Roman"/>
                        </a:rPr>
                        <a:t>Upload an unsupported file format</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Times New Roman"/>
                          <a:ea typeface="Times New Roman"/>
                          <a:cs typeface="Times New Roman"/>
                          <a:sym typeface="Times New Roman"/>
                        </a:rPr>
                        <a:t>Text File (.txt)</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Times New Roman"/>
                          <a:ea typeface="Times New Roman"/>
                          <a:cs typeface="Times New Roman"/>
                          <a:sym typeface="Times New Roman"/>
                        </a:rPr>
                        <a:t>Error message should appear</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Times New Roman"/>
                          <a:ea typeface="Times New Roman"/>
                          <a:cs typeface="Times New Roman"/>
                          <a:sym typeface="Times New Roman"/>
                        </a:rPr>
                        <a:t>Error message displayed</a:t>
                      </a:r>
                      <a:endParaRPr lang="en-US" sz="1100"/>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70560" y="177057"/>
            <a:ext cx="8412480" cy="733933"/>
            <a:chOff x="0" y="0"/>
            <a:chExt cx="11216640" cy="978578"/>
          </a:xfrm>
        </p:grpSpPr>
        <p:sp>
          <p:nvSpPr>
            <p:cNvPr id="3" name="Freeform 3"/>
            <p:cNvSpPr/>
            <p:nvPr/>
          </p:nvSpPr>
          <p:spPr>
            <a:xfrm>
              <a:off x="0" y="0"/>
              <a:ext cx="11216640" cy="978578"/>
            </a:xfrm>
            <a:custGeom>
              <a:avLst/>
              <a:gdLst/>
              <a:ahLst/>
              <a:cxnLst/>
              <a:rect l="l" t="t" r="r" b="b"/>
              <a:pathLst>
                <a:path w="11216640" h="978578">
                  <a:moveTo>
                    <a:pt x="0" y="0"/>
                  </a:moveTo>
                  <a:lnTo>
                    <a:pt x="11216640" y="0"/>
                  </a:lnTo>
                  <a:lnTo>
                    <a:pt x="11216640" y="978578"/>
                  </a:lnTo>
                  <a:lnTo>
                    <a:pt x="0" y="978578"/>
                  </a:lnTo>
                  <a:close/>
                </a:path>
              </a:pathLst>
            </a:custGeom>
            <a:solidFill>
              <a:srgbClr val="000000">
                <a:alpha val="0"/>
              </a:srgbClr>
            </a:solidFill>
          </p:spPr>
        </p:sp>
        <p:sp>
          <p:nvSpPr>
            <p:cNvPr id="4" name="TextBox 4"/>
            <p:cNvSpPr txBox="1"/>
            <p:nvPr/>
          </p:nvSpPr>
          <p:spPr>
            <a:xfrm>
              <a:off x="0" y="-38100"/>
              <a:ext cx="11216640" cy="1016678"/>
            </a:xfrm>
            <a:prstGeom prst="rect">
              <a:avLst/>
            </a:prstGeom>
          </p:spPr>
          <p:txBody>
            <a:bodyPr lIns="0" tIns="0" rIns="0" bIns="0" rtlCol="0" anchor="ctr"/>
            <a:lstStyle/>
            <a:p>
              <a:pPr algn="ctr">
                <a:lnSpc>
                  <a:spcPts val="4104"/>
                </a:lnSpc>
              </a:pPr>
              <a:r>
                <a:rPr lang="en-US" sz="3800" b="1">
                  <a:solidFill>
                    <a:srgbClr val="7030A0"/>
                  </a:solidFill>
                  <a:latin typeface="Times New Roman Bold"/>
                  <a:ea typeface="Times New Roman Bold"/>
                  <a:cs typeface="Times New Roman Bold"/>
                  <a:sym typeface="Times New Roman Bold"/>
                </a:rPr>
                <a:t>SCREEN SHOTS</a:t>
              </a:r>
            </a:p>
          </p:txBody>
        </p:sp>
      </p:grpSp>
      <p:grpSp>
        <p:nvGrpSpPr>
          <p:cNvPr id="5" name="Group 5"/>
          <p:cNvGrpSpPr/>
          <p:nvPr/>
        </p:nvGrpSpPr>
        <p:grpSpPr>
          <a:xfrm>
            <a:off x="6888480" y="6780108"/>
            <a:ext cx="2194560" cy="435458"/>
            <a:chOff x="0" y="0"/>
            <a:chExt cx="2926080" cy="580610"/>
          </a:xfrm>
        </p:grpSpPr>
        <p:sp>
          <p:nvSpPr>
            <p:cNvPr id="6" name="Freeform 6"/>
            <p:cNvSpPr/>
            <p:nvPr/>
          </p:nvSpPr>
          <p:spPr>
            <a:xfrm>
              <a:off x="0" y="0"/>
              <a:ext cx="2926080" cy="580610"/>
            </a:xfrm>
            <a:custGeom>
              <a:avLst/>
              <a:gdLst/>
              <a:ahLst/>
              <a:cxnLst/>
              <a:rect l="l" t="t" r="r" b="b"/>
              <a:pathLst>
                <a:path w="2926080" h="580610">
                  <a:moveTo>
                    <a:pt x="0" y="0"/>
                  </a:moveTo>
                  <a:lnTo>
                    <a:pt x="2926080" y="0"/>
                  </a:lnTo>
                  <a:lnTo>
                    <a:pt x="2926080" y="580610"/>
                  </a:lnTo>
                  <a:lnTo>
                    <a:pt x="0" y="580610"/>
                  </a:lnTo>
                  <a:close/>
                </a:path>
              </a:pathLst>
            </a:custGeom>
            <a:solidFill>
              <a:srgbClr val="000000">
                <a:alpha val="0"/>
              </a:srgbClr>
            </a:solidFill>
          </p:spPr>
        </p:sp>
        <p:sp>
          <p:nvSpPr>
            <p:cNvPr id="7" name="TextBox 7"/>
            <p:cNvSpPr txBox="1"/>
            <p:nvPr/>
          </p:nvSpPr>
          <p:spPr>
            <a:xfrm>
              <a:off x="0" y="-28575"/>
              <a:ext cx="2926080" cy="609185"/>
            </a:xfrm>
            <a:prstGeom prst="rect">
              <a:avLst/>
            </a:prstGeom>
          </p:spPr>
          <p:txBody>
            <a:bodyPr lIns="0" tIns="0" rIns="0" bIns="0" rtlCol="0" anchor="ctr"/>
            <a:lstStyle/>
            <a:p>
              <a:pPr algn="r">
                <a:lnSpc>
                  <a:spcPts val="1535"/>
                </a:lnSpc>
              </a:pPr>
              <a:r>
                <a:rPr lang="en-US" sz="1279">
                  <a:solidFill>
                    <a:srgbClr val="888888"/>
                  </a:solidFill>
                  <a:latin typeface="Times New Roman"/>
                  <a:ea typeface="Times New Roman"/>
                  <a:cs typeface="Times New Roman"/>
                  <a:sym typeface="Times New Roman"/>
                </a:rPr>
                <a:t>25</a:t>
              </a:r>
            </a:p>
            <a:p>
              <a:pPr algn="r">
                <a:lnSpc>
                  <a:spcPts val="1536"/>
                </a:lnSpc>
              </a:pPr>
              <a:endParaRPr lang="en-US" sz="1279">
                <a:solidFill>
                  <a:srgbClr val="888888"/>
                </a:solidFill>
                <a:latin typeface="Times New Roman"/>
                <a:ea typeface="Times New Roman"/>
                <a:cs typeface="Times New Roman"/>
                <a:sym typeface="Times New Roman"/>
              </a:endParaRPr>
            </a:p>
          </p:txBody>
        </p:sp>
      </p:grpSp>
      <p:grpSp>
        <p:nvGrpSpPr>
          <p:cNvPr id="8" name="Group 8"/>
          <p:cNvGrpSpPr/>
          <p:nvPr/>
        </p:nvGrpSpPr>
        <p:grpSpPr>
          <a:xfrm>
            <a:off x="1206766" y="6809463"/>
            <a:ext cx="7340067" cy="330757"/>
            <a:chOff x="0" y="0"/>
            <a:chExt cx="9786756" cy="441009"/>
          </a:xfrm>
        </p:grpSpPr>
        <p:sp>
          <p:nvSpPr>
            <p:cNvPr id="9" name="Freeform 9"/>
            <p:cNvSpPr/>
            <p:nvPr/>
          </p:nvSpPr>
          <p:spPr>
            <a:xfrm>
              <a:off x="0" y="0"/>
              <a:ext cx="9786756" cy="441009"/>
            </a:xfrm>
            <a:custGeom>
              <a:avLst/>
              <a:gdLst/>
              <a:ahLst/>
              <a:cxnLst/>
              <a:rect l="l" t="t" r="r" b="b"/>
              <a:pathLst>
                <a:path w="9786756" h="441009">
                  <a:moveTo>
                    <a:pt x="0" y="0"/>
                  </a:moveTo>
                  <a:lnTo>
                    <a:pt x="9786756" y="0"/>
                  </a:lnTo>
                  <a:lnTo>
                    <a:pt x="9786756" y="441009"/>
                  </a:lnTo>
                  <a:lnTo>
                    <a:pt x="0" y="441009"/>
                  </a:lnTo>
                  <a:close/>
                </a:path>
              </a:pathLst>
            </a:custGeom>
            <a:solidFill>
              <a:srgbClr val="000000">
                <a:alpha val="0"/>
              </a:srgbClr>
            </a:solidFill>
          </p:spPr>
        </p:sp>
        <p:sp>
          <p:nvSpPr>
            <p:cNvPr id="10" name="TextBox 10"/>
            <p:cNvSpPr txBox="1"/>
            <p:nvPr/>
          </p:nvSpPr>
          <p:spPr>
            <a:xfrm>
              <a:off x="0" y="-28575"/>
              <a:ext cx="9786756" cy="469584"/>
            </a:xfrm>
            <a:prstGeom prst="rect">
              <a:avLst/>
            </a:prstGeom>
          </p:spPr>
          <p:txBody>
            <a:bodyPr lIns="0" tIns="0" rIns="0" bIns="0" rtlCol="0" anchor="ctr"/>
            <a:lstStyle/>
            <a:p>
              <a:pPr algn="ctr">
                <a:lnSpc>
                  <a:spcPts val="1559"/>
                </a:lnSpc>
              </a:pPr>
              <a:r>
                <a:rPr lang="en-US" sz="1299">
                  <a:solidFill>
                    <a:srgbClr val="888888"/>
                  </a:solidFill>
                  <a:latin typeface="Times New Roman"/>
                  <a:ea typeface="Times New Roman"/>
                  <a:cs typeface="Times New Roman"/>
                  <a:sym typeface="Times New Roman"/>
                </a:rPr>
                <a:t>Integrated Anti-Spoofing and Deepfake Detection System Using MobileNet and ResNeXt</a:t>
              </a:r>
            </a:p>
          </p:txBody>
        </p:sp>
      </p:grpSp>
      <p:sp>
        <p:nvSpPr>
          <p:cNvPr id="11" name="Freeform 11"/>
          <p:cNvSpPr/>
          <p:nvPr/>
        </p:nvSpPr>
        <p:spPr>
          <a:xfrm>
            <a:off x="731520" y="1462188"/>
            <a:ext cx="8575870" cy="4641690"/>
          </a:xfrm>
          <a:custGeom>
            <a:avLst/>
            <a:gdLst/>
            <a:ahLst/>
            <a:cxnLst/>
            <a:rect l="l" t="t" r="r" b="b"/>
            <a:pathLst>
              <a:path w="8575870" h="4641690">
                <a:moveTo>
                  <a:pt x="0" y="0"/>
                </a:moveTo>
                <a:lnTo>
                  <a:pt x="8575870" y="0"/>
                </a:lnTo>
                <a:lnTo>
                  <a:pt x="8575870" y="4641690"/>
                </a:lnTo>
                <a:lnTo>
                  <a:pt x="0" y="4641690"/>
                </a:lnTo>
                <a:lnTo>
                  <a:pt x="0" y="0"/>
                </a:lnTo>
                <a:close/>
              </a:path>
            </a:pathLst>
          </a:custGeom>
          <a:blipFill>
            <a:blip r:embed="rId3"/>
            <a:stretch>
              <a:fillRect/>
            </a:stretch>
          </a:blipFill>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70560" y="177057"/>
            <a:ext cx="8412480" cy="733933"/>
            <a:chOff x="0" y="0"/>
            <a:chExt cx="11216640" cy="978578"/>
          </a:xfrm>
        </p:grpSpPr>
        <p:sp>
          <p:nvSpPr>
            <p:cNvPr id="3" name="Freeform 3"/>
            <p:cNvSpPr/>
            <p:nvPr/>
          </p:nvSpPr>
          <p:spPr>
            <a:xfrm>
              <a:off x="0" y="0"/>
              <a:ext cx="11216640" cy="978578"/>
            </a:xfrm>
            <a:custGeom>
              <a:avLst/>
              <a:gdLst/>
              <a:ahLst/>
              <a:cxnLst/>
              <a:rect l="l" t="t" r="r" b="b"/>
              <a:pathLst>
                <a:path w="11216640" h="978578">
                  <a:moveTo>
                    <a:pt x="0" y="0"/>
                  </a:moveTo>
                  <a:lnTo>
                    <a:pt x="11216640" y="0"/>
                  </a:lnTo>
                  <a:lnTo>
                    <a:pt x="11216640" y="978578"/>
                  </a:lnTo>
                  <a:lnTo>
                    <a:pt x="0" y="978578"/>
                  </a:lnTo>
                  <a:close/>
                </a:path>
              </a:pathLst>
            </a:custGeom>
            <a:solidFill>
              <a:srgbClr val="000000">
                <a:alpha val="0"/>
              </a:srgbClr>
            </a:solidFill>
          </p:spPr>
        </p:sp>
        <p:sp>
          <p:nvSpPr>
            <p:cNvPr id="4" name="TextBox 4"/>
            <p:cNvSpPr txBox="1"/>
            <p:nvPr/>
          </p:nvSpPr>
          <p:spPr>
            <a:xfrm>
              <a:off x="0" y="-38100"/>
              <a:ext cx="11216640" cy="1016678"/>
            </a:xfrm>
            <a:prstGeom prst="rect">
              <a:avLst/>
            </a:prstGeom>
          </p:spPr>
          <p:txBody>
            <a:bodyPr lIns="0" tIns="0" rIns="0" bIns="0" rtlCol="0" anchor="ctr"/>
            <a:lstStyle/>
            <a:p>
              <a:pPr algn="ctr">
                <a:lnSpc>
                  <a:spcPts val="4104"/>
                </a:lnSpc>
              </a:pPr>
              <a:r>
                <a:rPr lang="en-US" sz="3800" b="1">
                  <a:solidFill>
                    <a:srgbClr val="7030A0"/>
                  </a:solidFill>
                  <a:latin typeface="Times New Roman Bold"/>
                  <a:ea typeface="Times New Roman Bold"/>
                  <a:cs typeface="Times New Roman Bold"/>
                  <a:sym typeface="Times New Roman Bold"/>
                </a:rPr>
                <a:t>SCREEN SHOTS</a:t>
              </a:r>
            </a:p>
          </p:txBody>
        </p:sp>
      </p:grpSp>
      <p:grpSp>
        <p:nvGrpSpPr>
          <p:cNvPr id="5" name="Group 5"/>
          <p:cNvGrpSpPr/>
          <p:nvPr/>
        </p:nvGrpSpPr>
        <p:grpSpPr>
          <a:xfrm>
            <a:off x="6888480" y="6780108"/>
            <a:ext cx="2194560" cy="435458"/>
            <a:chOff x="0" y="0"/>
            <a:chExt cx="2926080" cy="580610"/>
          </a:xfrm>
        </p:grpSpPr>
        <p:sp>
          <p:nvSpPr>
            <p:cNvPr id="6" name="Freeform 6"/>
            <p:cNvSpPr/>
            <p:nvPr/>
          </p:nvSpPr>
          <p:spPr>
            <a:xfrm>
              <a:off x="0" y="0"/>
              <a:ext cx="2926080" cy="580610"/>
            </a:xfrm>
            <a:custGeom>
              <a:avLst/>
              <a:gdLst/>
              <a:ahLst/>
              <a:cxnLst/>
              <a:rect l="l" t="t" r="r" b="b"/>
              <a:pathLst>
                <a:path w="2926080" h="580610">
                  <a:moveTo>
                    <a:pt x="0" y="0"/>
                  </a:moveTo>
                  <a:lnTo>
                    <a:pt x="2926080" y="0"/>
                  </a:lnTo>
                  <a:lnTo>
                    <a:pt x="2926080" y="580610"/>
                  </a:lnTo>
                  <a:lnTo>
                    <a:pt x="0" y="580610"/>
                  </a:lnTo>
                  <a:close/>
                </a:path>
              </a:pathLst>
            </a:custGeom>
            <a:solidFill>
              <a:srgbClr val="000000">
                <a:alpha val="0"/>
              </a:srgbClr>
            </a:solidFill>
          </p:spPr>
        </p:sp>
        <p:sp>
          <p:nvSpPr>
            <p:cNvPr id="7" name="TextBox 7"/>
            <p:cNvSpPr txBox="1"/>
            <p:nvPr/>
          </p:nvSpPr>
          <p:spPr>
            <a:xfrm>
              <a:off x="0" y="-28575"/>
              <a:ext cx="2926080" cy="609185"/>
            </a:xfrm>
            <a:prstGeom prst="rect">
              <a:avLst/>
            </a:prstGeom>
          </p:spPr>
          <p:txBody>
            <a:bodyPr lIns="0" tIns="0" rIns="0" bIns="0" rtlCol="0" anchor="ctr"/>
            <a:lstStyle/>
            <a:p>
              <a:pPr algn="r">
                <a:lnSpc>
                  <a:spcPts val="1535"/>
                </a:lnSpc>
              </a:pPr>
              <a:r>
                <a:rPr lang="en-US" sz="1279">
                  <a:solidFill>
                    <a:srgbClr val="888888"/>
                  </a:solidFill>
                  <a:latin typeface="Times New Roman"/>
                  <a:ea typeface="Times New Roman"/>
                  <a:cs typeface="Times New Roman"/>
                  <a:sym typeface="Times New Roman"/>
                </a:rPr>
                <a:t>26</a:t>
              </a:r>
            </a:p>
            <a:p>
              <a:pPr algn="r">
                <a:lnSpc>
                  <a:spcPts val="1536"/>
                </a:lnSpc>
              </a:pPr>
              <a:endParaRPr lang="en-US" sz="1279">
                <a:solidFill>
                  <a:srgbClr val="888888"/>
                </a:solidFill>
                <a:latin typeface="Times New Roman"/>
                <a:ea typeface="Times New Roman"/>
                <a:cs typeface="Times New Roman"/>
                <a:sym typeface="Times New Roman"/>
              </a:endParaRPr>
            </a:p>
          </p:txBody>
        </p:sp>
      </p:grpSp>
      <p:grpSp>
        <p:nvGrpSpPr>
          <p:cNvPr id="8" name="Group 8"/>
          <p:cNvGrpSpPr/>
          <p:nvPr/>
        </p:nvGrpSpPr>
        <p:grpSpPr>
          <a:xfrm>
            <a:off x="1206766" y="6809463"/>
            <a:ext cx="7340067" cy="330757"/>
            <a:chOff x="0" y="0"/>
            <a:chExt cx="9786756" cy="441009"/>
          </a:xfrm>
        </p:grpSpPr>
        <p:sp>
          <p:nvSpPr>
            <p:cNvPr id="9" name="Freeform 9"/>
            <p:cNvSpPr/>
            <p:nvPr/>
          </p:nvSpPr>
          <p:spPr>
            <a:xfrm>
              <a:off x="0" y="0"/>
              <a:ext cx="9786756" cy="441009"/>
            </a:xfrm>
            <a:custGeom>
              <a:avLst/>
              <a:gdLst/>
              <a:ahLst/>
              <a:cxnLst/>
              <a:rect l="l" t="t" r="r" b="b"/>
              <a:pathLst>
                <a:path w="9786756" h="441009">
                  <a:moveTo>
                    <a:pt x="0" y="0"/>
                  </a:moveTo>
                  <a:lnTo>
                    <a:pt x="9786756" y="0"/>
                  </a:lnTo>
                  <a:lnTo>
                    <a:pt x="9786756" y="441009"/>
                  </a:lnTo>
                  <a:lnTo>
                    <a:pt x="0" y="441009"/>
                  </a:lnTo>
                  <a:close/>
                </a:path>
              </a:pathLst>
            </a:custGeom>
            <a:solidFill>
              <a:srgbClr val="000000">
                <a:alpha val="0"/>
              </a:srgbClr>
            </a:solidFill>
          </p:spPr>
        </p:sp>
        <p:sp>
          <p:nvSpPr>
            <p:cNvPr id="10" name="TextBox 10"/>
            <p:cNvSpPr txBox="1"/>
            <p:nvPr/>
          </p:nvSpPr>
          <p:spPr>
            <a:xfrm>
              <a:off x="0" y="-28575"/>
              <a:ext cx="9786756" cy="469584"/>
            </a:xfrm>
            <a:prstGeom prst="rect">
              <a:avLst/>
            </a:prstGeom>
          </p:spPr>
          <p:txBody>
            <a:bodyPr lIns="0" tIns="0" rIns="0" bIns="0" rtlCol="0" anchor="ctr"/>
            <a:lstStyle/>
            <a:p>
              <a:pPr algn="ctr">
                <a:lnSpc>
                  <a:spcPts val="1559"/>
                </a:lnSpc>
              </a:pPr>
              <a:r>
                <a:rPr lang="en-US" sz="1299">
                  <a:solidFill>
                    <a:srgbClr val="888888"/>
                  </a:solidFill>
                  <a:latin typeface="Times New Roman"/>
                  <a:ea typeface="Times New Roman"/>
                  <a:cs typeface="Times New Roman"/>
                  <a:sym typeface="Times New Roman"/>
                </a:rPr>
                <a:t>Integrated Anti-Spoofing and Deepfake Detection System Using MobileNet and ResNeXt</a:t>
              </a:r>
            </a:p>
          </p:txBody>
        </p:sp>
      </p:grpSp>
      <p:sp>
        <p:nvSpPr>
          <p:cNvPr id="11" name="Freeform 11"/>
          <p:cNvSpPr/>
          <p:nvPr/>
        </p:nvSpPr>
        <p:spPr>
          <a:xfrm>
            <a:off x="731520" y="1437640"/>
            <a:ext cx="8351520" cy="4572457"/>
          </a:xfrm>
          <a:custGeom>
            <a:avLst/>
            <a:gdLst/>
            <a:ahLst/>
            <a:cxnLst/>
            <a:rect l="l" t="t" r="r" b="b"/>
            <a:pathLst>
              <a:path w="8351520" h="4572457">
                <a:moveTo>
                  <a:pt x="0" y="0"/>
                </a:moveTo>
                <a:lnTo>
                  <a:pt x="8351520" y="0"/>
                </a:lnTo>
                <a:lnTo>
                  <a:pt x="8351520" y="4572458"/>
                </a:lnTo>
                <a:lnTo>
                  <a:pt x="0" y="4572458"/>
                </a:lnTo>
                <a:lnTo>
                  <a:pt x="0" y="0"/>
                </a:lnTo>
                <a:close/>
              </a:path>
            </a:pathLst>
          </a:custGeom>
          <a:blipFill>
            <a:blip r:embed="rId2"/>
            <a:stretch>
              <a:fillRect/>
            </a:stretch>
          </a:blipFill>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70560" y="177057"/>
            <a:ext cx="8412480" cy="733933"/>
            <a:chOff x="0" y="0"/>
            <a:chExt cx="11216640" cy="978578"/>
          </a:xfrm>
        </p:grpSpPr>
        <p:sp>
          <p:nvSpPr>
            <p:cNvPr id="3" name="Freeform 3"/>
            <p:cNvSpPr/>
            <p:nvPr/>
          </p:nvSpPr>
          <p:spPr>
            <a:xfrm>
              <a:off x="0" y="0"/>
              <a:ext cx="11216640" cy="978578"/>
            </a:xfrm>
            <a:custGeom>
              <a:avLst/>
              <a:gdLst/>
              <a:ahLst/>
              <a:cxnLst/>
              <a:rect l="l" t="t" r="r" b="b"/>
              <a:pathLst>
                <a:path w="11216640" h="978578">
                  <a:moveTo>
                    <a:pt x="0" y="0"/>
                  </a:moveTo>
                  <a:lnTo>
                    <a:pt x="11216640" y="0"/>
                  </a:lnTo>
                  <a:lnTo>
                    <a:pt x="11216640" y="978578"/>
                  </a:lnTo>
                  <a:lnTo>
                    <a:pt x="0" y="978578"/>
                  </a:lnTo>
                  <a:close/>
                </a:path>
              </a:pathLst>
            </a:custGeom>
            <a:solidFill>
              <a:srgbClr val="000000">
                <a:alpha val="0"/>
              </a:srgbClr>
            </a:solidFill>
          </p:spPr>
        </p:sp>
        <p:sp>
          <p:nvSpPr>
            <p:cNvPr id="4" name="TextBox 4"/>
            <p:cNvSpPr txBox="1"/>
            <p:nvPr/>
          </p:nvSpPr>
          <p:spPr>
            <a:xfrm>
              <a:off x="0" y="-38100"/>
              <a:ext cx="11216640" cy="1016678"/>
            </a:xfrm>
            <a:prstGeom prst="rect">
              <a:avLst/>
            </a:prstGeom>
          </p:spPr>
          <p:txBody>
            <a:bodyPr lIns="0" tIns="0" rIns="0" bIns="0" rtlCol="0" anchor="ctr"/>
            <a:lstStyle/>
            <a:p>
              <a:pPr algn="ctr">
                <a:lnSpc>
                  <a:spcPts val="4104"/>
                </a:lnSpc>
              </a:pPr>
              <a:r>
                <a:rPr lang="en-US" sz="3800" b="1">
                  <a:solidFill>
                    <a:srgbClr val="7030A0"/>
                  </a:solidFill>
                  <a:latin typeface="Times New Roman Bold"/>
                  <a:ea typeface="Times New Roman Bold"/>
                  <a:cs typeface="Times New Roman Bold"/>
                  <a:sym typeface="Times New Roman Bold"/>
                </a:rPr>
                <a:t>SCREEN SHOTS</a:t>
              </a:r>
            </a:p>
          </p:txBody>
        </p:sp>
      </p:grpSp>
      <p:grpSp>
        <p:nvGrpSpPr>
          <p:cNvPr id="5" name="Group 5"/>
          <p:cNvGrpSpPr/>
          <p:nvPr/>
        </p:nvGrpSpPr>
        <p:grpSpPr>
          <a:xfrm>
            <a:off x="6888480" y="6780108"/>
            <a:ext cx="2194560" cy="435458"/>
            <a:chOff x="0" y="0"/>
            <a:chExt cx="2926080" cy="580610"/>
          </a:xfrm>
        </p:grpSpPr>
        <p:sp>
          <p:nvSpPr>
            <p:cNvPr id="6" name="Freeform 6"/>
            <p:cNvSpPr/>
            <p:nvPr/>
          </p:nvSpPr>
          <p:spPr>
            <a:xfrm>
              <a:off x="0" y="0"/>
              <a:ext cx="2926080" cy="580610"/>
            </a:xfrm>
            <a:custGeom>
              <a:avLst/>
              <a:gdLst/>
              <a:ahLst/>
              <a:cxnLst/>
              <a:rect l="l" t="t" r="r" b="b"/>
              <a:pathLst>
                <a:path w="2926080" h="580610">
                  <a:moveTo>
                    <a:pt x="0" y="0"/>
                  </a:moveTo>
                  <a:lnTo>
                    <a:pt x="2926080" y="0"/>
                  </a:lnTo>
                  <a:lnTo>
                    <a:pt x="2926080" y="580610"/>
                  </a:lnTo>
                  <a:lnTo>
                    <a:pt x="0" y="580610"/>
                  </a:lnTo>
                  <a:close/>
                </a:path>
              </a:pathLst>
            </a:custGeom>
            <a:solidFill>
              <a:srgbClr val="000000">
                <a:alpha val="0"/>
              </a:srgbClr>
            </a:solidFill>
          </p:spPr>
        </p:sp>
        <p:sp>
          <p:nvSpPr>
            <p:cNvPr id="7" name="TextBox 7"/>
            <p:cNvSpPr txBox="1"/>
            <p:nvPr/>
          </p:nvSpPr>
          <p:spPr>
            <a:xfrm>
              <a:off x="0" y="-28575"/>
              <a:ext cx="2926080" cy="609185"/>
            </a:xfrm>
            <a:prstGeom prst="rect">
              <a:avLst/>
            </a:prstGeom>
          </p:spPr>
          <p:txBody>
            <a:bodyPr lIns="0" tIns="0" rIns="0" bIns="0" rtlCol="0" anchor="ctr"/>
            <a:lstStyle/>
            <a:p>
              <a:pPr algn="r">
                <a:lnSpc>
                  <a:spcPts val="1535"/>
                </a:lnSpc>
              </a:pPr>
              <a:r>
                <a:rPr lang="en-US" sz="1279">
                  <a:solidFill>
                    <a:srgbClr val="888888"/>
                  </a:solidFill>
                  <a:latin typeface="Times New Roman"/>
                  <a:ea typeface="Times New Roman"/>
                  <a:cs typeface="Times New Roman"/>
                  <a:sym typeface="Times New Roman"/>
                </a:rPr>
                <a:t>27</a:t>
              </a:r>
            </a:p>
            <a:p>
              <a:pPr algn="r">
                <a:lnSpc>
                  <a:spcPts val="1536"/>
                </a:lnSpc>
              </a:pPr>
              <a:endParaRPr lang="en-US" sz="1279">
                <a:solidFill>
                  <a:srgbClr val="888888"/>
                </a:solidFill>
                <a:latin typeface="Times New Roman"/>
                <a:ea typeface="Times New Roman"/>
                <a:cs typeface="Times New Roman"/>
                <a:sym typeface="Times New Roman"/>
              </a:endParaRPr>
            </a:p>
          </p:txBody>
        </p:sp>
      </p:grpSp>
      <p:grpSp>
        <p:nvGrpSpPr>
          <p:cNvPr id="8" name="Group 8"/>
          <p:cNvGrpSpPr/>
          <p:nvPr/>
        </p:nvGrpSpPr>
        <p:grpSpPr>
          <a:xfrm>
            <a:off x="1206766" y="6809463"/>
            <a:ext cx="7340067" cy="330757"/>
            <a:chOff x="0" y="0"/>
            <a:chExt cx="9786756" cy="441009"/>
          </a:xfrm>
        </p:grpSpPr>
        <p:sp>
          <p:nvSpPr>
            <p:cNvPr id="9" name="Freeform 9"/>
            <p:cNvSpPr/>
            <p:nvPr/>
          </p:nvSpPr>
          <p:spPr>
            <a:xfrm>
              <a:off x="0" y="0"/>
              <a:ext cx="9786756" cy="441009"/>
            </a:xfrm>
            <a:custGeom>
              <a:avLst/>
              <a:gdLst/>
              <a:ahLst/>
              <a:cxnLst/>
              <a:rect l="l" t="t" r="r" b="b"/>
              <a:pathLst>
                <a:path w="9786756" h="441009">
                  <a:moveTo>
                    <a:pt x="0" y="0"/>
                  </a:moveTo>
                  <a:lnTo>
                    <a:pt x="9786756" y="0"/>
                  </a:lnTo>
                  <a:lnTo>
                    <a:pt x="9786756" y="441009"/>
                  </a:lnTo>
                  <a:lnTo>
                    <a:pt x="0" y="441009"/>
                  </a:lnTo>
                  <a:close/>
                </a:path>
              </a:pathLst>
            </a:custGeom>
            <a:solidFill>
              <a:srgbClr val="000000">
                <a:alpha val="0"/>
              </a:srgbClr>
            </a:solidFill>
          </p:spPr>
        </p:sp>
        <p:sp>
          <p:nvSpPr>
            <p:cNvPr id="10" name="TextBox 10"/>
            <p:cNvSpPr txBox="1"/>
            <p:nvPr/>
          </p:nvSpPr>
          <p:spPr>
            <a:xfrm>
              <a:off x="0" y="-28575"/>
              <a:ext cx="9786756" cy="469584"/>
            </a:xfrm>
            <a:prstGeom prst="rect">
              <a:avLst/>
            </a:prstGeom>
          </p:spPr>
          <p:txBody>
            <a:bodyPr lIns="0" tIns="0" rIns="0" bIns="0" rtlCol="0" anchor="ctr"/>
            <a:lstStyle/>
            <a:p>
              <a:pPr algn="ctr">
                <a:lnSpc>
                  <a:spcPts val="1559"/>
                </a:lnSpc>
              </a:pPr>
              <a:r>
                <a:rPr lang="en-US" sz="1299">
                  <a:solidFill>
                    <a:srgbClr val="888888"/>
                  </a:solidFill>
                  <a:latin typeface="Times New Roman"/>
                  <a:ea typeface="Times New Roman"/>
                  <a:cs typeface="Times New Roman"/>
                  <a:sym typeface="Times New Roman"/>
                </a:rPr>
                <a:t>Integrated Anti-Spoofing and Deepfake Detection System Using MobileNet and ResNeXt</a:t>
              </a:r>
            </a:p>
          </p:txBody>
        </p:sp>
      </p:grpSp>
      <p:sp>
        <p:nvSpPr>
          <p:cNvPr id="11" name="Freeform 11"/>
          <p:cNvSpPr/>
          <p:nvPr/>
        </p:nvSpPr>
        <p:spPr>
          <a:xfrm>
            <a:off x="731520" y="1227430"/>
            <a:ext cx="8290560" cy="4860341"/>
          </a:xfrm>
          <a:custGeom>
            <a:avLst/>
            <a:gdLst/>
            <a:ahLst/>
            <a:cxnLst/>
            <a:rect l="l" t="t" r="r" b="b"/>
            <a:pathLst>
              <a:path w="8290560" h="4860341">
                <a:moveTo>
                  <a:pt x="0" y="0"/>
                </a:moveTo>
                <a:lnTo>
                  <a:pt x="8290560" y="0"/>
                </a:lnTo>
                <a:lnTo>
                  <a:pt x="8290560" y="4860340"/>
                </a:lnTo>
                <a:lnTo>
                  <a:pt x="0" y="4860340"/>
                </a:lnTo>
                <a:lnTo>
                  <a:pt x="0" y="0"/>
                </a:lnTo>
                <a:close/>
              </a:path>
            </a:pathLst>
          </a:custGeom>
          <a:blipFill>
            <a:blip r:embed="rId2"/>
            <a:stretch>
              <a:fillRect/>
            </a:stretch>
          </a:blipFill>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70560" y="177057"/>
            <a:ext cx="8412480" cy="733933"/>
            <a:chOff x="0" y="0"/>
            <a:chExt cx="11216640" cy="978578"/>
          </a:xfrm>
        </p:grpSpPr>
        <p:sp>
          <p:nvSpPr>
            <p:cNvPr id="3" name="Freeform 3"/>
            <p:cNvSpPr/>
            <p:nvPr/>
          </p:nvSpPr>
          <p:spPr>
            <a:xfrm>
              <a:off x="0" y="0"/>
              <a:ext cx="11216640" cy="978578"/>
            </a:xfrm>
            <a:custGeom>
              <a:avLst/>
              <a:gdLst/>
              <a:ahLst/>
              <a:cxnLst/>
              <a:rect l="l" t="t" r="r" b="b"/>
              <a:pathLst>
                <a:path w="11216640" h="978578">
                  <a:moveTo>
                    <a:pt x="0" y="0"/>
                  </a:moveTo>
                  <a:lnTo>
                    <a:pt x="11216640" y="0"/>
                  </a:lnTo>
                  <a:lnTo>
                    <a:pt x="11216640" y="978578"/>
                  </a:lnTo>
                  <a:lnTo>
                    <a:pt x="0" y="978578"/>
                  </a:lnTo>
                  <a:close/>
                </a:path>
              </a:pathLst>
            </a:custGeom>
            <a:solidFill>
              <a:srgbClr val="000000">
                <a:alpha val="0"/>
              </a:srgbClr>
            </a:solidFill>
          </p:spPr>
        </p:sp>
        <p:sp>
          <p:nvSpPr>
            <p:cNvPr id="4" name="TextBox 4"/>
            <p:cNvSpPr txBox="1"/>
            <p:nvPr/>
          </p:nvSpPr>
          <p:spPr>
            <a:xfrm>
              <a:off x="0" y="-38100"/>
              <a:ext cx="11216640" cy="1016678"/>
            </a:xfrm>
            <a:prstGeom prst="rect">
              <a:avLst/>
            </a:prstGeom>
          </p:spPr>
          <p:txBody>
            <a:bodyPr lIns="0" tIns="0" rIns="0" bIns="0" rtlCol="0" anchor="ctr"/>
            <a:lstStyle/>
            <a:p>
              <a:pPr algn="ctr">
                <a:lnSpc>
                  <a:spcPts val="4104"/>
                </a:lnSpc>
              </a:pPr>
              <a:r>
                <a:rPr lang="en-US" sz="3800" b="1">
                  <a:solidFill>
                    <a:srgbClr val="7030A0"/>
                  </a:solidFill>
                  <a:latin typeface="Times New Roman Bold"/>
                  <a:ea typeface="Times New Roman Bold"/>
                  <a:cs typeface="Times New Roman Bold"/>
                  <a:sym typeface="Times New Roman Bold"/>
                </a:rPr>
                <a:t>SCREEN SHOTS</a:t>
              </a:r>
            </a:p>
          </p:txBody>
        </p:sp>
      </p:grpSp>
      <p:grpSp>
        <p:nvGrpSpPr>
          <p:cNvPr id="5" name="Group 5"/>
          <p:cNvGrpSpPr/>
          <p:nvPr/>
        </p:nvGrpSpPr>
        <p:grpSpPr>
          <a:xfrm>
            <a:off x="6888480" y="6780108"/>
            <a:ext cx="2194560" cy="435458"/>
            <a:chOff x="0" y="0"/>
            <a:chExt cx="2926080" cy="580610"/>
          </a:xfrm>
        </p:grpSpPr>
        <p:sp>
          <p:nvSpPr>
            <p:cNvPr id="6" name="Freeform 6"/>
            <p:cNvSpPr/>
            <p:nvPr/>
          </p:nvSpPr>
          <p:spPr>
            <a:xfrm>
              <a:off x="0" y="0"/>
              <a:ext cx="2926080" cy="580610"/>
            </a:xfrm>
            <a:custGeom>
              <a:avLst/>
              <a:gdLst/>
              <a:ahLst/>
              <a:cxnLst/>
              <a:rect l="l" t="t" r="r" b="b"/>
              <a:pathLst>
                <a:path w="2926080" h="580610">
                  <a:moveTo>
                    <a:pt x="0" y="0"/>
                  </a:moveTo>
                  <a:lnTo>
                    <a:pt x="2926080" y="0"/>
                  </a:lnTo>
                  <a:lnTo>
                    <a:pt x="2926080" y="580610"/>
                  </a:lnTo>
                  <a:lnTo>
                    <a:pt x="0" y="580610"/>
                  </a:lnTo>
                  <a:close/>
                </a:path>
              </a:pathLst>
            </a:custGeom>
            <a:solidFill>
              <a:srgbClr val="000000">
                <a:alpha val="0"/>
              </a:srgbClr>
            </a:solidFill>
          </p:spPr>
        </p:sp>
        <p:sp>
          <p:nvSpPr>
            <p:cNvPr id="7" name="TextBox 7"/>
            <p:cNvSpPr txBox="1"/>
            <p:nvPr/>
          </p:nvSpPr>
          <p:spPr>
            <a:xfrm>
              <a:off x="0" y="-28575"/>
              <a:ext cx="2926080" cy="609185"/>
            </a:xfrm>
            <a:prstGeom prst="rect">
              <a:avLst/>
            </a:prstGeom>
          </p:spPr>
          <p:txBody>
            <a:bodyPr lIns="0" tIns="0" rIns="0" bIns="0" rtlCol="0" anchor="ctr"/>
            <a:lstStyle/>
            <a:p>
              <a:pPr algn="r">
                <a:lnSpc>
                  <a:spcPts val="1535"/>
                </a:lnSpc>
              </a:pPr>
              <a:r>
                <a:rPr lang="en-US" sz="1279">
                  <a:solidFill>
                    <a:srgbClr val="888888"/>
                  </a:solidFill>
                  <a:latin typeface="Times New Roman"/>
                  <a:ea typeface="Times New Roman"/>
                  <a:cs typeface="Times New Roman"/>
                  <a:sym typeface="Times New Roman"/>
                </a:rPr>
                <a:t>28</a:t>
              </a:r>
            </a:p>
            <a:p>
              <a:pPr algn="r">
                <a:lnSpc>
                  <a:spcPts val="1536"/>
                </a:lnSpc>
              </a:pPr>
              <a:endParaRPr lang="en-US" sz="1279">
                <a:solidFill>
                  <a:srgbClr val="888888"/>
                </a:solidFill>
                <a:latin typeface="Times New Roman"/>
                <a:ea typeface="Times New Roman"/>
                <a:cs typeface="Times New Roman"/>
                <a:sym typeface="Times New Roman"/>
              </a:endParaRPr>
            </a:p>
          </p:txBody>
        </p:sp>
      </p:grpSp>
      <p:grpSp>
        <p:nvGrpSpPr>
          <p:cNvPr id="8" name="Group 8"/>
          <p:cNvGrpSpPr/>
          <p:nvPr/>
        </p:nvGrpSpPr>
        <p:grpSpPr>
          <a:xfrm>
            <a:off x="1206766" y="6809463"/>
            <a:ext cx="7340067" cy="330757"/>
            <a:chOff x="0" y="0"/>
            <a:chExt cx="9786756" cy="441009"/>
          </a:xfrm>
        </p:grpSpPr>
        <p:sp>
          <p:nvSpPr>
            <p:cNvPr id="9" name="Freeform 9"/>
            <p:cNvSpPr/>
            <p:nvPr/>
          </p:nvSpPr>
          <p:spPr>
            <a:xfrm>
              <a:off x="0" y="0"/>
              <a:ext cx="9786756" cy="441009"/>
            </a:xfrm>
            <a:custGeom>
              <a:avLst/>
              <a:gdLst/>
              <a:ahLst/>
              <a:cxnLst/>
              <a:rect l="l" t="t" r="r" b="b"/>
              <a:pathLst>
                <a:path w="9786756" h="441009">
                  <a:moveTo>
                    <a:pt x="0" y="0"/>
                  </a:moveTo>
                  <a:lnTo>
                    <a:pt x="9786756" y="0"/>
                  </a:lnTo>
                  <a:lnTo>
                    <a:pt x="9786756" y="441009"/>
                  </a:lnTo>
                  <a:lnTo>
                    <a:pt x="0" y="441009"/>
                  </a:lnTo>
                  <a:close/>
                </a:path>
              </a:pathLst>
            </a:custGeom>
            <a:solidFill>
              <a:srgbClr val="000000">
                <a:alpha val="0"/>
              </a:srgbClr>
            </a:solidFill>
          </p:spPr>
        </p:sp>
        <p:sp>
          <p:nvSpPr>
            <p:cNvPr id="10" name="TextBox 10"/>
            <p:cNvSpPr txBox="1"/>
            <p:nvPr/>
          </p:nvSpPr>
          <p:spPr>
            <a:xfrm>
              <a:off x="0" y="-28575"/>
              <a:ext cx="9786756" cy="469584"/>
            </a:xfrm>
            <a:prstGeom prst="rect">
              <a:avLst/>
            </a:prstGeom>
          </p:spPr>
          <p:txBody>
            <a:bodyPr lIns="0" tIns="0" rIns="0" bIns="0" rtlCol="0" anchor="ctr"/>
            <a:lstStyle/>
            <a:p>
              <a:pPr algn="ctr">
                <a:lnSpc>
                  <a:spcPts val="1559"/>
                </a:lnSpc>
              </a:pPr>
              <a:r>
                <a:rPr lang="en-US" sz="1299">
                  <a:solidFill>
                    <a:srgbClr val="888888"/>
                  </a:solidFill>
                  <a:latin typeface="Times New Roman"/>
                  <a:ea typeface="Times New Roman"/>
                  <a:cs typeface="Times New Roman"/>
                  <a:sym typeface="Times New Roman"/>
                </a:rPr>
                <a:t>Integrated Anti-Spoofing and Deepfake Detection System Using MobileNet and ResNeXt</a:t>
              </a:r>
            </a:p>
          </p:txBody>
        </p:sp>
      </p:grpSp>
      <p:sp>
        <p:nvSpPr>
          <p:cNvPr id="11" name="Freeform 11"/>
          <p:cNvSpPr/>
          <p:nvPr/>
        </p:nvSpPr>
        <p:spPr>
          <a:xfrm>
            <a:off x="914229" y="1349402"/>
            <a:ext cx="8168811" cy="4758333"/>
          </a:xfrm>
          <a:custGeom>
            <a:avLst/>
            <a:gdLst/>
            <a:ahLst/>
            <a:cxnLst/>
            <a:rect l="l" t="t" r="r" b="b"/>
            <a:pathLst>
              <a:path w="8168811" h="4758333">
                <a:moveTo>
                  <a:pt x="0" y="0"/>
                </a:moveTo>
                <a:lnTo>
                  <a:pt x="8168811" y="0"/>
                </a:lnTo>
                <a:lnTo>
                  <a:pt x="8168811" y="4758333"/>
                </a:lnTo>
                <a:lnTo>
                  <a:pt x="0" y="4758333"/>
                </a:lnTo>
                <a:lnTo>
                  <a:pt x="0" y="0"/>
                </a:lnTo>
                <a:close/>
              </a:path>
            </a:pathLst>
          </a:custGeom>
          <a:blipFill>
            <a:blip r:embed="rId2"/>
            <a:stretch>
              <a:fillRect/>
            </a:stretch>
          </a:blipFill>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70560" y="177057"/>
            <a:ext cx="8412480" cy="733933"/>
            <a:chOff x="0" y="0"/>
            <a:chExt cx="11216640" cy="978578"/>
          </a:xfrm>
        </p:grpSpPr>
        <p:sp>
          <p:nvSpPr>
            <p:cNvPr id="3" name="Freeform 3"/>
            <p:cNvSpPr/>
            <p:nvPr/>
          </p:nvSpPr>
          <p:spPr>
            <a:xfrm>
              <a:off x="0" y="0"/>
              <a:ext cx="11216640" cy="978578"/>
            </a:xfrm>
            <a:custGeom>
              <a:avLst/>
              <a:gdLst/>
              <a:ahLst/>
              <a:cxnLst/>
              <a:rect l="l" t="t" r="r" b="b"/>
              <a:pathLst>
                <a:path w="11216640" h="978578">
                  <a:moveTo>
                    <a:pt x="0" y="0"/>
                  </a:moveTo>
                  <a:lnTo>
                    <a:pt x="11216640" y="0"/>
                  </a:lnTo>
                  <a:lnTo>
                    <a:pt x="11216640" y="978578"/>
                  </a:lnTo>
                  <a:lnTo>
                    <a:pt x="0" y="978578"/>
                  </a:lnTo>
                  <a:close/>
                </a:path>
              </a:pathLst>
            </a:custGeom>
            <a:solidFill>
              <a:srgbClr val="000000">
                <a:alpha val="0"/>
              </a:srgbClr>
            </a:solidFill>
          </p:spPr>
        </p:sp>
        <p:sp>
          <p:nvSpPr>
            <p:cNvPr id="4" name="TextBox 4"/>
            <p:cNvSpPr txBox="1"/>
            <p:nvPr/>
          </p:nvSpPr>
          <p:spPr>
            <a:xfrm>
              <a:off x="0" y="-38100"/>
              <a:ext cx="11216640" cy="1016678"/>
            </a:xfrm>
            <a:prstGeom prst="rect">
              <a:avLst/>
            </a:prstGeom>
          </p:spPr>
          <p:txBody>
            <a:bodyPr lIns="0" tIns="0" rIns="0" bIns="0" rtlCol="0" anchor="ctr"/>
            <a:lstStyle/>
            <a:p>
              <a:pPr algn="ctr">
                <a:lnSpc>
                  <a:spcPts val="4104"/>
                </a:lnSpc>
              </a:pPr>
              <a:r>
                <a:rPr lang="en-US" sz="3800" b="1">
                  <a:solidFill>
                    <a:srgbClr val="7030A0"/>
                  </a:solidFill>
                  <a:latin typeface="Times New Roman Bold"/>
                  <a:ea typeface="Times New Roman Bold"/>
                  <a:cs typeface="Times New Roman Bold"/>
                  <a:sym typeface="Times New Roman Bold"/>
                </a:rPr>
                <a:t>SCREEN SHOTS</a:t>
              </a:r>
            </a:p>
          </p:txBody>
        </p:sp>
      </p:grpSp>
      <p:grpSp>
        <p:nvGrpSpPr>
          <p:cNvPr id="5" name="Group 5"/>
          <p:cNvGrpSpPr/>
          <p:nvPr/>
        </p:nvGrpSpPr>
        <p:grpSpPr>
          <a:xfrm>
            <a:off x="6888480" y="6750753"/>
            <a:ext cx="2194560" cy="389467"/>
            <a:chOff x="0" y="0"/>
            <a:chExt cx="2926080" cy="519289"/>
          </a:xfrm>
        </p:grpSpPr>
        <p:sp>
          <p:nvSpPr>
            <p:cNvPr id="6" name="Freeform 6"/>
            <p:cNvSpPr/>
            <p:nvPr/>
          </p:nvSpPr>
          <p:spPr>
            <a:xfrm>
              <a:off x="0" y="0"/>
              <a:ext cx="2926080" cy="519289"/>
            </a:xfrm>
            <a:custGeom>
              <a:avLst/>
              <a:gdLst/>
              <a:ahLst/>
              <a:cxnLst/>
              <a:rect l="l" t="t" r="r" b="b"/>
              <a:pathLst>
                <a:path w="2926080" h="519289">
                  <a:moveTo>
                    <a:pt x="0" y="0"/>
                  </a:moveTo>
                  <a:lnTo>
                    <a:pt x="2926080" y="0"/>
                  </a:lnTo>
                  <a:lnTo>
                    <a:pt x="2926080" y="519289"/>
                  </a:lnTo>
                  <a:lnTo>
                    <a:pt x="0" y="519289"/>
                  </a:lnTo>
                  <a:close/>
                </a:path>
              </a:pathLst>
            </a:custGeom>
            <a:solidFill>
              <a:srgbClr val="000000">
                <a:alpha val="0"/>
              </a:srgbClr>
            </a:solidFill>
          </p:spPr>
        </p:sp>
        <p:sp>
          <p:nvSpPr>
            <p:cNvPr id="7" name="TextBox 7"/>
            <p:cNvSpPr txBox="1"/>
            <p:nvPr/>
          </p:nvSpPr>
          <p:spPr>
            <a:xfrm>
              <a:off x="0" y="-28575"/>
              <a:ext cx="2926080" cy="547864"/>
            </a:xfrm>
            <a:prstGeom prst="rect">
              <a:avLst/>
            </a:prstGeom>
          </p:spPr>
          <p:txBody>
            <a:bodyPr lIns="0" tIns="0" rIns="0" bIns="0" rtlCol="0" anchor="ctr"/>
            <a:lstStyle/>
            <a:p>
              <a:pPr algn="r">
                <a:lnSpc>
                  <a:spcPts val="1536"/>
                </a:lnSpc>
              </a:pPr>
              <a:r>
                <a:rPr lang="en-US" sz="1280">
                  <a:solidFill>
                    <a:srgbClr val="888888"/>
                  </a:solidFill>
                  <a:latin typeface="Times New Roman"/>
                  <a:ea typeface="Times New Roman"/>
                  <a:cs typeface="Times New Roman"/>
                  <a:sym typeface="Times New Roman"/>
                </a:rPr>
                <a:t>29</a:t>
              </a:r>
            </a:p>
          </p:txBody>
        </p:sp>
      </p:grpSp>
      <p:grpSp>
        <p:nvGrpSpPr>
          <p:cNvPr id="8" name="Group 8"/>
          <p:cNvGrpSpPr/>
          <p:nvPr/>
        </p:nvGrpSpPr>
        <p:grpSpPr>
          <a:xfrm>
            <a:off x="1206766" y="6809463"/>
            <a:ext cx="7340067" cy="330757"/>
            <a:chOff x="0" y="0"/>
            <a:chExt cx="9786756" cy="441009"/>
          </a:xfrm>
        </p:grpSpPr>
        <p:sp>
          <p:nvSpPr>
            <p:cNvPr id="9" name="Freeform 9"/>
            <p:cNvSpPr/>
            <p:nvPr/>
          </p:nvSpPr>
          <p:spPr>
            <a:xfrm>
              <a:off x="0" y="0"/>
              <a:ext cx="9786756" cy="441009"/>
            </a:xfrm>
            <a:custGeom>
              <a:avLst/>
              <a:gdLst/>
              <a:ahLst/>
              <a:cxnLst/>
              <a:rect l="l" t="t" r="r" b="b"/>
              <a:pathLst>
                <a:path w="9786756" h="441009">
                  <a:moveTo>
                    <a:pt x="0" y="0"/>
                  </a:moveTo>
                  <a:lnTo>
                    <a:pt x="9786756" y="0"/>
                  </a:lnTo>
                  <a:lnTo>
                    <a:pt x="9786756" y="441009"/>
                  </a:lnTo>
                  <a:lnTo>
                    <a:pt x="0" y="441009"/>
                  </a:lnTo>
                  <a:close/>
                </a:path>
              </a:pathLst>
            </a:custGeom>
            <a:solidFill>
              <a:srgbClr val="000000">
                <a:alpha val="0"/>
              </a:srgbClr>
            </a:solidFill>
          </p:spPr>
        </p:sp>
        <p:sp>
          <p:nvSpPr>
            <p:cNvPr id="10" name="TextBox 10"/>
            <p:cNvSpPr txBox="1"/>
            <p:nvPr/>
          </p:nvSpPr>
          <p:spPr>
            <a:xfrm>
              <a:off x="0" y="-28575"/>
              <a:ext cx="9786756" cy="469584"/>
            </a:xfrm>
            <a:prstGeom prst="rect">
              <a:avLst/>
            </a:prstGeom>
          </p:spPr>
          <p:txBody>
            <a:bodyPr lIns="0" tIns="0" rIns="0" bIns="0" rtlCol="0" anchor="ctr"/>
            <a:lstStyle/>
            <a:p>
              <a:pPr algn="ctr">
                <a:lnSpc>
                  <a:spcPts val="1559"/>
                </a:lnSpc>
              </a:pPr>
              <a:r>
                <a:rPr lang="en-US" sz="1299">
                  <a:solidFill>
                    <a:srgbClr val="888888"/>
                  </a:solidFill>
                  <a:latin typeface="Times New Roman"/>
                  <a:ea typeface="Times New Roman"/>
                  <a:cs typeface="Times New Roman"/>
                  <a:sym typeface="Times New Roman"/>
                </a:rPr>
                <a:t>Integrated Anti-Spoofing and Deepfake Detection System Using MobileNet and ResNeXt</a:t>
              </a:r>
            </a:p>
          </p:txBody>
        </p:sp>
      </p:grpSp>
      <p:sp>
        <p:nvSpPr>
          <p:cNvPr id="11" name="Freeform 11"/>
          <p:cNvSpPr/>
          <p:nvPr/>
        </p:nvSpPr>
        <p:spPr>
          <a:xfrm>
            <a:off x="870766" y="1334100"/>
            <a:ext cx="8151314" cy="4727762"/>
          </a:xfrm>
          <a:custGeom>
            <a:avLst/>
            <a:gdLst/>
            <a:ahLst/>
            <a:cxnLst/>
            <a:rect l="l" t="t" r="r" b="b"/>
            <a:pathLst>
              <a:path w="8151314" h="4727762">
                <a:moveTo>
                  <a:pt x="0" y="0"/>
                </a:moveTo>
                <a:lnTo>
                  <a:pt x="8151314" y="0"/>
                </a:lnTo>
                <a:lnTo>
                  <a:pt x="8151314" y="4727762"/>
                </a:lnTo>
                <a:lnTo>
                  <a:pt x="0" y="4727762"/>
                </a:lnTo>
                <a:lnTo>
                  <a:pt x="0" y="0"/>
                </a:lnTo>
                <a:close/>
              </a:path>
            </a:pathLst>
          </a:custGeom>
          <a:blipFill>
            <a:blip r:embed="rId2"/>
            <a:stretch>
              <a:fillRect/>
            </a:stretch>
          </a:blipFill>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70560" y="177057"/>
            <a:ext cx="8412480" cy="733933"/>
            <a:chOff x="0" y="0"/>
            <a:chExt cx="11216640" cy="978578"/>
          </a:xfrm>
        </p:grpSpPr>
        <p:sp>
          <p:nvSpPr>
            <p:cNvPr id="3" name="Freeform 3"/>
            <p:cNvSpPr/>
            <p:nvPr/>
          </p:nvSpPr>
          <p:spPr>
            <a:xfrm>
              <a:off x="0" y="0"/>
              <a:ext cx="11216640" cy="978577"/>
            </a:xfrm>
            <a:custGeom>
              <a:avLst/>
              <a:gdLst/>
              <a:ahLst/>
              <a:cxnLst/>
              <a:rect l="l" t="t" r="r" b="b"/>
              <a:pathLst>
                <a:path w="11216640" h="978577">
                  <a:moveTo>
                    <a:pt x="0" y="0"/>
                  </a:moveTo>
                  <a:lnTo>
                    <a:pt x="11216640" y="0"/>
                  </a:lnTo>
                  <a:lnTo>
                    <a:pt x="11216640" y="978577"/>
                  </a:lnTo>
                  <a:lnTo>
                    <a:pt x="0" y="978577"/>
                  </a:lnTo>
                  <a:close/>
                </a:path>
              </a:pathLst>
            </a:custGeom>
            <a:solidFill>
              <a:srgbClr val="000000">
                <a:alpha val="0"/>
              </a:srgbClr>
            </a:solidFill>
          </p:spPr>
        </p:sp>
        <p:sp>
          <p:nvSpPr>
            <p:cNvPr id="4" name="TextBox 4"/>
            <p:cNvSpPr txBox="1"/>
            <p:nvPr/>
          </p:nvSpPr>
          <p:spPr>
            <a:xfrm>
              <a:off x="0" y="-38100"/>
              <a:ext cx="11216640" cy="1016678"/>
            </a:xfrm>
            <a:prstGeom prst="rect">
              <a:avLst/>
            </a:prstGeom>
          </p:spPr>
          <p:txBody>
            <a:bodyPr lIns="0" tIns="0" rIns="0" bIns="0" rtlCol="0" anchor="ctr"/>
            <a:lstStyle/>
            <a:p>
              <a:pPr algn="ctr">
                <a:lnSpc>
                  <a:spcPts val="4104"/>
                </a:lnSpc>
              </a:pPr>
              <a:r>
                <a:rPr lang="en-US" sz="3800" b="1">
                  <a:solidFill>
                    <a:srgbClr val="7030A0"/>
                  </a:solidFill>
                  <a:latin typeface="Times New Roman Bold"/>
                  <a:ea typeface="Times New Roman Bold"/>
                  <a:cs typeface="Times New Roman Bold"/>
                  <a:sym typeface="Times New Roman Bold"/>
                </a:rPr>
                <a:t>FUTURE ENHANCEMENT</a:t>
              </a:r>
            </a:p>
          </p:txBody>
        </p:sp>
      </p:grpSp>
      <p:grpSp>
        <p:nvGrpSpPr>
          <p:cNvPr id="5" name="Group 5"/>
          <p:cNvGrpSpPr/>
          <p:nvPr/>
        </p:nvGrpSpPr>
        <p:grpSpPr>
          <a:xfrm>
            <a:off x="7059714" y="6734090"/>
            <a:ext cx="2396088" cy="625958"/>
            <a:chOff x="0" y="0"/>
            <a:chExt cx="3194784" cy="834610"/>
          </a:xfrm>
        </p:grpSpPr>
        <p:sp>
          <p:nvSpPr>
            <p:cNvPr id="6" name="Freeform 6"/>
            <p:cNvSpPr/>
            <p:nvPr/>
          </p:nvSpPr>
          <p:spPr>
            <a:xfrm>
              <a:off x="0" y="0"/>
              <a:ext cx="3194783" cy="834610"/>
            </a:xfrm>
            <a:custGeom>
              <a:avLst/>
              <a:gdLst/>
              <a:ahLst/>
              <a:cxnLst/>
              <a:rect l="l" t="t" r="r" b="b"/>
              <a:pathLst>
                <a:path w="3194783" h="834610">
                  <a:moveTo>
                    <a:pt x="0" y="0"/>
                  </a:moveTo>
                  <a:lnTo>
                    <a:pt x="3194783" y="0"/>
                  </a:lnTo>
                  <a:lnTo>
                    <a:pt x="3194783" y="834610"/>
                  </a:lnTo>
                  <a:lnTo>
                    <a:pt x="0" y="834610"/>
                  </a:lnTo>
                  <a:close/>
                </a:path>
              </a:pathLst>
            </a:custGeom>
            <a:solidFill>
              <a:srgbClr val="000000">
                <a:alpha val="0"/>
              </a:srgbClr>
            </a:solidFill>
          </p:spPr>
        </p:sp>
        <p:sp>
          <p:nvSpPr>
            <p:cNvPr id="7" name="TextBox 7"/>
            <p:cNvSpPr txBox="1"/>
            <p:nvPr/>
          </p:nvSpPr>
          <p:spPr>
            <a:xfrm>
              <a:off x="0" y="-28575"/>
              <a:ext cx="3194784" cy="863185"/>
            </a:xfrm>
            <a:prstGeom prst="rect">
              <a:avLst/>
            </a:prstGeom>
          </p:spPr>
          <p:txBody>
            <a:bodyPr lIns="0" tIns="0" rIns="0" bIns="0" rtlCol="0" anchor="ctr"/>
            <a:lstStyle/>
            <a:p>
              <a:pPr algn="r">
                <a:lnSpc>
                  <a:spcPts val="1536"/>
                </a:lnSpc>
              </a:pPr>
              <a:r>
                <a:rPr lang="en-US" sz="1280">
                  <a:solidFill>
                    <a:srgbClr val="888888"/>
                  </a:solidFill>
                  <a:latin typeface="Times New Roman"/>
                  <a:ea typeface="Times New Roman"/>
                  <a:cs typeface="Times New Roman"/>
                  <a:sym typeface="Times New Roman"/>
                </a:rPr>
                <a:t>30</a:t>
              </a:r>
            </a:p>
            <a:p>
              <a:pPr algn="r">
                <a:lnSpc>
                  <a:spcPts val="1535"/>
                </a:lnSpc>
              </a:pPr>
              <a:endParaRPr lang="en-US" sz="1280">
                <a:solidFill>
                  <a:srgbClr val="888888"/>
                </a:solidFill>
                <a:latin typeface="Times New Roman"/>
                <a:ea typeface="Times New Roman"/>
                <a:cs typeface="Times New Roman"/>
                <a:sym typeface="Times New Roman"/>
              </a:endParaRPr>
            </a:p>
            <a:p>
              <a:pPr algn="r">
                <a:lnSpc>
                  <a:spcPts val="1536"/>
                </a:lnSpc>
              </a:pPr>
              <a:endParaRPr lang="en-US" sz="1280">
                <a:solidFill>
                  <a:srgbClr val="888888"/>
                </a:solidFill>
                <a:latin typeface="Times New Roman"/>
                <a:ea typeface="Times New Roman"/>
                <a:cs typeface="Times New Roman"/>
                <a:sym typeface="Times New Roman"/>
              </a:endParaRPr>
            </a:p>
          </p:txBody>
        </p:sp>
      </p:grpSp>
      <p:grpSp>
        <p:nvGrpSpPr>
          <p:cNvPr id="8" name="Group 8"/>
          <p:cNvGrpSpPr/>
          <p:nvPr/>
        </p:nvGrpSpPr>
        <p:grpSpPr>
          <a:xfrm>
            <a:off x="705280" y="1117061"/>
            <a:ext cx="8316800" cy="7850759"/>
            <a:chOff x="0" y="0"/>
            <a:chExt cx="11089067" cy="10467679"/>
          </a:xfrm>
        </p:grpSpPr>
        <p:sp>
          <p:nvSpPr>
            <p:cNvPr id="9" name="Freeform 9"/>
            <p:cNvSpPr/>
            <p:nvPr/>
          </p:nvSpPr>
          <p:spPr>
            <a:xfrm>
              <a:off x="0" y="0"/>
              <a:ext cx="11089067" cy="10467679"/>
            </a:xfrm>
            <a:custGeom>
              <a:avLst/>
              <a:gdLst/>
              <a:ahLst/>
              <a:cxnLst/>
              <a:rect l="l" t="t" r="r" b="b"/>
              <a:pathLst>
                <a:path w="11089067" h="10467679">
                  <a:moveTo>
                    <a:pt x="0" y="0"/>
                  </a:moveTo>
                  <a:lnTo>
                    <a:pt x="11089067" y="0"/>
                  </a:lnTo>
                  <a:lnTo>
                    <a:pt x="11089067" y="10467679"/>
                  </a:lnTo>
                  <a:lnTo>
                    <a:pt x="0" y="10467679"/>
                  </a:lnTo>
                  <a:close/>
                </a:path>
              </a:pathLst>
            </a:custGeom>
            <a:solidFill>
              <a:srgbClr val="000000">
                <a:alpha val="0"/>
              </a:srgbClr>
            </a:solidFill>
          </p:spPr>
        </p:sp>
        <p:sp>
          <p:nvSpPr>
            <p:cNvPr id="10" name="TextBox 10"/>
            <p:cNvSpPr txBox="1"/>
            <p:nvPr/>
          </p:nvSpPr>
          <p:spPr>
            <a:xfrm>
              <a:off x="0" y="-152400"/>
              <a:ext cx="11089067" cy="10620079"/>
            </a:xfrm>
            <a:prstGeom prst="rect">
              <a:avLst/>
            </a:prstGeom>
          </p:spPr>
          <p:txBody>
            <a:bodyPr lIns="0" tIns="0" rIns="0" bIns="0" rtlCol="0" anchor="t"/>
            <a:lstStyle/>
            <a:p>
              <a:pPr marL="410206" lvl="1" indent="-205103" algn="just">
                <a:lnSpc>
                  <a:spcPts val="3419"/>
                </a:lnSpc>
                <a:buFont typeface="Arial"/>
                <a:buChar char="•"/>
              </a:pPr>
              <a:r>
                <a:rPr lang="en-US" sz="1899" b="1">
                  <a:solidFill>
                    <a:srgbClr val="000000"/>
                  </a:solidFill>
                  <a:latin typeface="Times New Roman Bold"/>
                  <a:ea typeface="Times New Roman Bold"/>
                  <a:cs typeface="Times New Roman Bold"/>
                  <a:sym typeface="Times New Roman Bold"/>
                </a:rPr>
                <a:t>Real-Time Detection: </a:t>
              </a:r>
              <a:r>
                <a:rPr lang="en-US" sz="1899">
                  <a:solidFill>
                    <a:srgbClr val="000000"/>
                  </a:solidFill>
                  <a:latin typeface="Times New Roman"/>
                  <a:ea typeface="Times New Roman"/>
                  <a:cs typeface="Times New Roman"/>
                  <a:sym typeface="Times New Roman"/>
                </a:rPr>
                <a:t>Enhancing live stream analysis for social media, video calls, and news to flag deepfakes instantly using low-latency AI and cloud processing.</a:t>
              </a:r>
            </a:p>
            <a:p>
              <a:pPr marL="410206" lvl="1" indent="-205103" algn="just">
                <a:lnSpc>
                  <a:spcPts val="3419"/>
                </a:lnSpc>
                <a:buFont typeface="Arial"/>
                <a:buChar char="•"/>
              </a:pPr>
              <a:r>
                <a:rPr lang="en-US" sz="1899" b="1">
                  <a:solidFill>
                    <a:srgbClr val="000000"/>
                  </a:solidFill>
                  <a:latin typeface="Times New Roman Bold"/>
                  <a:ea typeface="Times New Roman Bold"/>
                  <a:cs typeface="Times New Roman Bold"/>
                  <a:sym typeface="Times New Roman Bold"/>
                </a:rPr>
                <a:t>Multi-Modal Analysis:</a:t>
              </a:r>
              <a:r>
                <a:rPr lang="en-US" sz="1899">
                  <a:solidFill>
                    <a:srgbClr val="000000"/>
                  </a:solidFill>
                  <a:latin typeface="Times New Roman"/>
                  <a:ea typeface="Times New Roman"/>
                  <a:cs typeface="Times New Roman"/>
                  <a:sym typeface="Times New Roman"/>
                </a:rPr>
                <a:t> Combining audio, facial movements, and text cues to improve deepfake detection, especially for political speeches and impersonation scams.</a:t>
              </a:r>
            </a:p>
            <a:p>
              <a:pPr marL="410206" lvl="1" indent="-205103" algn="just">
                <a:lnSpc>
                  <a:spcPts val="3419"/>
                </a:lnSpc>
                <a:buFont typeface="Arial"/>
                <a:buChar char="•"/>
              </a:pPr>
              <a:r>
                <a:rPr lang="en-US" sz="1899" b="1">
                  <a:solidFill>
                    <a:srgbClr val="000000"/>
                  </a:solidFill>
                  <a:latin typeface="Times New Roman Bold"/>
                  <a:ea typeface="Times New Roman Bold"/>
                  <a:cs typeface="Times New Roman Bold"/>
                  <a:sym typeface="Times New Roman Bold"/>
                </a:rPr>
                <a:t>Edge &amp; Mobile Integration:</a:t>
              </a:r>
              <a:r>
                <a:rPr lang="en-US" sz="1899">
                  <a:solidFill>
                    <a:srgbClr val="000000"/>
                  </a:solidFill>
                  <a:latin typeface="Times New Roman"/>
                  <a:ea typeface="Times New Roman"/>
                  <a:cs typeface="Times New Roman"/>
                  <a:sym typeface="Times New Roman"/>
                </a:rPr>
                <a:t> Deploying lightweight AI models on mobile apps and edge devices for real-time detection without high computational power.</a:t>
              </a:r>
            </a:p>
            <a:p>
              <a:pPr marL="410206" lvl="1" indent="-205103" algn="just">
                <a:lnSpc>
                  <a:spcPts val="3419"/>
                </a:lnSpc>
                <a:buFont typeface="Arial"/>
                <a:buChar char="•"/>
              </a:pPr>
              <a:r>
                <a:rPr lang="en-US" sz="1899" b="1">
                  <a:solidFill>
                    <a:srgbClr val="000000"/>
                  </a:solidFill>
                  <a:latin typeface="Times New Roman Bold"/>
                  <a:ea typeface="Times New Roman Bold"/>
                  <a:cs typeface="Times New Roman Bold"/>
                  <a:sym typeface="Times New Roman Bold"/>
                </a:rPr>
                <a:t>Cybersecurity &amp; Forensics:</a:t>
              </a:r>
              <a:r>
                <a:rPr lang="en-US" sz="1899">
                  <a:solidFill>
                    <a:srgbClr val="000000"/>
                  </a:solidFill>
                  <a:latin typeface="Times New Roman"/>
                  <a:ea typeface="Times New Roman"/>
                  <a:cs typeface="Times New Roman"/>
                  <a:sym typeface="Times New Roman"/>
                </a:rPr>
                <a:t> Integrating with cybersecurity frameworks and law enforcement for identity fraud prevention and forensic evidence verification.</a:t>
              </a:r>
            </a:p>
            <a:p>
              <a:pPr marL="410206" lvl="1" indent="-205103" algn="just">
                <a:lnSpc>
                  <a:spcPts val="3419"/>
                </a:lnSpc>
                <a:buFont typeface="Arial"/>
                <a:buChar char="•"/>
              </a:pPr>
              <a:r>
                <a:rPr lang="en-US" sz="1899" b="1">
                  <a:solidFill>
                    <a:srgbClr val="000000"/>
                  </a:solidFill>
                  <a:latin typeface="Times New Roman Bold"/>
                  <a:ea typeface="Times New Roman Bold"/>
                  <a:cs typeface="Times New Roman Bold"/>
                  <a:sym typeface="Times New Roman Bold"/>
                </a:rPr>
                <a:t>Explainable AI:</a:t>
              </a:r>
              <a:r>
                <a:rPr lang="en-US" sz="1899">
                  <a:solidFill>
                    <a:srgbClr val="000000"/>
                  </a:solidFill>
                  <a:latin typeface="Times New Roman"/>
                  <a:ea typeface="Times New Roman"/>
                  <a:cs typeface="Times New Roman"/>
                  <a:sym typeface="Times New Roman"/>
                </a:rPr>
                <a:t> Using XAI techniques (Grad-CAM, LIME, SHAP) to improve transparency and trust by visualizing how deepfakes are detected.</a:t>
              </a:r>
            </a:p>
            <a:p>
              <a:pPr algn="just">
                <a:lnSpc>
                  <a:spcPts val="3419"/>
                </a:lnSpc>
              </a:pPr>
              <a:endParaRPr lang="en-US" sz="1899">
                <a:solidFill>
                  <a:srgbClr val="000000"/>
                </a:solidFill>
                <a:latin typeface="Times New Roman"/>
                <a:ea typeface="Times New Roman"/>
                <a:cs typeface="Times New Roman"/>
                <a:sym typeface="Times New Roman"/>
              </a:endParaRPr>
            </a:p>
          </p:txBody>
        </p:sp>
      </p:grpSp>
      <p:grpSp>
        <p:nvGrpSpPr>
          <p:cNvPr id="11" name="Group 11"/>
          <p:cNvGrpSpPr/>
          <p:nvPr/>
        </p:nvGrpSpPr>
        <p:grpSpPr>
          <a:xfrm>
            <a:off x="1120093" y="6780108"/>
            <a:ext cx="7270728" cy="389440"/>
            <a:chOff x="0" y="0"/>
            <a:chExt cx="9694304" cy="519253"/>
          </a:xfrm>
        </p:grpSpPr>
        <p:sp>
          <p:nvSpPr>
            <p:cNvPr id="12" name="Freeform 12"/>
            <p:cNvSpPr/>
            <p:nvPr/>
          </p:nvSpPr>
          <p:spPr>
            <a:xfrm>
              <a:off x="0" y="0"/>
              <a:ext cx="9694304" cy="519253"/>
            </a:xfrm>
            <a:custGeom>
              <a:avLst/>
              <a:gdLst/>
              <a:ahLst/>
              <a:cxnLst/>
              <a:rect l="l" t="t" r="r" b="b"/>
              <a:pathLst>
                <a:path w="9694304" h="519253">
                  <a:moveTo>
                    <a:pt x="0" y="0"/>
                  </a:moveTo>
                  <a:lnTo>
                    <a:pt x="9694304" y="0"/>
                  </a:lnTo>
                  <a:lnTo>
                    <a:pt x="9694304" y="519253"/>
                  </a:lnTo>
                  <a:lnTo>
                    <a:pt x="0" y="519253"/>
                  </a:lnTo>
                  <a:close/>
                </a:path>
              </a:pathLst>
            </a:custGeom>
            <a:solidFill>
              <a:srgbClr val="000000">
                <a:alpha val="0"/>
              </a:srgbClr>
            </a:solidFill>
          </p:spPr>
        </p:sp>
        <p:sp>
          <p:nvSpPr>
            <p:cNvPr id="13" name="TextBox 13"/>
            <p:cNvSpPr txBox="1"/>
            <p:nvPr/>
          </p:nvSpPr>
          <p:spPr>
            <a:xfrm>
              <a:off x="0" y="-28575"/>
              <a:ext cx="9694304" cy="547828"/>
            </a:xfrm>
            <a:prstGeom prst="rect">
              <a:avLst/>
            </a:prstGeom>
          </p:spPr>
          <p:txBody>
            <a:bodyPr lIns="0" tIns="0" rIns="0" bIns="0" rtlCol="0" anchor="ctr"/>
            <a:lstStyle/>
            <a:p>
              <a:pPr algn="ctr">
                <a:lnSpc>
                  <a:spcPts val="1559"/>
                </a:lnSpc>
              </a:pPr>
              <a:r>
                <a:rPr lang="en-US" sz="1299">
                  <a:solidFill>
                    <a:srgbClr val="888888"/>
                  </a:solidFill>
                  <a:latin typeface="Times New Roman"/>
                  <a:ea typeface="Times New Roman"/>
                  <a:cs typeface="Times New Roman"/>
                  <a:sym typeface="Times New Roman"/>
                </a:rPr>
                <a:t>Integrated Anti-Spoofing and Deepfake Detection System Using MobileNet and ResNeXt</a:t>
              </a: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70560" y="177057"/>
            <a:ext cx="8412480" cy="733933"/>
            <a:chOff x="0" y="0"/>
            <a:chExt cx="11216640" cy="978578"/>
          </a:xfrm>
        </p:grpSpPr>
        <p:sp>
          <p:nvSpPr>
            <p:cNvPr id="3" name="Freeform 3"/>
            <p:cNvSpPr/>
            <p:nvPr/>
          </p:nvSpPr>
          <p:spPr>
            <a:xfrm>
              <a:off x="0" y="0"/>
              <a:ext cx="11216640" cy="978578"/>
            </a:xfrm>
            <a:custGeom>
              <a:avLst/>
              <a:gdLst/>
              <a:ahLst/>
              <a:cxnLst/>
              <a:rect l="l" t="t" r="r" b="b"/>
              <a:pathLst>
                <a:path w="11216640" h="978578">
                  <a:moveTo>
                    <a:pt x="0" y="0"/>
                  </a:moveTo>
                  <a:lnTo>
                    <a:pt x="11216640" y="0"/>
                  </a:lnTo>
                  <a:lnTo>
                    <a:pt x="11216640" y="978578"/>
                  </a:lnTo>
                  <a:lnTo>
                    <a:pt x="0" y="978578"/>
                  </a:lnTo>
                  <a:close/>
                </a:path>
              </a:pathLst>
            </a:custGeom>
            <a:solidFill>
              <a:srgbClr val="000000">
                <a:alpha val="0"/>
              </a:srgbClr>
            </a:solidFill>
          </p:spPr>
        </p:sp>
        <p:sp>
          <p:nvSpPr>
            <p:cNvPr id="4" name="TextBox 4"/>
            <p:cNvSpPr txBox="1"/>
            <p:nvPr/>
          </p:nvSpPr>
          <p:spPr>
            <a:xfrm>
              <a:off x="0" y="-38100"/>
              <a:ext cx="11216640" cy="1016678"/>
            </a:xfrm>
            <a:prstGeom prst="rect">
              <a:avLst/>
            </a:prstGeom>
          </p:spPr>
          <p:txBody>
            <a:bodyPr lIns="0" tIns="0" rIns="0" bIns="0" rtlCol="0" anchor="ctr"/>
            <a:lstStyle/>
            <a:p>
              <a:pPr algn="ctr">
                <a:lnSpc>
                  <a:spcPts val="4104"/>
                </a:lnSpc>
              </a:pPr>
              <a:r>
                <a:rPr lang="en-US" sz="3800" b="1">
                  <a:solidFill>
                    <a:srgbClr val="7030A0"/>
                  </a:solidFill>
                  <a:latin typeface="Times New Roman Bold"/>
                  <a:ea typeface="Times New Roman Bold"/>
                  <a:cs typeface="Times New Roman Bold"/>
                  <a:sym typeface="Times New Roman Bold"/>
                </a:rPr>
                <a:t>CONCLUSION</a:t>
              </a:r>
            </a:p>
          </p:txBody>
        </p:sp>
      </p:grpSp>
      <p:grpSp>
        <p:nvGrpSpPr>
          <p:cNvPr id="5" name="Group 5"/>
          <p:cNvGrpSpPr/>
          <p:nvPr/>
        </p:nvGrpSpPr>
        <p:grpSpPr>
          <a:xfrm>
            <a:off x="6888480" y="6780108"/>
            <a:ext cx="2194560" cy="435458"/>
            <a:chOff x="0" y="0"/>
            <a:chExt cx="2926080" cy="580610"/>
          </a:xfrm>
        </p:grpSpPr>
        <p:sp>
          <p:nvSpPr>
            <p:cNvPr id="6" name="Freeform 6"/>
            <p:cNvSpPr/>
            <p:nvPr/>
          </p:nvSpPr>
          <p:spPr>
            <a:xfrm>
              <a:off x="0" y="0"/>
              <a:ext cx="2926080" cy="580610"/>
            </a:xfrm>
            <a:custGeom>
              <a:avLst/>
              <a:gdLst/>
              <a:ahLst/>
              <a:cxnLst/>
              <a:rect l="l" t="t" r="r" b="b"/>
              <a:pathLst>
                <a:path w="2926080" h="580610">
                  <a:moveTo>
                    <a:pt x="0" y="0"/>
                  </a:moveTo>
                  <a:lnTo>
                    <a:pt x="2926080" y="0"/>
                  </a:lnTo>
                  <a:lnTo>
                    <a:pt x="2926080" y="580610"/>
                  </a:lnTo>
                  <a:lnTo>
                    <a:pt x="0" y="580610"/>
                  </a:lnTo>
                  <a:close/>
                </a:path>
              </a:pathLst>
            </a:custGeom>
            <a:solidFill>
              <a:srgbClr val="000000">
                <a:alpha val="0"/>
              </a:srgbClr>
            </a:solidFill>
          </p:spPr>
        </p:sp>
        <p:sp>
          <p:nvSpPr>
            <p:cNvPr id="7" name="TextBox 7"/>
            <p:cNvSpPr txBox="1"/>
            <p:nvPr/>
          </p:nvSpPr>
          <p:spPr>
            <a:xfrm>
              <a:off x="0" y="-28575"/>
              <a:ext cx="2926080" cy="609185"/>
            </a:xfrm>
            <a:prstGeom prst="rect">
              <a:avLst/>
            </a:prstGeom>
          </p:spPr>
          <p:txBody>
            <a:bodyPr lIns="0" tIns="0" rIns="0" bIns="0" rtlCol="0" anchor="ctr"/>
            <a:lstStyle/>
            <a:p>
              <a:pPr algn="r">
                <a:lnSpc>
                  <a:spcPts val="1535"/>
                </a:lnSpc>
              </a:pPr>
              <a:r>
                <a:rPr lang="en-US" sz="1279">
                  <a:solidFill>
                    <a:srgbClr val="888888"/>
                  </a:solidFill>
                  <a:latin typeface="Times New Roman"/>
                  <a:ea typeface="Times New Roman"/>
                  <a:cs typeface="Times New Roman"/>
                  <a:sym typeface="Times New Roman"/>
                </a:rPr>
                <a:t>31</a:t>
              </a:r>
            </a:p>
            <a:p>
              <a:pPr algn="r">
                <a:lnSpc>
                  <a:spcPts val="1536"/>
                </a:lnSpc>
              </a:pPr>
              <a:endParaRPr lang="en-US" sz="1279">
                <a:solidFill>
                  <a:srgbClr val="888888"/>
                </a:solidFill>
                <a:latin typeface="Times New Roman"/>
                <a:ea typeface="Times New Roman"/>
                <a:cs typeface="Times New Roman"/>
                <a:sym typeface="Times New Roman"/>
              </a:endParaRPr>
            </a:p>
          </p:txBody>
        </p:sp>
      </p:grpSp>
      <p:grpSp>
        <p:nvGrpSpPr>
          <p:cNvPr id="8" name="Group 8"/>
          <p:cNvGrpSpPr/>
          <p:nvPr/>
        </p:nvGrpSpPr>
        <p:grpSpPr>
          <a:xfrm>
            <a:off x="670560" y="1117061"/>
            <a:ext cx="8316800" cy="5521600"/>
            <a:chOff x="0" y="0"/>
            <a:chExt cx="11089067" cy="7362133"/>
          </a:xfrm>
        </p:grpSpPr>
        <p:sp>
          <p:nvSpPr>
            <p:cNvPr id="9" name="Freeform 9"/>
            <p:cNvSpPr/>
            <p:nvPr/>
          </p:nvSpPr>
          <p:spPr>
            <a:xfrm>
              <a:off x="0" y="0"/>
              <a:ext cx="11089067" cy="7362134"/>
            </a:xfrm>
            <a:custGeom>
              <a:avLst/>
              <a:gdLst/>
              <a:ahLst/>
              <a:cxnLst/>
              <a:rect l="l" t="t" r="r" b="b"/>
              <a:pathLst>
                <a:path w="11089067" h="7362134">
                  <a:moveTo>
                    <a:pt x="0" y="0"/>
                  </a:moveTo>
                  <a:lnTo>
                    <a:pt x="11089067" y="0"/>
                  </a:lnTo>
                  <a:lnTo>
                    <a:pt x="11089067" y="7362134"/>
                  </a:lnTo>
                  <a:lnTo>
                    <a:pt x="0" y="7362134"/>
                  </a:lnTo>
                  <a:close/>
                </a:path>
              </a:pathLst>
            </a:custGeom>
            <a:solidFill>
              <a:srgbClr val="000000">
                <a:alpha val="0"/>
              </a:srgbClr>
            </a:solidFill>
          </p:spPr>
        </p:sp>
        <p:sp>
          <p:nvSpPr>
            <p:cNvPr id="10" name="TextBox 10"/>
            <p:cNvSpPr txBox="1"/>
            <p:nvPr/>
          </p:nvSpPr>
          <p:spPr>
            <a:xfrm>
              <a:off x="0" y="-85725"/>
              <a:ext cx="11089067" cy="7447858"/>
            </a:xfrm>
            <a:prstGeom prst="rect">
              <a:avLst/>
            </a:prstGeom>
          </p:spPr>
          <p:txBody>
            <a:bodyPr lIns="0" tIns="0" rIns="0" bIns="0" rtlCol="0" anchor="t"/>
            <a:lstStyle/>
            <a:p>
              <a:pPr marL="474978" lvl="1" indent="-237489" algn="just">
                <a:lnSpc>
                  <a:spcPts val="3035"/>
                </a:lnSpc>
                <a:buFont typeface="Arial"/>
                <a:buChar char="•"/>
              </a:pPr>
              <a:r>
                <a:rPr lang="en-US" sz="2199" b="1">
                  <a:solidFill>
                    <a:srgbClr val="000000"/>
                  </a:solidFill>
                  <a:latin typeface="Times New Roman Bold"/>
                  <a:ea typeface="Times New Roman Bold"/>
                  <a:cs typeface="Times New Roman Bold"/>
                  <a:sym typeface="Times New Roman Bold"/>
                </a:rPr>
                <a:t>Advanced Detection Pipeline:</a:t>
              </a:r>
              <a:r>
                <a:rPr lang="en-US" sz="2199">
                  <a:solidFill>
                    <a:srgbClr val="000000"/>
                  </a:solidFill>
                  <a:latin typeface="Times New Roman"/>
                  <a:ea typeface="Times New Roman"/>
                  <a:cs typeface="Times New Roman"/>
                  <a:sym typeface="Times New Roman"/>
                </a:rPr>
                <a:t> Uses preprocessing, feature extraction, and deep learning (ResNeXt &amp; MobileNet) to identify deepfakes and biometric spoofing.</a:t>
              </a:r>
            </a:p>
            <a:p>
              <a:pPr marL="474978" lvl="1" indent="-237489" algn="just">
                <a:lnSpc>
                  <a:spcPts val="3035"/>
                </a:lnSpc>
                <a:buFont typeface="Arial"/>
                <a:buChar char="•"/>
              </a:pPr>
              <a:r>
                <a:rPr lang="en-US" sz="2199" b="1">
                  <a:solidFill>
                    <a:srgbClr val="000000"/>
                  </a:solidFill>
                  <a:latin typeface="Times New Roman Bold"/>
                  <a:ea typeface="Times New Roman Bold"/>
                  <a:cs typeface="Times New Roman Bold"/>
                  <a:sym typeface="Times New Roman Bold"/>
                </a:rPr>
                <a:t>Reliable Media Classification: </a:t>
              </a:r>
              <a:r>
                <a:rPr lang="en-US" sz="2199">
                  <a:solidFill>
                    <a:srgbClr val="000000"/>
                  </a:solidFill>
                  <a:latin typeface="Times New Roman"/>
                  <a:ea typeface="Times New Roman"/>
                  <a:cs typeface="Times New Roman"/>
                  <a:sym typeface="Times New Roman"/>
                </a:rPr>
                <a:t>Analyzes facial and texture features to classify content as real or manipulated for security applications like biometric authentication and forensics.</a:t>
              </a:r>
            </a:p>
            <a:p>
              <a:pPr marL="474978" lvl="1" indent="-237489" algn="just">
                <a:lnSpc>
                  <a:spcPts val="3035"/>
                </a:lnSpc>
                <a:buFont typeface="Arial"/>
                <a:buChar char="•"/>
              </a:pPr>
              <a:r>
                <a:rPr lang="en-US" sz="2199" b="1">
                  <a:solidFill>
                    <a:srgbClr val="000000"/>
                  </a:solidFill>
                  <a:latin typeface="Times New Roman Bold"/>
                  <a:ea typeface="Times New Roman Bold"/>
                  <a:cs typeface="Times New Roman Bold"/>
                  <a:sym typeface="Times New Roman Bold"/>
                </a:rPr>
                <a:t>Comprehensive Reporting:</a:t>
              </a:r>
              <a:r>
                <a:rPr lang="en-US" sz="2199">
                  <a:solidFill>
                    <a:srgbClr val="000000"/>
                  </a:solidFill>
                  <a:latin typeface="Times New Roman"/>
                  <a:ea typeface="Times New Roman"/>
                  <a:cs typeface="Times New Roman"/>
                  <a:sym typeface="Times New Roman"/>
                </a:rPr>
                <a:t> Provides detailed insights to help users verify media authenticity and understand detection results.</a:t>
              </a:r>
            </a:p>
            <a:p>
              <a:pPr marL="474978" lvl="1" indent="-237489" algn="just">
                <a:lnSpc>
                  <a:spcPts val="3035"/>
                </a:lnSpc>
                <a:buFont typeface="Arial"/>
                <a:buChar char="•"/>
              </a:pPr>
              <a:r>
                <a:rPr lang="en-US" sz="2199" b="1">
                  <a:solidFill>
                    <a:srgbClr val="000000"/>
                  </a:solidFill>
                  <a:latin typeface="Times New Roman Bold"/>
                  <a:ea typeface="Times New Roman Bold"/>
                  <a:cs typeface="Times New Roman Bold"/>
                  <a:sym typeface="Times New Roman Bold"/>
                </a:rPr>
                <a:t>Challenges &amp; Limitations:</a:t>
              </a:r>
              <a:r>
                <a:rPr lang="en-US" sz="2199">
                  <a:solidFill>
                    <a:srgbClr val="000000"/>
                  </a:solidFill>
                  <a:latin typeface="Times New Roman"/>
                  <a:ea typeface="Times New Roman"/>
                  <a:cs typeface="Times New Roman"/>
                  <a:sym typeface="Times New Roman"/>
                </a:rPr>
                <a:t> Struggles with adversarial deepfake attacks and low-resolution media, requiring further refinement.</a:t>
              </a:r>
            </a:p>
            <a:p>
              <a:pPr marL="474978" lvl="1" indent="-237489" algn="just">
                <a:lnSpc>
                  <a:spcPts val="3035"/>
                </a:lnSpc>
                <a:buFont typeface="Arial"/>
                <a:buChar char="•"/>
              </a:pPr>
              <a:r>
                <a:rPr lang="en-US" sz="2199" b="1">
                  <a:solidFill>
                    <a:srgbClr val="000000"/>
                  </a:solidFill>
                  <a:latin typeface="Times New Roman Bold"/>
                  <a:ea typeface="Times New Roman Bold"/>
                  <a:cs typeface="Times New Roman Bold"/>
                  <a:sym typeface="Times New Roman Bold"/>
                </a:rPr>
                <a:t>Future Enhancements:</a:t>
              </a:r>
              <a:r>
                <a:rPr lang="en-US" sz="2199">
                  <a:solidFill>
                    <a:srgbClr val="000000"/>
                  </a:solidFill>
                  <a:latin typeface="Times New Roman"/>
                  <a:ea typeface="Times New Roman"/>
                  <a:cs typeface="Times New Roman"/>
                  <a:sym typeface="Times New Roman"/>
                </a:rPr>
                <a:t> Focuses on scalability, improved AI training, dataset diversity, and real-time optimizations for better accuracy and efficiency.</a:t>
              </a:r>
            </a:p>
            <a:p>
              <a:pPr algn="just">
                <a:lnSpc>
                  <a:spcPts val="3035"/>
                </a:lnSpc>
              </a:pPr>
              <a:endParaRPr lang="en-US" sz="2199">
                <a:solidFill>
                  <a:srgbClr val="000000"/>
                </a:solidFill>
                <a:latin typeface="Times New Roman"/>
                <a:ea typeface="Times New Roman"/>
                <a:cs typeface="Times New Roman"/>
                <a:sym typeface="Times New Roman"/>
              </a:endParaRPr>
            </a:p>
          </p:txBody>
        </p:sp>
      </p:grpSp>
      <p:grpSp>
        <p:nvGrpSpPr>
          <p:cNvPr id="11" name="Group 11"/>
          <p:cNvGrpSpPr/>
          <p:nvPr/>
        </p:nvGrpSpPr>
        <p:grpSpPr>
          <a:xfrm>
            <a:off x="1070709" y="6780134"/>
            <a:ext cx="7288063" cy="389440"/>
            <a:chOff x="0" y="0"/>
            <a:chExt cx="9717417" cy="519253"/>
          </a:xfrm>
        </p:grpSpPr>
        <p:sp>
          <p:nvSpPr>
            <p:cNvPr id="12" name="Freeform 12"/>
            <p:cNvSpPr/>
            <p:nvPr/>
          </p:nvSpPr>
          <p:spPr>
            <a:xfrm>
              <a:off x="0" y="0"/>
              <a:ext cx="9717418" cy="519253"/>
            </a:xfrm>
            <a:custGeom>
              <a:avLst/>
              <a:gdLst/>
              <a:ahLst/>
              <a:cxnLst/>
              <a:rect l="l" t="t" r="r" b="b"/>
              <a:pathLst>
                <a:path w="9717418" h="519253">
                  <a:moveTo>
                    <a:pt x="0" y="0"/>
                  </a:moveTo>
                  <a:lnTo>
                    <a:pt x="9717418" y="0"/>
                  </a:lnTo>
                  <a:lnTo>
                    <a:pt x="9717418" y="519253"/>
                  </a:lnTo>
                  <a:lnTo>
                    <a:pt x="0" y="519253"/>
                  </a:lnTo>
                  <a:close/>
                </a:path>
              </a:pathLst>
            </a:custGeom>
            <a:solidFill>
              <a:srgbClr val="000000">
                <a:alpha val="0"/>
              </a:srgbClr>
            </a:solidFill>
          </p:spPr>
        </p:sp>
        <p:sp>
          <p:nvSpPr>
            <p:cNvPr id="13" name="TextBox 13"/>
            <p:cNvSpPr txBox="1"/>
            <p:nvPr/>
          </p:nvSpPr>
          <p:spPr>
            <a:xfrm>
              <a:off x="0" y="-28575"/>
              <a:ext cx="9717417" cy="547828"/>
            </a:xfrm>
            <a:prstGeom prst="rect">
              <a:avLst/>
            </a:prstGeom>
          </p:spPr>
          <p:txBody>
            <a:bodyPr lIns="0" tIns="0" rIns="0" bIns="0" rtlCol="0" anchor="ctr"/>
            <a:lstStyle/>
            <a:p>
              <a:pPr algn="ctr">
                <a:lnSpc>
                  <a:spcPts val="1559"/>
                </a:lnSpc>
              </a:pPr>
              <a:r>
                <a:rPr lang="en-US" sz="1299">
                  <a:solidFill>
                    <a:srgbClr val="888888"/>
                  </a:solidFill>
                  <a:latin typeface="Times New Roman"/>
                  <a:ea typeface="Times New Roman"/>
                  <a:cs typeface="Times New Roman"/>
                  <a:sym typeface="Times New Roman"/>
                </a:rPr>
                <a:t>Integrated Anti-Spoofing and Deepfake Detection System Using MobileNet and ResNeXt</a:t>
              </a: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70560" y="177057"/>
            <a:ext cx="8412480" cy="733933"/>
            <a:chOff x="0" y="0"/>
            <a:chExt cx="11216640" cy="978578"/>
          </a:xfrm>
        </p:grpSpPr>
        <p:sp>
          <p:nvSpPr>
            <p:cNvPr id="3" name="Freeform 3"/>
            <p:cNvSpPr/>
            <p:nvPr/>
          </p:nvSpPr>
          <p:spPr>
            <a:xfrm>
              <a:off x="0" y="0"/>
              <a:ext cx="11216640" cy="978578"/>
            </a:xfrm>
            <a:custGeom>
              <a:avLst/>
              <a:gdLst/>
              <a:ahLst/>
              <a:cxnLst/>
              <a:rect l="l" t="t" r="r" b="b"/>
              <a:pathLst>
                <a:path w="11216640" h="978578">
                  <a:moveTo>
                    <a:pt x="0" y="0"/>
                  </a:moveTo>
                  <a:lnTo>
                    <a:pt x="11216640" y="0"/>
                  </a:lnTo>
                  <a:lnTo>
                    <a:pt x="11216640" y="978578"/>
                  </a:lnTo>
                  <a:lnTo>
                    <a:pt x="0" y="978578"/>
                  </a:lnTo>
                  <a:close/>
                </a:path>
              </a:pathLst>
            </a:custGeom>
            <a:solidFill>
              <a:srgbClr val="000000">
                <a:alpha val="0"/>
              </a:srgbClr>
            </a:solidFill>
          </p:spPr>
        </p:sp>
        <p:sp>
          <p:nvSpPr>
            <p:cNvPr id="4" name="TextBox 4"/>
            <p:cNvSpPr txBox="1"/>
            <p:nvPr/>
          </p:nvSpPr>
          <p:spPr>
            <a:xfrm>
              <a:off x="0" y="-38100"/>
              <a:ext cx="11216640" cy="1016678"/>
            </a:xfrm>
            <a:prstGeom prst="rect">
              <a:avLst/>
            </a:prstGeom>
          </p:spPr>
          <p:txBody>
            <a:bodyPr lIns="0" tIns="0" rIns="0" bIns="0" rtlCol="0" anchor="ctr"/>
            <a:lstStyle/>
            <a:p>
              <a:pPr algn="ctr">
                <a:lnSpc>
                  <a:spcPts val="4104"/>
                </a:lnSpc>
              </a:pPr>
              <a:r>
                <a:rPr lang="en-US" sz="3800" b="1">
                  <a:solidFill>
                    <a:srgbClr val="7030A0"/>
                  </a:solidFill>
                  <a:latin typeface="Times New Roman Bold"/>
                  <a:ea typeface="Times New Roman Bold"/>
                  <a:cs typeface="Times New Roman Bold"/>
                  <a:sym typeface="Times New Roman Bold"/>
                </a:rPr>
                <a:t>REFERENCE PAPER</a:t>
              </a:r>
            </a:p>
          </p:txBody>
        </p:sp>
      </p:grpSp>
      <p:grpSp>
        <p:nvGrpSpPr>
          <p:cNvPr id="5" name="Group 5"/>
          <p:cNvGrpSpPr/>
          <p:nvPr/>
        </p:nvGrpSpPr>
        <p:grpSpPr>
          <a:xfrm>
            <a:off x="6970923" y="6621689"/>
            <a:ext cx="2194560" cy="435458"/>
            <a:chOff x="0" y="0"/>
            <a:chExt cx="2926080" cy="580610"/>
          </a:xfrm>
        </p:grpSpPr>
        <p:sp>
          <p:nvSpPr>
            <p:cNvPr id="6" name="Freeform 6"/>
            <p:cNvSpPr/>
            <p:nvPr/>
          </p:nvSpPr>
          <p:spPr>
            <a:xfrm>
              <a:off x="0" y="0"/>
              <a:ext cx="2926080" cy="580610"/>
            </a:xfrm>
            <a:custGeom>
              <a:avLst/>
              <a:gdLst/>
              <a:ahLst/>
              <a:cxnLst/>
              <a:rect l="l" t="t" r="r" b="b"/>
              <a:pathLst>
                <a:path w="2926080" h="580610">
                  <a:moveTo>
                    <a:pt x="0" y="0"/>
                  </a:moveTo>
                  <a:lnTo>
                    <a:pt x="2926080" y="0"/>
                  </a:lnTo>
                  <a:lnTo>
                    <a:pt x="2926080" y="580610"/>
                  </a:lnTo>
                  <a:lnTo>
                    <a:pt x="0" y="580610"/>
                  </a:lnTo>
                  <a:close/>
                </a:path>
              </a:pathLst>
            </a:custGeom>
            <a:solidFill>
              <a:srgbClr val="000000">
                <a:alpha val="0"/>
              </a:srgbClr>
            </a:solidFill>
          </p:spPr>
        </p:sp>
        <p:sp>
          <p:nvSpPr>
            <p:cNvPr id="7" name="TextBox 7"/>
            <p:cNvSpPr txBox="1"/>
            <p:nvPr/>
          </p:nvSpPr>
          <p:spPr>
            <a:xfrm>
              <a:off x="0" y="-28575"/>
              <a:ext cx="2926080" cy="609185"/>
            </a:xfrm>
            <a:prstGeom prst="rect">
              <a:avLst/>
            </a:prstGeom>
          </p:spPr>
          <p:txBody>
            <a:bodyPr lIns="0" tIns="0" rIns="0" bIns="0" rtlCol="0" anchor="ctr"/>
            <a:lstStyle/>
            <a:p>
              <a:pPr algn="r">
                <a:lnSpc>
                  <a:spcPts val="1536"/>
                </a:lnSpc>
              </a:pPr>
              <a:r>
                <a:rPr lang="en-US" sz="1280">
                  <a:solidFill>
                    <a:srgbClr val="888888"/>
                  </a:solidFill>
                  <a:latin typeface="Times New Roman"/>
                  <a:ea typeface="Times New Roman"/>
                  <a:cs typeface="Times New Roman"/>
                  <a:sym typeface="Times New Roman"/>
                </a:rPr>
                <a:t>32</a:t>
              </a:r>
            </a:p>
            <a:p>
              <a:pPr algn="r">
                <a:lnSpc>
                  <a:spcPts val="1535"/>
                </a:lnSpc>
              </a:pPr>
              <a:endParaRPr lang="en-US" sz="1280">
                <a:solidFill>
                  <a:srgbClr val="888888"/>
                </a:solidFill>
                <a:latin typeface="Times New Roman"/>
                <a:ea typeface="Times New Roman"/>
                <a:cs typeface="Times New Roman"/>
                <a:sym typeface="Times New Roman"/>
              </a:endParaRPr>
            </a:p>
          </p:txBody>
        </p:sp>
      </p:grpSp>
      <p:grpSp>
        <p:nvGrpSpPr>
          <p:cNvPr id="8" name="Group 8"/>
          <p:cNvGrpSpPr/>
          <p:nvPr/>
        </p:nvGrpSpPr>
        <p:grpSpPr>
          <a:xfrm>
            <a:off x="1088044" y="6667707"/>
            <a:ext cx="7305398" cy="389440"/>
            <a:chOff x="0" y="0"/>
            <a:chExt cx="9740530" cy="519253"/>
          </a:xfrm>
        </p:grpSpPr>
        <p:sp>
          <p:nvSpPr>
            <p:cNvPr id="9" name="Freeform 9"/>
            <p:cNvSpPr/>
            <p:nvPr/>
          </p:nvSpPr>
          <p:spPr>
            <a:xfrm>
              <a:off x="0" y="0"/>
              <a:ext cx="9740530" cy="519253"/>
            </a:xfrm>
            <a:custGeom>
              <a:avLst/>
              <a:gdLst/>
              <a:ahLst/>
              <a:cxnLst/>
              <a:rect l="l" t="t" r="r" b="b"/>
              <a:pathLst>
                <a:path w="9740530" h="519253">
                  <a:moveTo>
                    <a:pt x="0" y="0"/>
                  </a:moveTo>
                  <a:lnTo>
                    <a:pt x="9740530" y="0"/>
                  </a:lnTo>
                  <a:lnTo>
                    <a:pt x="9740530" y="519253"/>
                  </a:lnTo>
                  <a:lnTo>
                    <a:pt x="0" y="519253"/>
                  </a:lnTo>
                  <a:close/>
                </a:path>
              </a:pathLst>
            </a:custGeom>
            <a:solidFill>
              <a:srgbClr val="000000">
                <a:alpha val="0"/>
              </a:srgbClr>
            </a:solidFill>
          </p:spPr>
        </p:sp>
        <p:sp>
          <p:nvSpPr>
            <p:cNvPr id="10" name="TextBox 10"/>
            <p:cNvSpPr txBox="1"/>
            <p:nvPr/>
          </p:nvSpPr>
          <p:spPr>
            <a:xfrm>
              <a:off x="0" y="-28575"/>
              <a:ext cx="9740530" cy="547828"/>
            </a:xfrm>
            <a:prstGeom prst="rect">
              <a:avLst/>
            </a:prstGeom>
          </p:spPr>
          <p:txBody>
            <a:bodyPr lIns="0" tIns="0" rIns="0" bIns="0" rtlCol="0" anchor="ctr"/>
            <a:lstStyle/>
            <a:p>
              <a:pPr algn="ctr">
                <a:lnSpc>
                  <a:spcPts val="1559"/>
                </a:lnSpc>
              </a:pPr>
              <a:r>
                <a:rPr lang="en-US" sz="1299">
                  <a:solidFill>
                    <a:srgbClr val="888888"/>
                  </a:solidFill>
                  <a:latin typeface="Times New Roman"/>
                  <a:ea typeface="Times New Roman"/>
                  <a:cs typeface="Times New Roman"/>
                  <a:sym typeface="Times New Roman"/>
                </a:rPr>
                <a:t>Integrated Anti-Spoofing and Deepfake Detection System Using MobileNet and ResNeXt</a:t>
              </a:r>
            </a:p>
          </p:txBody>
        </p:sp>
      </p:grpSp>
      <p:grpSp>
        <p:nvGrpSpPr>
          <p:cNvPr id="11" name="Group 11"/>
          <p:cNvGrpSpPr/>
          <p:nvPr/>
        </p:nvGrpSpPr>
        <p:grpSpPr>
          <a:xfrm>
            <a:off x="471840" y="855227"/>
            <a:ext cx="8809920" cy="5812480"/>
            <a:chOff x="0" y="0"/>
            <a:chExt cx="11746560" cy="7749973"/>
          </a:xfrm>
        </p:grpSpPr>
        <p:sp>
          <p:nvSpPr>
            <p:cNvPr id="12" name="Freeform 12"/>
            <p:cNvSpPr/>
            <p:nvPr/>
          </p:nvSpPr>
          <p:spPr>
            <a:xfrm>
              <a:off x="0" y="0"/>
              <a:ext cx="11746560" cy="7749973"/>
            </a:xfrm>
            <a:custGeom>
              <a:avLst/>
              <a:gdLst/>
              <a:ahLst/>
              <a:cxnLst/>
              <a:rect l="l" t="t" r="r" b="b"/>
              <a:pathLst>
                <a:path w="11746560" h="7749973">
                  <a:moveTo>
                    <a:pt x="0" y="0"/>
                  </a:moveTo>
                  <a:lnTo>
                    <a:pt x="11746560" y="0"/>
                  </a:lnTo>
                  <a:lnTo>
                    <a:pt x="11746560" y="7749973"/>
                  </a:lnTo>
                  <a:lnTo>
                    <a:pt x="0" y="7749973"/>
                  </a:lnTo>
                  <a:close/>
                </a:path>
              </a:pathLst>
            </a:custGeom>
            <a:solidFill>
              <a:srgbClr val="000000">
                <a:alpha val="0"/>
              </a:srgbClr>
            </a:solidFill>
          </p:spPr>
        </p:sp>
        <p:sp>
          <p:nvSpPr>
            <p:cNvPr id="13" name="TextBox 13"/>
            <p:cNvSpPr txBox="1"/>
            <p:nvPr/>
          </p:nvSpPr>
          <p:spPr>
            <a:xfrm>
              <a:off x="0" y="-38100"/>
              <a:ext cx="11746560" cy="7788073"/>
            </a:xfrm>
            <a:prstGeom prst="rect">
              <a:avLst/>
            </a:prstGeom>
          </p:spPr>
          <p:txBody>
            <a:bodyPr lIns="0" tIns="0" rIns="0" bIns="0" rtlCol="0" anchor="ctr"/>
            <a:lstStyle/>
            <a:p>
              <a:pPr marL="410209" lvl="1" indent="-205105" algn="just">
                <a:lnSpc>
                  <a:spcPts val="2297"/>
                </a:lnSpc>
                <a:buFont typeface="Arial"/>
                <a:buChar char="•"/>
              </a:pPr>
              <a:r>
                <a:rPr lang="en-US" sz="1899">
                  <a:solidFill>
                    <a:srgbClr val="000000"/>
                  </a:solidFill>
                  <a:latin typeface="Times New Roman"/>
                  <a:ea typeface="Times New Roman"/>
                  <a:cs typeface="Times New Roman"/>
                  <a:sym typeface="Times New Roman"/>
                </a:rPr>
                <a:t>C. P. M. Chan, S. W. Lee, and J. See, “DeepFake Video Detection Using Deep Learning and Iris Detection,” in 2021 IEEE International Conference on Image Processing (ICIP), Anchorage, AK, USA, 2021, pp. 1239–1243, doi: 10.1109/ICIP42928.2021.9506664.</a:t>
              </a:r>
            </a:p>
            <a:p>
              <a:pPr algn="just">
                <a:lnSpc>
                  <a:spcPts val="2297"/>
                </a:lnSpc>
              </a:pPr>
              <a:endParaRPr lang="en-US" sz="1899">
                <a:solidFill>
                  <a:srgbClr val="000000"/>
                </a:solidFill>
                <a:latin typeface="Times New Roman"/>
                <a:ea typeface="Times New Roman"/>
                <a:cs typeface="Times New Roman"/>
                <a:sym typeface="Times New Roman"/>
              </a:endParaRPr>
            </a:p>
            <a:p>
              <a:pPr marL="410209" lvl="1" indent="-205105" algn="just">
                <a:lnSpc>
                  <a:spcPts val="2297"/>
                </a:lnSpc>
                <a:buFont typeface="Arial"/>
                <a:buChar char="•"/>
              </a:pPr>
              <a:r>
                <a:rPr lang="en-US" sz="1899">
                  <a:solidFill>
                    <a:srgbClr val="000000"/>
                  </a:solidFill>
                  <a:latin typeface="Times New Roman"/>
                  <a:ea typeface="Times New Roman"/>
                  <a:cs typeface="Times New Roman"/>
                  <a:sym typeface="Times New Roman"/>
                </a:rPr>
                <a:t>J. Dong, W. Wang, Y. Tang, Y. Zhang, and H. Liu, “Deepfake Video Detection Using Inception-ResNet and Attention Mechanism,” in 2021 IEEE International Conference on Multimedia and Expo (ICME), Shenzhen, China, 2021, pp. 1–6, doi: 10.1109/ICME51207.2021.9428434. </a:t>
              </a:r>
            </a:p>
            <a:p>
              <a:pPr algn="just">
                <a:lnSpc>
                  <a:spcPts val="2297"/>
                </a:lnSpc>
              </a:pPr>
              <a:endParaRPr lang="en-US" sz="1899">
                <a:solidFill>
                  <a:srgbClr val="000000"/>
                </a:solidFill>
                <a:latin typeface="Times New Roman"/>
                <a:ea typeface="Times New Roman"/>
                <a:cs typeface="Times New Roman"/>
                <a:sym typeface="Times New Roman"/>
              </a:endParaRPr>
            </a:p>
            <a:p>
              <a:pPr marL="410209" lvl="1" indent="-205105" algn="just">
                <a:lnSpc>
                  <a:spcPts val="2298"/>
                </a:lnSpc>
                <a:buFont typeface="Arial"/>
                <a:buChar char="•"/>
              </a:pPr>
              <a:r>
                <a:rPr lang="en-US" sz="1899">
                  <a:solidFill>
                    <a:srgbClr val="000000"/>
                  </a:solidFill>
                  <a:latin typeface="Times New Roman"/>
                  <a:ea typeface="Times New Roman"/>
                  <a:cs typeface="Times New Roman"/>
                  <a:sym typeface="Times New Roman"/>
                </a:rPr>
                <a:t>M. N. Husen, A. Kurniawan, and M. Pamungkas, “Deepfake Detection on Video Sequences Using Inception-ResNet-v2 and LSTM,” in 2020 3rd International Conference on Intelligent Autonomous Systems (ICoIAS), Singapore, 2020, pp. 134– 138, doi: 10.1109/ICoIAS49312.2020.9081914. </a:t>
              </a: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70560" y="177057"/>
            <a:ext cx="8412480" cy="733933"/>
            <a:chOff x="0" y="0"/>
            <a:chExt cx="11216640" cy="978578"/>
          </a:xfrm>
        </p:grpSpPr>
        <p:sp>
          <p:nvSpPr>
            <p:cNvPr id="3" name="Freeform 3"/>
            <p:cNvSpPr/>
            <p:nvPr/>
          </p:nvSpPr>
          <p:spPr>
            <a:xfrm>
              <a:off x="0" y="0"/>
              <a:ext cx="11216640" cy="978577"/>
            </a:xfrm>
            <a:custGeom>
              <a:avLst/>
              <a:gdLst/>
              <a:ahLst/>
              <a:cxnLst/>
              <a:rect l="l" t="t" r="r" b="b"/>
              <a:pathLst>
                <a:path w="11216640" h="978577">
                  <a:moveTo>
                    <a:pt x="0" y="0"/>
                  </a:moveTo>
                  <a:lnTo>
                    <a:pt x="11216640" y="0"/>
                  </a:lnTo>
                  <a:lnTo>
                    <a:pt x="11216640" y="978577"/>
                  </a:lnTo>
                  <a:lnTo>
                    <a:pt x="0" y="978577"/>
                  </a:lnTo>
                  <a:close/>
                </a:path>
              </a:pathLst>
            </a:custGeom>
            <a:solidFill>
              <a:srgbClr val="000000">
                <a:alpha val="0"/>
              </a:srgbClr>
            </a:solidFill>
          </p:spPr>
        </p:sp>
        <p:sp>
          <p:nvSpPr>
            <p:cNvPr id="4" name="TextBox 4"/>
            <p:cNvSpPr txBox="1"/>
            <p:nvPr/>
          </p:nvSpPr>
          <p:spPr>
            <a:xfrm>
              <a:off x="0" y="-38100"/>
              <a:ext cx="11216640" cy="1016678"/>
            </a:xfrm>
            <a:prstGeom prst="rect">
              <a:avLst/>
            </a:prstGeom>
          </p:spPr>
          <p:txBody>
            <a:bodyPr lIns="0" tIns="0" rIns="0" bIns="0" rtlCol="0" anchor="ctr"/>
            <a:lstStyle/>
            <a:p>
              <a:pPr algn="ctr">
                <a:lnSpc>
                  <a:spcPts val="4104"/>
                </a:lnSpc>
              </a:pPr>
              <a:r>
                <a:rPr lang="en-US" sz="3800" b="1">
                  <a:solidFill>
                    <a:srgbClr val="7030A0"/>
                  </a:solidFill>
                  <a:latin typeface="Times New Roman Bold"/>
                  <a:ea typeface="Times New Roman Bold"/>
                  <a:cs typeface="Times New Roman Bold"/>
                  <a:sym typeface="Times New Roman Bold"/>
                </a:rPr>
                <a:t>REFERENCE PAPER</a:t>
              </a:r>
            </a:p>
          </p:txBody>
        </p:sp>
      </p:grpSp>
      <p:grpSp>
        <p:nvGrpSpPr>
          <p:cNvPr id="5" name="Group 5"/>
          <p:cNvGrpSpPr/>
          <p:nvPr/>
        </p:nvGrpSpPr>
        <p:grpSpPr>
          <a:xfrm>
            <a:off x="6970923" y="6782007"/>
            <a:ext cx="2194560" cy="435458"/>
            <a:chOff x="0" y="0"/>
            <a:chExt cx="2926080" cy="580610"/>
          </a:xfrm>
        </p:grpSpPr>
        <p:sp>
          <p:nvSpPr>
            <p:cNvPr id="6" name="Freeform 6"/>
            <p:cNvSpPr/>
            <p:nvPr/>
          </p:nvSpPr>
          <p:spPr>
            <a:xfrm>
              <a:off x="0" y="0"/>
              <a:ext cx="2926080" cy="580610"/>
            </a:xfrm>
            <a:custGeom>
              <a:avLst/>
              <a:gdLst/>
              <a:ahLst/>
              <a:cxnLst/>
              <a:rect l="l" t="t" r="r" b="b"/>
              <a:pathLst>
                <a:path w="2926080" h="580610">
                  <a:moveTo>
                    <a:pt x="0" y="0"/>
                  </a:moveTo>
                  <a:lnTo>
                    <a:pt x="2926080" y="0"/>
                  </a:lnTo>
                  <a:lnTo>
                    <a:pt x="2926080" y="580610"/>
                  </a:lnTo>
                  <a:lnTo>
                    <a:pt x="0" y="580610"/>
                  </a:lnTo>
                  <a:close/>
                </a:path>
              </a:pathLst>
            </a:custGeom>
            <a:solidFill>
              <a:srgbClr val="000000">
                <a:alpha val="0"/>
              </a:srgbClr>
            </a:solidFill>
          </p:spPr>
        </p:sp>
        <p:sp>
          <p:nvSpPr>
            <p:cNvPr id="7" name="TextBox 7"/>
            <p:cNvSpPr txBox="1"/>
            <p:nvPr/>
          </p:nvSpPr>
          <p:spPr>
            <a:xfrm>
              <a:off x="0" y="-28575"/>
              <a:ext cx="2926080" cy="609185"/>
            </a:xfrm>
            <a:prstGeom prst="rect">
              <a:avLst/>
            </a:prstGeom>
          </p:spPr>
          <p:txBody>
            <a:bodyPr lIns="0" tIns="0" rIns="0" bIns="0" rtlCol="0" anchor="ctr"/>
            <a:lstStyle/>
            <a:p>
              <a:pPr algn="r">
                <a:lnSpc>
                  <a:spcPts val="1535"/>
                </a:lnSpc>
              </a:pPr>
              <a:r>
                <a:rPr lang="en-US" sz="1279">
                  <a:solidFill>
                    <a:srgbClr val="888888"/>
                  </a:solidFill>
                  <a:latin typeface="Times New Roman"/>
                  <a:ea typeface="Times New Roman"/>
                  <a:cs typeface="Times New Roman"/>
                  <a:sym typeface="Times New Roman"/>
                </a:rPr>
                <a:t>33</a:t>
              </a:r>
            </a:p>
            <a:p>
              <a:pPr algn="r">
                <a:lnSpc>
                  <a:spcPts val="1536"/>
                </a:lnSpc>
              </a:pPr>
              <a:endParaRPr lang="en-US" sz="1279">
                <a:solidFill>
                  <a:srgbClr val="888888"/>
                </a:solidFill>
                <a:latin typeface="Times New Roman"/>
                <a:ea typeface="Times New Roman"/>
                <a:cs typeface="Times New Roman"/>
                <a:sym typeface="Times New Roman"/>
              </a:endParaRPr>
            </a:p>
          </p:txBody>
        </p:sp>
      </p:grpSp>
      <p:grpSp>
        <p:nvGrpSpPr>
          <p:cNvPr id="8" name="Group 8"/>
          <p:cNvGrpSpPr/>
          <p:nvPr/>
        </p:nvGrpSpPr>
        <p:grpSpPr>
          <a:xfrm>
            <a:off x="1053375" y="6782007"/>
            <a:ext cx="7288063" cy="389440"/>
            <a:chOff x="0" y="0"/>
            <a:chExt cx="9717417" cy="519253"/>
          </a:xfrm>
        </p:grpSpPr>
        <p:sp>
          <p:nvSpPr>
            <p:cNvPr id="9" name="Freeform 9"/>
            <p:cNvSpPr/>
            <p:nvPr/>
          </p:nvSpPr>
          <p:spPr>
            <a:xfrm>
              <a:off x="0" y="0"/>
              <a:ext cx="9717418" cy="519253"/>
            </a:xfrm>
            <a:custGeom>
              <a:avLst/>
              <a:gdLst/>
              <a:ahLst/>
              <a:cxnLst/>
              <a:rect l="l" t="t" r="r" b="b"/>
              <a:pathLst>
                <a:path w="9717418" h="519253">
                  <a:moveTo>
                    <a:pt x="0" y="0"/>
                  </a:moveTo>
                  <a:lnTo>
                    <a:pt x="9717418" y="0"/>
                  </a:lnTo>
                  <a:lnTo>
                    <a:pt x="9717418" y="519253"/>
                  </a:lnTo>
                  <a:lnTo>
                    <a:pt x="0" y="519253"/>
                  </a:lnTo>
                  <a:close/>
                </a:path>
              </a:pathLst>
            </a:custGeom>
            <a:solidFill>
              <a:srgbClr val="000000">
                <a:alpha val="0"/>
              </a:srgbClr>
            </a:solidFill>
          </p:spPr>
        </p:sp>
        <p:sp>
          <p:nvSpPr>
            <p:cNvPr id="10" name="TextBox 10"/>
            <p:cNvSpPr txBox="1"/>
            <p:nvPr/>
          </p:nvSpPr>
          <p:spPr>
            <a:xfrm>
              <a:off x="0" y="-28575"/>
              <a:ext cx="9717417" cy="547828"/>
            </a:xfrm>
            <a:prstGeom prst="rect">
              <a:avLst/>
            </a:prstGeom>
          </p:spPr>
          <p:txBody>
            <a:bodyPr lIns="0" tIns="0" rIns="0" bIns="0" rtlCol="0" anchor="ctr"/>
            <a:lstStyle/>
            <a:p>
              <a:pPr algn="ctr">
                <a:lnSpc>
                  <a:spcPts val="1559"/>
                </a:lnSpc>
              </a:pPr>
              <a:r>
                <a:rPr lang="en-US" sz="1299">
                  <a:solidFill>
                    <a:srgbClr val="888888"/>
                  </a:solidFill>
                  <a:latin typeface="Times New Roman"/>
                  <a:ea typeface="Times New Roman"/>
                  <a:cs typeface="Times New Roman"/>
                  <a:sym typeface="Times New Roman"/>
                </a:rPr>
                <a:t>Integrated Anti-Spoofing and Deepfake Detection System Using MobileNet and ResNeXt</a:t>
              </a:r>
            </a:p>
          </p:txBody>
        </p:sp>
      </p:grpSp>
      <p:grpSp>
        <p:nvGrpSpPr>
          <p:cNvPr id="11" name="Group 11"/>
          <p:cNvGrpSpPr/>
          <p:nvPr/>
        </p:nvGrpSpPr>
        <p:grpSpPr>
          <a:xfrm>
            <a:off x="471840" y="855227"/>
            <a:ext cx="8868882" cy="5812480"/>
            <a:chOff x="0" y="0"/>
            <a:chExt cx="11825176" cy="7749973"/>
          </a:xfrm>
        </p:grpSpPr>
        <p:sp>
          <p:nvSpPr>
            <p:cNvPr id="12" name="Freeform 12"/>
            <p:cNvSpPr/>
            <p:nvPr/>
          </p:nvSpPr>
          <p:spPr>
            <a:xfrm>
              <a:off x="0" y="0"/>
              <a:ext cx="11825176" cy="7749973"/>
            </a:xfrm>
            <a:custGeom>
              <a:avLst/>
              <a:gdLst/>
              <a:ahLst/>
              <a:cxnLst/>
              <a:rect l="l" t="t" r="r" b="b"/>
              <a:pathLst>
                <a:path w="11825176" h="7749973">
                  <a:moveTo>
                    <a:pt x="0" y="0"/>
                  </a:moveTo>
                  <a:lnTo>
                    <a:pt x="11825176" y="0"/>
                  </a:lnTo>
                  <a:lnTo>
                    <a:pt x="11825176" y="7749973"/>
                  </a:lnTo>
                  <a:lnTo>
                    <a:pt x="0" y="7749973"/>
                  </a:lnTo>
                  <a:close/>
                </a:path>
              </a:pathLst>
            </a:custGeom>
            <a:solidFill>
              <a:srgbClr val="000000">
                <a:alpha val="0"/>
              </a:srgbClr>
            </a:solidFill>
          </p:spPr>
        </p:sp>
        <p:sp>
          <p:nvSpPr>
            <p:cNvPr id="13" name="TextBox 13"/>
            <p:cNvSpPr txBox="1"/>
            <p:nvPr/>
          </p:nvSpPr>
          <p:spPr>
            <a:xfrm>
              <a:off x="0" y="-38100"/>
              <a:ext cx="11825176" cy="7788073"/>
            </a:xfrm>
            <a:prstGeom prst="rect">
              <a:avLst/>
            </a:prstGeom>
          </p:spPr>
          <p:txBody>
            <a:bodyPr lIns="0" tIns="0" rIns="0" bIns="0" rtlCol="0" anchor="ctr"/>
            <a:lstStyle/>
            <a:p>
              <a:pPr marL="410209" lvl="1" indent="-205105" algn="just">
                <a:lnSpc>
                  <a:spcPts val="2297"/>
                </a:lnSpc>
                <a:buFont typeface="Arial"/>
                <a:buChar char="•"/>
              </a:pPr>
              <a:r>
                <a:rPr lang="en-US" sz="1899">
                  <a:solidFill>
                    <a:srgbClr val="000000"/>
                  </a:solidFill>
                  <a:latin typeface="Times New Roman"/>
                  <a:ea typeface="Times New Roman"/>
                  <a:cs typeface="Times New Roman"/>
                  <a:sym typeface="Times New Roman"/>
                </a:rPr>
                <a:t> D. S. Vahdati, T. D. Nguyen, A. Azizpour, and M. C. Stamm, “Beyond Deepfake Images: Detecting AI-Generated Videos,” 2024 IEEE/CVF Conference on Computer Vision and Pattern Recognition Workshops (CVPRW), 2024. doi: 10.1109/CVPRW63382.2024.00443. </a:t>
              </a:r>
            </a:p>
            <a:p>
              <a:pPr algn="just">
                <a:lnSpc>
                  <a:spcPts val="2297"/>
                </a:lnSpc>
              </a:pPr>
              <a:endParaRPr lang="en-US" sz="1899">
                <a:solidFill>
                  <a:srgbClr val="000000"/>
                </a:solidFill>
                <a:latin typeface="Times New Roman"/>
                <a:ea typeface="Times New Roman"/>
                <a:cs typeface="Times New Roman"/>
                <a:sym typeface="Times New Roman"/>
              </a:endParaRPr>
            </a:p>
            <a:p>
              <a:pPr marL="410209" lvl="1" indent="-205105" algn="just">
                <a:lnSpc>
                  <a:spcPts val="2297"/>
                </a:lnSpc>
                <a:buFont typeface="Arial"/>
                <a:buChar char="•"/>
              </a:pPr>
              <a:r>
                <a:rPr lang="en-US" sz="1899">
                  <a:solidFill>
                    <a:srgbClr val="000000"/>
                  </a:solidFill>
                  <a:latin typeface="Times New Roman"/>
                  <a:ea typeface="Times New Roman"/>
                  <a:cs typeface="Times New Roman"/>
                  <a:sym typeface="Times New Roman"/>
                </a:rPr>
                <a:t>J. Vijaya, A. A. Kazi, K. G. Mishra, and A. Praveen, “Generation and Detection of Deepfakes using Generative Adversarial Networks (GANs) and Affine Transformation,” 2023 14th International Conference on Computing Communication and Networking Technologies (ICCCNT), 2023. doi: 10.1109/ICCCNT56998.2023.1030781. </a:t>
              </a:r>
            </a:p>
            <a:p>
              <a:pPr algn="just">
                <a:lnSpc>
                  <a:spcPts val="2297"/>
                </a:lnSpc>
              </a:pPr>
              <a:endParaRPr lang="en-US" sz="1899">
                <a:solidFill>
                  <a:srgbClr val="000000"/>
                </a:solidFill>
                <a:latin typeface="Times New Roman"/>
                <a:ea typeface="Times New Roman"/>
                <a:cs typeface="Times New Roman"/>
                <a:sym typeface="Times New Roman"/>
              </a:endParaRPr>
            </a:p>
            <a:p>
              <a:pPr marL="410209" lvl="1" indent="-205105" algn="just">
                <a:lnSpc>
                  <a:spcPts val="2298"/>
                </a:lnSpc>
                <a:buFont typeface="Arial"/>
                <a:buChar char="•"/>
              </a:pPr>
              <a:r>
                <a:rPr lang="en-US" sz="1899">
                  <a:solidFill>
                    <a:srgbClr val="000000"/>
                  </a:solidFill>
                  <a:latin typeface="Times New Roman"/>
                  <a:ea typeface="Times New Roman"/>
                  <a:cs typeface="Times New Roman"/>
                  <a:sym typeface="Times New Roman"/>
                </a:rPr>
                <a:t>N. M. Alnaim, Z. M. Almutairi, M. S. Alsuwat, H. H. Alalawi, A. Alshobaili, and F. S. Alenezi, “DFFMD: A Deepfake Face Mask Dataset for Infectious Disease Era With Deepfake Detection Algorithms,” IEEE Access, vol. 11, pp,3246661, 2023. doi: 10.1109/ACCESS.2023.3246661.Martinez, F., Zhang, S., &amp; Wu, Y. (2022). </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2455</Words>
  <Application>Microsoft Office PowerPoint</Application>
  <PresentationFormat>Custom</PresentationFormat>
  <Paragraphs>379</Paragraphs>
  <Slides>33</Slides>
  <Notes>28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Poppins Bold</vt:lpstr>
      <vt:lpstr>Times New Roman Bold</vt:lpstr>
      <vt:lpstr>Calibri</vt:lpstr>
      <vt:lpstr>Times New Roman</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INTEGRATED ANTI-SPOOFING AND DEEPFAKE DETECTION SYSTEM USING MOBILENET AND RESNEXT.pptx</dc:title>
  <cp:lastModifiedBy>mathanmallika@outlook.com</cp:lastModifiedBy>
  <cp:revision>2</cp:revision>
  <dcterms:created xsi:type="dcterms:W3CDTF">2006-08-16T00:00:00Z</dcterms:created>
  <dcterms:modified xsi:type="dcterms:W3CDTF">2025-04-03T02:26:43Z</dcterms:modified>
  <dc:identifier>DAGi1C9Xwzw</dc:identifier>
</cp:coreProperties>
</file>